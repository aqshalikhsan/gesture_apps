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Staatliches" charset="1" panose="00000000000000000000"/>
      <p:regular r:id="rId25"/>
    </p:embeddedFont>
    <p:embeddedFont>
      <p:font typeface="Open Sans Bold" charset="1" panose="020B0806030504020204"/>
      <p:regular r:id="rId26"/>
    </p:embeddedFont>
    <p:embeddedFont>
      <p:font typeface="Open Sans" charset="1" panose="020B0606030504020204"/>
      <p:regular r:id="rId27"/>
    </p:embeddedFont>
    <p:embeddedFont>
      <p:font typeface="Open Sans Italics" charset="1" panose="020B0606030504020204"/>
      <p:regular r:id="rId28"/>
    </p:embeddedFont>
    <p:embeddedFont>
      <p:font typeface="Open Sans Bold Italics" charset="1" panose="020B0806030504020204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Relationship Id="rId7" Target="../media/image6.pn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Relationship Id="rId7" Target="../media/image1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6.png" Type="http://schemas.openxmlformats.org/officeDocument/2006/relationships/image"/><Relationship Id="rId5" Target="../media/image13.png" Type="http://schemas.openxmlformats.org/officeDocument/2006/relationships/image"/><Relationship Id="rId6" Target="../media/image14.png" Type="http://schemas.openxmlformats.org/officeDocument/2006/relationships/image"/><Relationship Id="rId7" Target="../media/image16.pn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17.jpeg" Type="http://schemas.openxmlformats.org/officeDocument/2006/relationships/image"/><Relationship Id="rId5" Target="../media/image18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6.pn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17.jpeg" Type="http://schemas.openxmlformats.org/officeDocument/2006/relationships/image"/><Relationship Id="rId8" Target="../media/image18.jpeg" Type="http://schemas.openxmlformats.org/officeDocument/2006/relationships/image"/><Relationship Id="rId9" Target="../media/image19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jpeg" Type="http://schemas.openxmlformats.org/officeDocument/2006/relationships/image"/><Relationship Id="rId11" Target="../media/image24.jpeg" Type="http://schemas.openxmlformats.org/officeDocument/2006/relationships/image"/><Relationship Id="rId12" Target="../media/image25.jpeg" Type="http://schemas.openxmlformats.org/officeDocument/2006/relationships/image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6.pn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20.jpeg" Type="http://schemas.openxmlformats.org/officeDocument/2006/relationships/image"/><Relationship Id="rId8" Target="../media/image21.jpeg" Type="http://schemas.openxmlformats.org/officeDocument/2006/relationships/image"/><Relationship Id="rId9" Target="../media/image22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26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27.png" Type="http://schemas.openxmlformats.org/officeDocument/2006/relationships/image"/><Relationship Id="rId5" Target="../media/image28.png" Type="http://schemas.openxmlformats.org/officeDocument/2006/relationships/image"/><Relationship Id="rId6" Target="../media/image29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30.png" Type="http://schemas.openxmlformats.org/officeDocument/2006/relationships/image"/><Relationship Id="rId5" Target="../media/image31.png" Type="http://schemas.openxmlformats.org/officeDocument/2006/relationships/image"/><Relationship Id="rId6" Target="../media/image32.png" Type="http://schemas.openxmlformats.org/officeDocument/2006/relationships/image"/><Relationship Id="rId7" Target="../media/image33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34.png" Type="http://schemas.openxmlformats.org/officeDocument/2006/relationships/image"/><Relationship Id="rId5" Target="../media/image35.png" Type="http://schemas.openxmlformats.org/officeDocument/2006/relationships/image"/><Relationship Id="rId6" Target="../media/image36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37.png" Type="http://schemas.openxmlformats.org/officeDocument/2006/relationships/image"/><Relationship Id="rId5" Target="../media/image38.png" Type="http://schemas.openxmlformats.org/officeDocument/2006/relationships/image"/><Relationship Id="rId6" Target="../media/image39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40.png" Type="http://schemas.openxmlformats.org/officeDocument/2006/relationships/image"/><Relationship Id="rId5" Target="../media/image41.png" Type="http://schemas.openxmlformats.org/officeDocument/2006/relationships/image"/><Relationship Id="rId6" Target="../media/image42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Relationship Id="rId3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972487" y="4843025"/>
            <a:ext cx="8315513" cy="8315513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29007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2477201" y="949468"/>
            <a:ext cx="1208387" cy="1208387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29007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1268814" y="5602349"/>
            <a:ext cx="1208387" cy="1208387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29007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1701562" y="1700882"/>
            <a:ext cx="1208387" cy="1208387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29007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0493175" y="6353763"/>
            <a:ext cx="1208387" cy="1208387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29007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2305755" y="-753363"/>
            <a:ext cx="8315513" cy="8315513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29007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1820313" y="411326"/>
            <a:ext cx="9875674" cy="9875674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blipFill>
              <a:blip r:embed="rId3"/>
              <a:stretch>
                <a:fillRect l="0" t="-1746" r="0" b="-1746"/>
              </a:stretch>
            </a:blipFill>
            <a:ln w="95250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251125" y="133269"/>
            <a:ext cx="2975988" cy="816199"/>
          </a:xfrm>
          <a:custGeom>
            <a:avLst/>
            <a:gdLst/>
            <a:ahLst/>
            <a:cxnLst/>
            <a:rect r="r" b="b" t="t" l="l"/>
            <a:pathLst>
              <a:path h="816199" w="2975988">
                <a:moveTo>
                  <a:pt x="0" y="0"/>
                </a:moveTo>
                <a:lnTo>
                  <a:pt x="2975988" y="0"/>
                </a:lnTo>
                <a:lnTo>
                  <a:pt x="2975988" y="816199"/>
                </a:lnTo>
                <a:lnTo>
                  <a:pt x="0" y="8161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028700" y="1967355"/>
            <a:ext cx="8754539" cy="1708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>
                <a:solidFill>
                  <a:srgbClr val="000000"/>
                </a:solidFill>
                <a:latin typeface="Staatliches"/>
                <a:ea typeface="Staatliches"/>
                <a:cs typeface="Staatliches"/>
                <a:sym typeface="Staatliches"/>
              </a:rPr>
              <a:t>PRAKTIKUM MOBILE: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3245162"/>
            <a:ext cx="7497658" cy="2357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00"/>
              </a:lnSpc>
            </a:pPr>
            <a:r>
              <a:rPr lang="en-US" sz="13785">
                <a:solidFill>
                  <a:srgbClr val="29007B"/>
                </a:solidFill>
                <a:latin typeface="Staatliches"/>
                <a:ea typeface="Staatliches"/>
                <a:cs typeface="Staatliches"/>
                <a:sym typeface="Staatliches"/>
              </a:rPr>
              <a:t>GESTURE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8700" y="5824625"/>
            <a:ext cx="8115300" cy="1417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67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Disusun Oleh : </a:t>
            </a:r>
          </a:p>
          <a:p>
            <a:pPr algn="l">
              <a:lnSpc>
                <a:spcPts val="3750"/>
              </a:lnSpc>
            </a:pPr>
            <a:r>
              <a:rPr lang="en-US" sz="267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M. Anang Ma’ruf (E41240259)</a:t>
            </a:r>
          </a:p>
          <a:p>
            <a:pPr algn="l">
              <a:lnSpc>
                <a:spcPts val="3750"/>
              </a:lnSpc>
            </a:pPr>
            <a:r>
              <a:rPr lang="en-US" sz="267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Teknik Informatika Golongan 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180279" y="1064486"/>
            <a:ext cx="4260705" cy="1417882"/>
            <a:chOff x="0" y="0"/>
            <a:chExt cx="2098977" cy="6985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98977" cy="698500"/>
            </a:xfrm>
            <a:custGeom>
              <a:avLst/>
              <a:gdLst/>
              <a:ahLst/>
              <a:cxnLst/>
              <a:rect r="r" b="b" t="t" l="l"/>
              <a:pathLst>
                <a:path h="698500" w="2098977">
                  <a:moveTo>
                    <a:pt x="2098977" y="349250"/>
                  </a:moveTo>
                  <a:lnTo>
                    <a:pt x="1895777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1895777" y="0"/>
                  </a:lnTo>
                  <a:lnTo>
                    <a:pt x="2098977" y="349250"/>
                  </a:lnTo>
                  <a:close/>
                </a:path>
              </a:pathLst>
            </a:custGeom>
            <a:solidFill>
              <a:srgbClr val="29007B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14300" y="-38100"/>
              <a:ext cx="1870377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801783" y="1169234"/>
            <a:ext cx="1208387" cy="1208387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29007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439753" y="5559469"/>
            <a:ext cx="422006" cy="422006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9007B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439753" y="7838108"/>
            <a:ext cx="422006" cy="422006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9007B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497489" y="8806136"/>
            <a:ext cx="1258024" cy="1258024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29007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755513" y="828341"/>
            <a:ext cx="1258024" cy="1258024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29007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16" id="16"/>
          <p:cNvGrpSpPr/>
          <p:nvPr/>
        </p:nvGrpSpPr>
        <p:grpSpPr>
          <a:xfrm rot="-10800000">
            <a:off x="12189128" y="1169234"/>
            <a:ext cx="1208387" cy="1208387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29007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18" id="18"/>
          <p:cNvGrpSpPr/>
          <p:nvPr/>
        </p:nvGrpSpPr>
        <p:grpSpPr>
          <a:xfrm rot="-10800000">
            <a:off x="13578490" y="1169234"/>
            <a:ext cx="1208387" cy="1208387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29007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-3234599" y="317207"/>
            <a:ext cx="9056590" cy="9056590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29007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-2666937" y="884869"/>
            <a:ext cx="7921267" cy="7921267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blipFill>
              <a:blip r:embed="rId3"/>
              <a:stretch>
                <a:fillRect l="-22811" t="-51347" r="0" b="-4515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-390055" y="2803463"/>
            <a:ext cx="6570334" cy="6570334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29007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21769" y="3215287"/>
            <a:ext cx="5746685" cy="5746685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blipFill>
              <a:blip r:embed="rId4"/>
              <a:stretch>
                <a:fillRect l="0" t="-29207" r="0" b="-29207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TextBox 28" id="28"/>
          <p:cNvSpPr txBox="true"/>
          <p:nvPr/>
        </p:nvSpPr>
        <p:spPr>
          <a:xfrm rot="0">
            <a:off x="7102832" y="5511844"/>
            <a:ext cx="3078678" cy="471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35"/>
              </a:lnSpc>
              <a:spcBef>
                <a:spcPct val="0"/>
              </a:spcBef>
            </a:pPr>
            <a:r>
              <a:rPr lang="en-US" b="true" sz="2810">
                <a:solidFill>
                  <a:srgbClr val="29007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SCREENSHOT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049427" y="7790483"/>
            <a:ext cx="4772087" cy="471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35"/>
              </a:lnSpc>
              <a:spcBef>
                <a:spcPct val="0"/>
              </a:spcBef>
            </a:pPr>
            <a:r>
              <a:rPr lang="en-US" b="true" sz="2810">
                <a:solidFill>
                  <a:srgbClr val="29007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PENJELASAN</a:t>
            </a:r>
          </a:p>
        </p:txBody>
      </p:sp>
      <p:sp>
        <p:nvSpPr>
          <p:cNvPr name="AutoShape 30" id="30"/>
          <p:cNvSpPr/>
          <p:nvPr/>
        </p:nvSpPr>
        <p:spPr>
          <a:xfrm flipV="true">
            <a:off x="9978884" y="5770472"/>
            <a:ext cx="4807994" cy="0"/>
          </a:xfrm>
          <a:prstGeom prst="line">
            <a:avLst/>
          </a:prstGeom>
          <a:ln cap="flat" w="38100">
            <a:gradFill>
              <a:gsLst>
                <a:gs pos="0">
                  <a:srgbClr val="29007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AutoShape 31" id="31"/>
          <p:cNvSpPr/>
          <p:nvPr/>
        </p:nvSpPr>
        <p:spPr>
          <a:xfrm flipV="true">
            <a:off x="9978884" y="8049111"/>
            <a:ext cx="4807994" cy="0"/>
          </a:xfrm>
          <a:prstGeom prst="line">
            <a:avLst/>
          </a:prstGeom>
          <a:ln cap="flat" w="38100">
            <a:gradFill>
              <a:gsLst>
                <a:gs pos="0">
                  <a:srgbClr val="29007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AutoShape 32" id="32"/>
          <p:cNvSpPr/>
          <p:nvPr/>
        </p:nvSpPr>
        <p:spPr>
          <a:xfrm flipV="true">
            <a:off x="6439753" y="5209853"/>
            <a:ext cx="4807994" cy="0"/>
          </a:xfrm>
          <a:prstGeom prst="line">
            <a:avLst/>
          </a:prstGeom>
          <a:ln cap="flat" w="38100">
            <a:gradFill>
              <a:gsLst>
                <a:gs pos="0">
                  <a:srgbClr val="29007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TextBox 33" id="33"/>
          <p:cNvSpPr txBox="true"/>
          <p:nvPr/>
        </p:nvSpPr>
        <p:spPr>
          <a:xfrm rot="0">
            <a:off x="6439753" y="1008752"/>
            <a:ext cx="3741757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sz="7500">
                <a:solidFill>
                  <a:srgbClr val="FFFFFF"/>
                </a:solidFill>
                <a:latin typeface="Staatliches"/>
                <a:ea typeface="Staatliches"/>
                <a:cs typeface="Staatliches"/>
                <a:sym typeface="Staatliches"/>
              </a:rPr>
              <a:t>WORKSHOP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366938" y="2583464"/>
            <a:ext cx="10645649" cy="174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>
                <a:solidFill>
                  <a:srgbClr val="29007B"/>
                </a:solidFill>
                <a:latin typeface="Staatliches"/>
                <a:ea typeface="Staatliches"/>
                <a:cs typeface="Staatliches"/>
                <a:sym typeface="Staatliches"/>
              </a:rPr>
              <a:t>HASIL PRAKTIKUM GESTURE BERDASARKAN REFERENSI MINGGU KE-7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102832" y="6153055"/>
            <a:ext cx="9227266" cy="1389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3"/>
              </a:lnSpc>
            </a:pPr>
            <a:r>
              <a:rPr lang="en-US" sz="265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Memaparkan hasil praktikum gesture sesuai dengan referensi pertemuan minggu ke-7 mobile app</a:t>
            </a:r>
          </a:p>
          <a:p>
            <a:pPr algn="l">
              <a:lnSpc>
                <a:spcPts val="3723"/>
              </a:lnSpc>
              <a:spcBef>
                <a:spcPct val="0"/>
              </a:spcBef>
            </a:pPr>
            <a:r>
              <a:rPr lang="en-US" sz="265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referensi : </a:t>
            </a:r>
            <a:r>
              <a:rPr lang="en-US" sz="2659">
                <a:solidFill>
                  <a:srgbClr val="5200F4"/>
                </a:solidFill>
                <a:latin typeface="Open Sans"/>
                <a:ea typeface="Open Sans"/>
                <a:cs typeface="Open Sans"/>
                <a:sym typeface="Open Sans"/>
              </a:rPr>
              <a:t>https://github.com/Aqshalikhsan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049427" y="8431694"/>
            <a:ext cx="9280671" cy="923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3"/>
              </a:lnSpc>
              <a:spcBef>
                <a:spcPct val="0"/>
              </a:spcBef>
            </a:pPr>
            <a:r>
              <a:rPr lang="en-US" sz="265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Menjelaskan tentang hasil praktikum dari masing-masing gesture yang telah dipraktikkan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6439753" y="4585927"/>
            <a:ext cx="3539131" cy="471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35"/>
              </a:lnSpc>
              <a:spcBef>
                <a:spcPct val="0"/>
              </a:spcBef>
            </a:pPr>
            <a:r>
              <a:rPr lang="en-US" b="true" sz="2810">
                <a:solidFill>
                  <a:srgbClr val="29007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POKOK BAHASAN</a:t>
            </a:r>
          </a:p>
        </p:txBody>
      </p:sp>
      <p:sp>
        <p:nvSpPr>
          <p:cNvPr name="Freeform 38" id="38"/>
          <p:cNvSpPr/>
          <p:nvPr/>
        </p:nvSpPr>
        <p:spPr>
          <a:xfrm flipH="false" flipV="false" rot="0">
            <a:off x="14842103" y="212501"/>
            <a:ext cx="2975988" cy="816199"/>
          </a:xfrm>
          <a:custGeom>
            <a:avLst/>
            <a:gdLst/>
            <a:ahLst/>
            <a:cxnLst/>
            <a:rect r="r" b="b" t="t" l="l"/>
            <a:pathLst>
              <a:path h="816199" w="2975988">
                <a:moveTo>
                  <a:pt x="0" y="0"/>
                </a:moveTo>
                <a:lnTo>
                  <a:pt x="2975989" y="0"/>
                </a:lnTo>
                <a:lnTo>
                  <a:pt x="2975989" y="816199"/>
                </a:lnTo>
                <a:lnTo>
                  <a:pt x="0" y="8161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649288"/>
            <a:ext cx="12744583" cy="758825"/>
            <a:chOff x="0" y="0"/>
            <a:chExt cx="16992777" cy="1011767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104775"/>
              <a:ext cx="16992777" cy="11165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000"/>
                </a:lnSpc>
              </a:pPr>
              <a:r>
                <a:rPr lang="en-US" sz="5000">
                  <a:solidFill>
                    <a:srgbClr val="000000"/>
                  </a:solidFill>
                  <a:latin typeface="Staatliches"/>
                  <a:ea typeface="Staatliches"/>
                  <a:cs typeface="Staatliches"/>
                  <a:sym typeface="Staatliches"/>
                </a:rPr>
                <a:t>TUJUAN DAN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3663006" y="-104775"/>
              <a:ext cx="5180994" cy="11165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000"/>
                </a:lnSpc>
              </a:pPr>
              <a:r>
                <a:rPr lang="en-US" sz="5000">
                  <a:solidFill>
                    <a:srgbClr val="29007B"/>
                  </a:solidFill>
                  <a:latin typeface="Staatliches"/>
                  <a:ea typeface="Staatliches"/>
                  <a:cs typeface="Staatliches"/>
                  <a:sym typeface="Staatliches"/>
                </a:rPr>
                <a:t>TAMPILAN AWAL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1938226"/>
            <a:ext cx="387005" cy="38700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9007B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28700" y="4349471"/>
            <a:ext cx="387005" cy="387005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9007B"/>
            </a:solidFill>
          </p:spPr>
        </p:sp>
      </p:grpSp>
      <p:sp>
        <p:nvSpPr>
          <p:cNvPr name="AutoShape 10" id="10"/>
          <p:cNvSpPr/>
          <p:nvPr/>
        </p:nvSpPr>
        <p:spPr>
          <a:xfrm flipV="true">
            <a:off x="1028700" y="1408112"/>
            <a:ext cx="7077284" cy="19050"/>
          </a:xfrm>
          <a:prstGeom prst="line">
            <a:avLst/>
          </a:prstGeom>
          <a:ln cap="flat" w="38100">
            <a:gradFill>
              <a:gsLst>
                <a:gs pos="0">
                  <a:srgbClr val="29007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14842103" y="212501"/>
            <a:ext cx="2975988" cy="816199"/>
          </a:xfrm>
          <a:custGeom>
            <a:avLst/>
            <a:gdLst/>
            <a:ahLst/>
            <a:cxnLst/>
            <a:rect r="r" b="b" t="t" l="l"/>
            <a:pathLst>
              <a:path h="816199" w="2975988">
                <a:moveTo>
                  <a:pt x="0" y="0"/>
                </a:moveTo>
                <a:lnTo>
                  <a:pt x="2975989" y="0"/>
                </a:lnTo>
                <a:lnTo>
                  <a:pt x="2975989" y="816199"/>
                </a:lnTo>
                <a:lnTo>
                  <a:pt x="0" y="8161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992543" y="2534990"/>
            <a:ext cx="4269302" cy="6723310"/>
          </a:xfrm>
          <a:custGeom>
            <a:avLst/>
            <a:gdLst/>
            <a:ahLst/>
            <a:cxnLst/>
            <a:rect r="r" b="b" t="t" l="l"/>
            <a:pathLst>
              <a:path h="6723310" w="4269302">
                <a:moveTo>
                  <a:pt x="0" y="0"/>
                </a:moveTo>
                <a:lnTo>
                  <a:pt x="4269301" y="0"/>
                </a:lnTo>
                <a:lnTo>
                  <a:pt x="4269301" y="6723310"/>
                </a:lnTo>
                <a:lnTo>
                  <a:pt x="0" y="67233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636783" y="1881076"/>
            <a:ext cx="4327318" cy="445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8"/>
              </a:lnSpc>
              <a:spcBef>
                <a:spcPct val="0"/>
              </a:spcBef>
            </a:pPr>
            <a:r>
              <a:rPr lang="en-US" b="true" sz="2577">
                <a:solidFill>
                  <a:srgbClr val="29007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TUJUAN PRAKTIKUM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87808" y="4292321"/>
            <a:ext cx="4376293" cy="445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8"/>
              </a:lnSpc>
              <a:spcBef>
                <a:spcPct val="0"/>
              </a:spcBef>
            </a:pPr>
            <a:r>
              <a:rPr lang="en-US" b="true" sz="2577">
                <a:solidFill>
                  <a:srgbClr val="29007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TAMPILAN AWAL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36783" y="2496890"/>
            <a:ext cx="8008023" cy="1690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6532" indent="-263266" lvl="1">
              <a:lnSpc>
                <a:spcPts val="3414"/>
              </a:lnSpc>
              <a:buFont typeface="Arial"/>
              <a:buChar char="•"/>
            </a:pP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Mempelajari Gesture di Flutter</a:t>
            </a:r>
          </a:p>
          <a:p>
            <a:pPr algn="l" marL="526532" indent="-263266" lvl="1">
              <a:lnSpc>
                <a:spcPts val="3414"/>
              </a:lnSpc>
              <a:buFont typeface="Arial"/>
              <a:buChar char="•"/>
            </a:pP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Memahami interaksi user seperti: Tap, Drag, Scale</a:t>
            </a:r>
          </a:p>
          <a:p>
            <a:pPr algn="l" marL="526532" indent="-263266" lvl="1">
              <a:lnSpc>
                <a:spcPts val="3414"/>
              </a:lnSpc>
              <a:buFont typeface="Arial"/>
              <a:buChar char="•"/>
            </a:pP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Melatih penggunaan widget GestureDetector</a:t>
            </a:r>
          </a:p>
          <a:p>
            <a:pPr algn="l" marL="526532" indent="-263266" lvl="1">
              <a:lnSpc>
                <a:spcPts val="3414"/>
              </a:lnSpc>
              <a:spcBef>
                <a:spcPct val="0"/>
              </a:spcBef>
              <a:buFont typeface="Arial"/>
              <a:buChar char="•"/>
            </a:pP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Mengontrol UI secara dinamis dengan </a:t>
            </a:r>
            <a:r>
              <a:rPr lang="en-US" b="true" sz="243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setState()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36783" y="4862039"/>
            <a:ext cx="8359732" cy="2972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6531" indent="-263265" lvl="1">
              <a:lnSpc>
                <a:spcPts val="3414"/>
              </a:lnSpc>
              <a:buFont typeface="Arial"/>
              <a:buChar char="•"/>
            </a:pP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Halaman utama berupa Grid Menu (2 kolom)</a:t>
            </a:r>
          </a:p>
          <a:p>
            <a:pPr algn="l" marL="526531" indent="-263265" lvl="1">
              <a:lnSpc>
                <a:spcPts val="3414"/>
              </a:lnSpc>
              <a:buFont typeface="Arial"/>
              <a:buChar char="•"/>
            </a:pP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Terdiri dari 4 pilihan : (1) Tap Interaction; (2) Drag Movement; (3) Scale &amp; Zoom; dan (4) Gesture Playground</a:t>
            </a:r>
          </a:p>
          <a:p>
            <a:pPr algn="l" marL="526531" indent="-263265" lvl="1">
              <a:lnSpc>
                <a:spcPts val="3414"/>
              </a:lnSpc>
              <a:buFont typeface="Arial"/>
              <a:buChar char="•"/>
            </a:pP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Setiap menu dapat diklik untuk masuk ke halaman demo</a:t>
            </a:r>
          </a:p>
          <a:p>
            <a:pPr algn="l">
              <a:lnSpc>
                <a:spcPts val="3414"/>
              </a:lnSpc>
              <a:spcBef>
                <a:spcPct val="0"/>
              </a:spcBef>
            </a:pPr>
          </a:p>
        </p:txBody>
      </p:sp>
      <p:grpSp>
        <p:nvGrpSpPr>
          <p:cNvPr name="Group 17" id="17"/>
          <p:cNvGrpSpPr/>
          <p:nvPr/>
        </p:nvGrpSpPr>
        <p:grpSpPr>
          <a:xfrm rot="0">
            <a:off x="10326443" y="1936487"/>
            <a:ext cx="387005" cy="387005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9007B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0934526" y="1879337"/>
            <a:ext cx="4327318" cy="445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8"/>
              </a:lnSpc>
              <a:spcBef>
                <a:spcPct val="0"/>
              </a:spcBef>
            </a:pPr>
            <a:r>
              <a:rPr lang="en-US" b="true" sz="2577">
                <a:solidFill>
                  <a:srgbClr val="29007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HASIL PRAKTIKUM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51147" y="649288"/>
            <a:ext cx="4852114" cy="758825"/>
            <a:chOff x="0" y="0"/>
            <a:chExt cx="6469486" cy="1011767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104775"/>
              <a:ext cx="1690352" cy="11165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000"/>
                </a:lnSpc>
              </a:pPr>
              <a:r>
                <a:rPr lang="en-US" sz="5000">
                  <a:solidFill>
                    <a:srgbClr val="000000"/>
                  </a:solidFill>
                  <a:latin typeface="Staatliches"/>
                  <a:ea typeface="Staatliches"/>
                  <a:cs typeface="Staatliches"/>
                  <a:sym typeface="Staatliches"/>
                </a:rPr>
                <a:t>TAP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1288492" y="-104775"/>
              <a:ext cx="5180994" cy="11165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000"/>
                </a:lnSpc>
              </a:pPr>
              <a:r>
                <a:rPr lang="en-US" sz="5000">
                  <a:solidFill>
                    <a:srgbClr val="29007B"/>
                  </a:solidFill>
                  <a:latin typeface="Staatliches"/>
                  <a:ea typeface="Staatliches"/>
                  <a:cs typeface="Staatliches"/>
                  <a:sym typeface="Staatliches"/>
                </a:rPr>
                <a:t>INTERACTION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51147" y="1779943"/>
            <a:ext cx="387005" cy="38700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9007B"/>
            </a:solidFill>
          </p:spPr>
        </p:sp>
      </p:grpSp>
      <p:sp>
        <p:nvSpPr>
          <p:cNvPr name="AutoShape 8" id="8"/>
          <p:cNvSpPr/>
          <p:nvPr/>
        </p:nvSpPr>
        <p:spPr>
          <a:xfrm flipV="true">
            <a:off x="651147" y="1408112"/>
            <a:ext cx="2694462" cy="19050"/>
          </a:xfrm>
          <a:prstGeom prst="line">
            <a:avLst/>
          </a:prstGeom>
          <a:ln cap="flat" w="38100">
            <a:gradFill>
              <a:gsLst>
                <a:gs pos="0">
                  <a:srgbClr val="29007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4842103" y="212501"/>
            <a:ext cx="2975988" cy="816199"/>
          </a:xfrm>
          <a:custGeom>
            <a:avLst/>
            <a:gdLst/>
            <a:ahLst/>
            <a:cxnLst/>
            <a:rect r="r" b="b" t="t" l="l"/>
            <a:pathLst>
              <a:path h="816199" w="2975988">
                <a:moveTo>
                  <a:pt x="0" y="0"/>
                </a:moveTo>
                <a:lnTo>
                  <a:pt x="2975989" y="0"/>
                </a:lnTo>
                <a:lnTo>
                  <a:pt x="2975989" y="816199"/>
                </a:lnTo>
                <a:lnTo>
                  <a:pt x="0" y="8161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0459793" y="1360487"/>
            <a:ext cx="387005" cy="387005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9007B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51147" y="4101465"/>
            <a:ext cx="387005" cy="387005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9007B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51147" y="6422986"/>
            <a:ext cx="387005" cy="387005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9007B"/>
            </a:solid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11067876" y="1886579"/>
            <a:ext cx="2466467" cy="3915027"/>
          </a:xfrm>
          <a:custGeom>
            <a:avLst/>
            <a:gdLst/>
            <a:ahLst/>
            <a:cxnLst/>
            <a:rect r="r" b="b" t="t" l="l"/>
            <a:pathLst>
              <a:path h="3915027" w="2466467">
                <a:moveTo>
                  <a:pt x="0" y="0"/>
                </a:moveTo>
                <a:lnTo>
                  <a:pt x="2466467" y="0"/>
                </a:lnTo>
                <a:lnTo>
                  <a:pt x="2466467" y="3915027"/>
                </a:lnTo>
                <a:lnTo>
                  <a:pt x="0" y="39150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4316552" y="1855899"/>
            <a:ext cx="2475931" cy="3945707"/>
          </a:xfrm>
          <a:custGeom>
            <a:avLst/>
            <a:gdLst/>
            <a:ahLst/>
            <a:cxnLst/>
            <a:rect r="r" b="b" t="t" l="l"/>
            <a:pathLst>
              <a:path h="3945707" w="2475931">
                <a:moveTo>
                  <a:pt x="0" y="0"/>
                </a:moveTo>
                <a:lnTo>
                  <a:pt x="2475931" y="0"/>
                </a:lnTo>
                <a:lnTo>
                  <a:pt x="2475931" y="3945707"/>
                </a:lnTo>
                <a:lnTo>
                  <a:pt x="0" y="394570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1067876" y="6114788"/>
            <a:ext cx="2466467" cy="3907274"/>
          </a:xfrm>
          <a:custGeom>
            <a:avLst/>
            <a:gdLst/>
            <a:ahLst/>
            <a:cxnLst/>
            <a:rect r="r" b="b" t="t" l="l"/>
            <a:pathLst>
              <a:path h="3907274" w="2466467">
                <a:moveTo>
                  <a:pt x="0" y="0"/>
                </a:moveTo>
                <a:lnTo>
                  <a:pt x="2466467" y="0"/>
                </a:lnTo>
                <a:lnTo>
                  <a:pt x="2466467" y="3907274"/>
                </a:lnTo>
                <a:lnTo>
                  <a:pt x="0" y="390727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4316552" y="6114788"/>
            <a:ext cx="2451815" cy="3907274"/>
          </a:xfrm>
          <a:custGeom>
            <a:avLst/>
            <a:gdLst/>
            <a:ahLst/>
            <a:cxnLst/>
            <a:rect r="r" b="b" t="t" l="l"/>
            <a:pathLst>
              <a:path h="3907274" w="2451815">
                <a:moveTo>
                  <a:pt x="0" y="0"/>
                </a:moveTo>
                <a:lnTo>
                  <a:pt x="2451815" y="0"/>
                </a:lnTo>
                <a:lnTo>
                  <a:pt x="2451815" y="3907274"/>
                </a:lnTo>
                <a:lnTo>
                  <a:pt x="0" y="390727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259231" y="1722793"/>
            <a:ext cx="4327318" cy="445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8"/>
              </a:lnSpc>
              <a:spcBef>
                <a:spcPct val="0"/>
              </a:spcBef>
            </a:pPr>
            <a:r>
              <a:rPr lang="en-US" b="true" sz="2577">
                <a:solidFill>
                  <a:srgbClr val="29007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FUNGSI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59231" y="2267934"/>
            <a:ext cx="8737285" cy="1690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4"/>
              </a:lnSpc>
              <a:spcBef>
                <a:spcPct val="0"/>
              </a:spcBef>
            </a:pPr>
            <a:r>
              <a:rPr lang="en-US" b="true" sz="243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Tap Interaction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bertujuan untuk mengenalkan gesture dasar dalam Flutter, seperti tap, double tap, dan long press, serta menunjukkan bagaimana setiap interaksi tersebut dapat memengaruhi tampilan antarmuka secara langsung.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067876" y="1303337"/>
            <a:ext cx="4327318" cy="445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8"/>
              </a:lnSpc>
              <a:spcBef>
                <a:spcPct val="0"/>
              </a:spcBef>
            </a:pPr>
            <a:r>
              <a:rPr lang="en-US" b="true" sz="2577">
                <a:solidFill>
                  <a:srgbClr val="29007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HASIL PRAKTIKUM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59231" y="4044315"/>
            <a:ext cx="4327318" cy="445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8"/>
              </a:lnSpc>
              <a:spcBef>
                <a:spcPct val="0"/>
              </a:spcBef>
            </a:pPr>
            <a:r>
              <a:rPr lang="en-US" b="true" sz="2577">
                <a:solidFill>
                  <a:srgbClr val="29007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INTERAKSI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59231" y="4589456"/>
            <a:ext cx="8737285" cy="1690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4"/>
              </a:lnSpc>
              <a:spcBef>
                <a:spcPct val="0"/>
              </a:spcBef>
            </a:pP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Kita dapat mengetuk (tap) kotak untuk mengubah ukuran dan warna, melakukan double tap untuk mengganti warna menjadi hijau, serta menekan lebih lama (long press) untuk memperbesar ukuran kotak.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59231" y="6365836"/>
            <a:ext cx="4327318" cy="445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8"/>
              </a:lnSpc>
              <a:spcBef>
                <a:spcPct val="0"/>
              </a:spcBef>
            </a:pPr>
            <a:r>
              <a:rPr lang="en-US" b="true" sz="2577">
                <a:solidFill>
                  <a:srgbClr val="29007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CARA KERJA SISTEM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59231" y="6910978"/>
            <a:ext cx="8737285" cy="2547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4"/>
              </a:lnSpc>
              <a:spcBef>
                <a:spcPct val="0"/>
              </a:spcBef>
            </a:pP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Sistem memanfaatkan </a:t>
            </a:r>
            <a:r>
              <a:rPr lang="en-US" b="true" sz="243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widget GestureDetector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untuk mendeteksi berbagai jenis sentuhan dari kita. Setiap gesture akan menjalankan fungsi tertentu yang memanggil </a:t>
            </a:r>
            <a:r>
              <a:rPr lang="en-US" b="true" sz="243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setState()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sehingga nilai properti seperti ukuran dan warna diperbarui, dan perubahan tersebut langsung ditampilkan pada UI secara </a:t>
            </a:r>
            <a:r>
              <a:rPr lang="en-US" sz="2438" i="true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real-time.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51147" y="649288"/>
            <a:ext cx="6118885" cy="758825"/>
            <a:chOff x="0" y="0"/>
            <a:chExt cx="8158513" cy="1011767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104775"/>
              <a:ext cx="2977519" cy="11165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000"/>
                </a:lnSpc>
              </a:pPr>
              <a:r>
                <a:rPr lang="en-US" sz="5000">
                  <a:solidFill>
                    <a:srgbClr val="000000"/>
                  </a:solidFill>
                  <a:latin typeface="Staatliches"/>
                  <a:ea typeface="Staatliches"/>
                  <a:cs typeface="Staatliches"/>
                  <a:sym typeface="Staatliches"/>
                </a:rPr>
                <a:t>ALUR TAP 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2977519" y="-104775"/>
              <a:ext cx="5180994" cy="11165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000"/>
                </a:lnSpc>
              </a:pPr>
              <a:r>
                <a:rPr lang="en-US" sz="5000">
                  <a:solidFill>
                    <a:srgbClr val="29007B"/>
                  </a:solidFill>
                  <a:latin typeface="Staatliches"/>
                  <a:ea typeface="Staatliches"/>
                  <a:cs typeface="Staatliches"/>
                  <a:sym typeface="Staatliches"/>
                </a:rPr>
                <a:t>INTERACTION</a:t>
              </a:r>
            </a:p>
          </p:txBody>
        </p:sp>
      </p:grpSp>
      <p:sp>
        <p:nvSpPr>
          <p:cNvPr name="AutoShape 6" id="6"/>
          <p:cNvSpPr/>
          <p:nvPr/>
        </p:nvSpPr>
        <p:spPr>
          <a:xfrm flipV="true">
            <a:off x="651147" y="1408112"/>
            <a:ext cx="6592078" cy="19050"/>
          </a:xfrm>
          <a:prstGeom prst="line">
            <a:avLst/>
          </a:prstGeom>
          <a:ln cap="flat" w="38100">
            <a:gradFill>
              <a:gsLst>
                <a:gs pos="0">
                  <a:srgbClr val="29007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4842103" y="212501"/>
            <a:ext cx="2975988" cy="816199"/>
          </a:xfrm>
          <a:custGeom>
            <a:avLst/>
            <a:gdLst/>
            <a:ahLst/>
            <a:cxnLst/>
            <a:rect r="r" b="b" t="t" l="l"/>
            <a:pathLst>
              <a:path h="816199" w="2975988">
                <a:moveTo>
                  <a:pt x="0" y="0"/>
                </a:moveTo>
                <a:lnTo>
                  <a:pt x="2975989" y="0"/>
                </a:lnTo>
                <a:lnTo>
                  <a:pt x="2975989" y="816199"/>
                </a:lnTo>
                <a:lnTo>
                  <a:pt x="0" y="8161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898503" y="2380742"/>
            <a:ext cx="3180086" cy="5047756"/>
          </a:xfrm>
          <a:custGeom>
            <a:avLst/>
            <a:gdLst/>
            <a:ahLst/>
            <a:cxnLst/>
            <a:rect r="r" b="b" t="t" l="l"/>
            <a:pathLst>
              <a:path h="5047756" w="3180086">
                <a:moveTo>
                  <a:pt x="0" y="0"/>
                </a:moveTo>
                <a:lnTo>
                  <a:pt x="3180086" y="0"/>
                </a:lnTo>
                <a:lnTo>
                  <a:pt x="3180086" y="5047756"/>
                </a:lnTo>
                <a:lnTo>
                  <a:pt x="0" y="50477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776710" y="2380742"/>
            <a:ext cx="3167467" cy="5047756"/>
          </a:xfrm>
          <a:custGeom>
            <a:avLst/>
            <a:gdLst/>
            <a:ahLst/>
            <a:cxnLst/>
            <a:rect r="r" b="b" t="t" l="l"/>
            <a:pathLst>
              <a:path h="5047756" w="3167467">
                <a:moveTo>
                  <a:pt x="0" y="0"/>
                </a:moveTo>
                <a:lnTo>
                  <a:pt x="3167467" y="0"/>
                </a:lnTo>
                <a:lnTo>
                  <a:pt x="3167467" y="5047756"/>
                </a:lnTo>
                <a:lnTo>
                  <a:pt x="0" y="504775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182296" y="2380742"/>
            <a:ext cx="3186396" cy="5047756"/>
          </a:xfrm>
          <a:custGeom>
            <a:avLst/>
            <a:gdLst/>
            <a:ahLst/>
            <a:cxnLst/>
            <a:rect r="r" b="b" t="t" l="l"/>
            <a:pathLst>
              <a:path h="5047756" w="3186396">
                <a:moveTo>
                  <a:pt x="0" y="0"/>
                </a:moveTo>
                <a:lnTo>
                  <a:pt x="3186396" y="0"/>
                </a:lnTo>
                <a:lnTo>
                  <a:pt x="3186396" y="5047756"/>
                </a:lnTo>
                <a:lnTo>
                  <a:pt x="0" y="504775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5448904" y="7666285"/>
            <a:ext cx="2525196" cy="369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0"/>
              </a:lnSpc>
              <a:spcBef>
                <a:spcPct val="0"/>
              </a:spcBef>
            </a:pPr>
            <a:r>
              <a:rPr lang="en-US" sz="220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(Tampilan Awal)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308281" y="7638250"/>
            <a:ext cx="2934426" cy="757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90"/>
              </a:lnSpc>
              <a:spcBef>
                <a:spcPct val="0"/>
              </a:spcBef>
            </a:pPr>
            <a:r>
              <a:rPr lang="en-US" sz="220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(Tampilan setelah klik dua kali)</a:t>
            </a:r>
          </a:p>
        </p:txBody>
      </p:sp>
      <p:sp>
        <p:nvSpPr>
          <p:cNvPr name="AutoShape 13" id="13"/>
          <p:cNvSpPr/>
          <p:nvPr/>
        </p:nvSpPr>
        <p:spPr>
          <a:xfrm>
            <a:off x="8240920" y="4887377"/>
            <a:ext cx="777186" cy="1724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4" id="14"/>
          <p:cNvSpPr/>
          <p:nvPr/>
        </p:nvSpPr>
        <p:spPr>
          <a:xfrm>
            <a:off x="12586114" y="4878756"/>
            <a:ext cx="777186" cy="1724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15" id="15"/>
          <p:cNvSpPr txBox="true"/>
          <p:nvPr/>
        </p:nvSpPr>
        <p:spPr>
          <a:xfrm rot="0">
            <a:off x="13893230" y="7666285"/>
            <a:ext cx="2934426" cy="757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90"/>
              </a:lnSpc>
              <a:spcBef>
                <a:spcPct val="0"/>
              </a:spcBef>
            </a:pPr>
            <a:r>
              <a:rPr lang="en-US" sz="220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(Tampilan setelah klik satu kali)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651147" y="2354878"/>
            <a:ext cx="3205325" cy="5047756"/>
          </a:xfrm>
          <a:custGeom>
            <a:avLst/>
            <a:gdLst/>
            <a:ahLst/>
            <a:cxnLst/>
            <a:rect r="r" b="b" t="t" l="l"/>
            <a:pathLst>
              <a:path h="5047756" w="3205325">
                <a:moveTo>
                  <a:pt x="0" y="0"/>
                </a:moveTo>
                <a:lnTo>
                  <a:pt x="3205325" y="0"/>
                </a:lnTo>
                <a:lnTo>
                  <a:pt x="3205325" y="5047756"/>
                </a:lnTo>
                <a:lnTo>
                  <a:pt x="0" y="504775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AutoShape 17" id="17"/>
          <p:cNvSpPr/>
          <p:nvPr/>
        </p:nvSpPr>
        <p:spPr>
          <a:xfrm>
            <a:off x="3958969" y="4842467"/>
            <a:ext cx="777186" cy="1724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18" id="18"/>
          <p:cNvSpPr txBox="true"/>
          <p:nvPr/>
        </p:nvSpPr>
        <p:spPr>
          <a:xfrm rot="0">
            <a:off x="749719" y="7694319"/>
            <a:ext cx="3106754" cy="372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0"/>
              </a:lnSpc>
              <a:spcBef>
                <a:spcPct val="0"/>
              </a:spcBef>
            </a:pPr>
            <a:r>
              <a:rPr lang="en-US" sz="220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(Pilih “</a:t>
            </a:r>
            <a:r>
              <a:rPr lang="en-US" b="true" sz="2207" i="true">
                <a:solidFill>
                  <a:srgbClr val="0000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Tap interaction</a:t>
            </a:r>
            <a:r>
              <a:rPr lang="en-US" sz="220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”)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651147" y="3157910"/>
            <a:ext cx="1746710" cy="1746710"/>
          </a:xfrm>
          <a:custGeom>
            <a:avLst/>
            <a:gdLst/>
            <a:ahLst/>
            <a:cxnLst/>
            <a:rect r="r" b="b" t="t" l="l"/>
            <a:pathLst>
              <a:path h="1746710" w="1746710">
                <a:moveTo>
                  <a:pt x="0" y="0"/>
                </a:moveTo>
                <a:lnTo>
                  <a:pt x="1746710" y="0"/>
                </a:lnTo>
                <a:lnTo>
                  <a:pt x="1746710" y="1746710"/>
                </a:lnTo>
                <a:lnTo>
                  <a:pt x="0" y="174671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51147" y="649288"/>
            <a:ext cx="5153510" cy="758825"/>
            <a:chOff x="0" y="0"/>
            <a:chExt cx="6871346" cy="1011767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104775"/>
              <a:ext cx="1690352" cy="11165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000"/>
                </a:lnSpc>
              </a:pPr>
              <a:r>
                <a:rPr lang="en-US" sz="5000">
                  <a:solidFill>
                    <a:srgbClr val="000000"/>
                  </a:solidFill>
                  <a:latin typeface="Staatliches"/>
                  <a:ea typeface="Staatliches"/>
                  <a:cs typeface="Staatliches"/>
                  <a:sym typeface="Staatliches"/>
                </a:rPr>
                <a:t>DRAG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1690352" y="-104775"/>
              <a:ext cx="5180994" cy="11165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000"/>
                </a:lnSpc>
              </a:pPr>
              <a:r>
                <a:rPr lang="en-US" sz="5000">
                  <a:solidFill>
                    <a:srgbClr val="29007B"/>
                  </a:solidFill>
                  <a:latin typeface="Staatliches"/>
                  <a:ea typeface="Staatliches"/>
                  <a:cs typeface="Staatliches"/>
                  <a:sym typeface="Staatliches"/>
                </a:rPr>
                <a:t>MOVEMENT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51147" y="1779943"/>
            <a:ext cx="387005" cy="38700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9007B"/>
            </a:solidFill>
          </p:spPr>
        </p:sp>
      </p:grpSp>
      <p:sp>
        <p:nvSpPr>
          <p:cNvPr name="AutoShape 8" id="8"/>
          <p:cNvSpPr/>
          <p:nvPr/>
        </p:nvSpPr>
        <p:spPr>
          <a:xfrm flipV="true">
            <a:off x="651147" y="1408112"/>
            <a:ext cx="4274228" cy="19050"/>
          </a:xfrm>
          <a:prstGeom prst="line">
            <a:avLst/>
          </a:prstGeom>
          <a:ln cap="flat" w="38100">
            <a:gradFill>
              <a:gsLst>
                <a:gs pos="0">
                  <a:srgbClr val="29007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4842103" y="212501"/>
            <a:ext cx="2975988" cy="816199"/>
          </a:xfrm>
          <a:custGeom>
            <a:avLst/>
            <a:gdLst/>
            <a:ahLst/>
            <a:cxnLst/>
            <a:rect r="r" b="b" t="t" l="l"/>
            <a:pathLst>
              <a:path h="816199" w="2975988">
                <a:moveTo>
                  <a:pt x="0" y="0"/>
                </a:moveTo>
                <a:lnTo>
                  <a:pt x="2975989" y="0"/>
                </a:lnTo>
                <a:lnTo>
                  <a:pt x="2975989" y="816199"/>
                </a:lnTo>
                <a:lnTo>
                  <a:pt x="0" y="8161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0459793" y="1360487"/>
            <a:ext cx="387005" cy="387005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9007B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51147" y="4101465"/>
            <a:ext cx="387005" cy="387005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9007B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51147" y="6057638"/>
            <a:ext cx="387005" cy="387005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9007B"/>
            </a:solid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11067876" y="1974315"/>
            <a:ext cx="2415978" cy="3827291"/>
          </a:xfrm>
          <a:custGeom>
            <a:avLst/>
            <a:gdLst/>
            <a:ahLst/>
            <a:cxnLst/>
            <a:rect r="r" b="b" t="t" l="l"/>
            <a:pathLst>
              <a:path h="3827291" w="2415978">
                <a:moveTo>
                  <a:pt x="0" y="0"/>
                </a:moveTo>
                <a:lnTo>
                  <a:pt x="2415978" y="0"/>
                </a:lnTo>
                <a:lnTo>
                  <a:pt x="2415978" y="3827291"/>
                </a:lnTo>
                <a:lnTo>
                  <a:pt x="0" y="38272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4189068" y="1974315"/>
            <a:ext cx="2406409" cy="3827291"/>
          </a:xfrm>
          <a:custGeom>
            <a:avLst/>
            <a:gdLst/>
            <a:ahLst/>
            <a:cxnLst/>
            <a:rect r="r" b="b" t="t" l="l"/>
            <a:pathLst>
              <a:path h="3827291" w="2406409">
                <a:moveTo>
                  <a:pt x="0" y="0"/>
                </a:moveTo>
                <a:lnTo>
                  <a:pt x="2406409" y="0"/>
                </a:lnTo>
                <a:lnTo>
                  <a:pt x="2406409" y="3827291"/>
                </a:lnTo>
                <a:lnTo>
                  <a:pt x="0" y="382729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1067876" y="6085994"/>
            <a:ext cx="2415978" cy="3834885"/>
          </a:xfrm>
          <a:custGeom>
            <a:avLst/>
            <a:gdLst/>
            <a:ahLst/>
            <a:cxnLst/>
            <a:rect r="r" b="b" t="t" l="l"/>
            <a:pathLst>
              <a:path h="3834885" w="2415978">
                <a:moveTo>
                  <a:pt x="0" y="0"/>
                </a:moveTo>
                <a:lnTo>
                  <a:pt x="2415978" y="0"/>
                </a:lnTo>
                <a:lnTo>
                  <a:pt x="2415978" y="3834885"/>
                </a:lnTo>
                <a:lnTo>
                  <a:pt x="0" y="383488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4189068" y="6134981"/>
            <a:ext cx="2406409" cy="3789621"/>
          </a:xfrm>
          <a:custGeom>
            <a:avLst/>
            <a:gdLst/>
            <a:ahLst/>
            <a:cxnLst/>
            <a:rect r="r" b="b" t="t" l="l"/>
            <a:pathLst>
              <a:path h="3789621" w="2406409">
                <a:moveTo>
                  <a:pt x="0" y="0"/>
                </a:moveTo>
                <a:lnTo>
                  <a:pt x="2406409" y="0"/>
                </a:lnTo>
                <a:lnTo>
                  <a:pt x="2406409" y="3789621"/>
                </a:lnTo>
                <a:lnTo>
                  <a:pt x="0" y="37896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259231" y="1722793"/>
            <a:ext cx="4327318" cy="445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8"/>
              </a:lnSpc>
              <a:spcBef>
                <a:spcPct val="0"/>
              </a:spcBef>
            </a:pPr>
            <a:r>
              <a:rPr lang="en-US" b="true" sz="2577">
                <a:solidFill>
                  <a:srgbClr val="29007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FUNGSI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59231" y="2267934"/>
            <a:ext cx="8737285" cy="1690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4"/>
              </a:lnSpc>
              <a:spcBef>
                <a:spcPct val="0"/>
              </a:spcBef>
            </a:pPr>
            <a:r>
              <a:rPr lang="en-US" b="true" sz="243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Drag Movement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bertujuan untuk mempelajari bagaimana objek pada layar dapat digerakkan secara bebas melalui interaksi sentuhan, sehingga kita dapat memahami konsep dasar pergerakan (</a:t>
            </a:r>
            <a:r>
              <a:rPr lang="en-US" sz="2438" i="true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drag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) dalam antarmuka Flutter.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067876" y="1303337"/>
            <a:ext cx="4327318" cy="445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8"/>
              </a:lnSpc>
              <a:spcBef>
                <a:spcPct val="0"/>
              </a:spcBef>
            </a:pPr>
            <a:r>
              <a:rPr lang="en-US" b="true" sz="2577">
                <a:solidFill>
                  <a:srgbClr val="29007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HASIL PRAKTIKUM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59231" y="4044315"/>
            <a:ext cx="4327318" cy="445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8"/>
              </a:lnSpc>
              <a:spcBef>
                <a:spcPct val="0"/>
              </a:spcBef>
            </a:pPr>
            <a:r>
              <a:rPr lang="en-US" b="true" sz="2577">
                <a:solidFill>
                  <a:srgbClr val="29007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INTERAKSI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59231" y="4589456"/>
            <a:ext cx="8737285" cy="1262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4"/>
              </a:lnSpc>
              <a:spcBef>
                <a:spcPct val="0"/>
              </a:spcBef>
            </a:pP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Kita dapat menggeser (</a:t>
            </a:r>
            <a:r>
              <a:rPr lang="en-US" sz="2438" i="true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drag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) box ke berbagai arah, baik ke kanan, kiri, atas, maupun bawah. Posisi box akan selalu mengikuti pergerakan jari kita secara langsung di layar.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59231" y="6000488"/>
            <a:ext cx="4327318" cy="445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8"/>
              </a:lnSpc>
              <a:spcBef>
                <a:spcPct val="0"/>
              </a:spcBef>
            </a:pPr>
            <a:r>
              <a:rPr lang="en-US" b="true" sz="2577">
                <a:solidFill>
                  <a:srgbClr val="29007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CARA KERJA SISTEM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59231" y="6545629"/>
            <a:ext cx="8737285" cy="2547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4"/>
              </a:lnSpc>
              <a:spcBef>
                <a:spcPct val="0"/>
              </a:spcBef>
            </a:pP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Sistem menggunakan </a:t>
            </a:r>
            <a:r>
              <a:rPr lang="en-US" b="true" sz="243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event onPanUpdate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pada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b="true" sz="243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GestureDetector 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untuk mendeteksi pergerakan jari. Setiap perubahan posisi akan dihitung berdasarkan pergeseran pad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sumbu </a:t>
            </a:r>
            <a:r>
              <a:rPr lang="en-US" b="true" sz="243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horizontal (x)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dan </a:t>
            </a:r>
            <a:r>
              <a:rPr lang="en-US" b="true" sz="243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vertikal (y),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kemudian diperbarui menggunakan </a:t>
            </a:r>
            <a:r>
              <a:rPr lang="en-US" b="true" sz="243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setState(),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sehingga posisi box berubah secara </a:t>
            </a:r>
            <a:r>
              <a:rPr lang="en-US" sz="2438" i="true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real-time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sesuai dengan gerakan kita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51147" y="649288"/>
            <a:ext cx="5186143" cy="758825"/>
            <a:chOff x="0" y="0"/>
            <a:chExt cx="6914857" cy="1011767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104775"/>
              <a:ext cx="1733863" cy="11165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000"/>
                </a:lnSpc>
              </a:pPr>
              <a:r>
                <a:rPr lang="en-US" sz="5000">
                  <a:solidFill>
                    <a:srgbClr val="000000"/>
                  </a:solidFill>
                  <a:latin typeface="Staatliches"/>
                  <a:ea typeface="Staatliches"/>
                  <a:cs typeface="Staatliches"/>
                  <a:sym typeface="Staatliches"/>
                </a:rPr>
                <a:t>ALUR 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1733863" y="-104775"/>
              <a:ext cx="5180994" cy="11165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000"/>
                </a:lnSpc>
              </a:pPr>
              <a:r>
                <a:rPr lang="en-US" sz="5000">
                  <a:solidFill>
                    <a:srgbClr val="29007B"/>
                  </a:solidFill>
                  <a:latin typeface="Staatliches"/>
                  <a:ea typeface="Staatliches"/>
                  <a:cs typeface="Staatliches"/>
                  <a:sym typeface="Staatliches"/>
                </a:rPr>
                <a:t>DRAG MOVEMENT</a:t>
              </a:r>
            </a:p>
          </p:txBody>
        </p:sp>
      </p:grpSp>
      <p:sp>
        <p:nvSpPr>
          <p:cNvPr name="AutoShape 6" id="6"/>
          <p:cNvSpPr/>
          <p:nvPr/>
        </p:nvSpPr>
        <p:spPr>
          <a:xfrm flipV="true">
            <a:off x="651147" y="1408112"/>
            <a:ext cx="5661777" cy="19050"/>
          </a:xfrm>
          <a:prstGeom prst="line">
            <a:avLst/>
          </a:prstGeom>
          <a:ln cap="flat" w="38100">
            <a:gradFill>
              <a:gsLst>
                <a:gs pos="0">
                  <a:srgbClr val="29007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4842103" y="212501"/>
            <a:ext cx="2975988" cy="816199"/>
          </a:xfrm>
          <a:custGeom>
            <a:avLst/>
            <a:gdLst/>
            <a:ahLst/>
            <a:cxnLst/>
            <a:rect r="r" b="b" t="t" l="l"/>
            <a:pathLst>
              <a:path h="816199" w="2975988">
                <a:moveTo>
                  <a:pt x="0" y="0"/>
                </a:moveTo>
                <a:lnTo>
                  <a:pt x="2975989" y="0"/>
                </a:lnTo>
                <a:lnTo>
                  <a:pt x="2975989" y="816199"/>
                </a:lnTo>
                <a:lnTo>
                  <a:pt x="0" y="8161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>
            <a:off x="8240920" y="4887377"/>
            <a:ext cx="777186" cy="1724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9" id="9"/>
          <p:cNvSpPr/>
          <p:nvPr/>
        </p:nvSpPr>
        <p:spPr>
          <a:xfrm>
            <a:off x="12586114" y="4878756"/>
            <a:ext cx="777186" cy="1724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651147" y="2354878"/>
            <a:ext cx="3205325" cy="5047756"/>
          </a:xfrm>
          <a:custGeom>
            <a:avLst/>
            <a:gdLst/>
            <a:ahLst/>
            <a:cxnLst/>
            <a:rect r="r" b="b" t="t" l="l"/>
            <a:pathLst>
              <a:path h="5047756" w="3205325">
                <a:moveTo>
                  <a:pt x="0" y="0"/>
                </a:moveTo>
                <a:lnTo>
                  <a:pt x="3205325" y="0"/>
                </a:lnTo>
                <a:lnTo>
                  <a:pt x="3205325" y="5047756"/>
                </a:lnTo>
                <a:lnTo>
                  <a:pt x="0" y="50477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AutoShape 11" id="11"/>
          <p:cNvSpPr/>
          <p:nvPr/>
        </p:nvSpPr>
        <p:spPr>
          <a:xfrm>
            <a:off x="3958969" y="4842467"/>
            <a:ext cx="777186" cy="1724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4896153" y="2380742"/>
            <a:ext cx="3184770" cy="5047756"/>
          </a:xfrm>
          <a:custGeom>
            <a:avLst/>
            <a:gdLst/>
            <a:ahLst/>
            <a:cxnLst/>
            <a:rect r="r" b="b" t="t" l="l"/>
            <a:pathLst>
              <a:path h="5047756" w="3184770">
                <a:moveTo>
                  <a:pt x="0" y="0"/>
                </a:moveTo>
                <a:lnTo>
                  <a:pt x="3184769" y="0"/>
                </a:lnTo>
                <a:lnTo>
                  <a:pt x="3184769" y="5047756"/>
                </a:lnTo>
                <a:lnTo>
                  <a:pt x="0" y="504775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180453" y="2354878"/>
            <a:ext cx="3176694" cy="5047756"/>
          </a:xfrm>
          <a:custGeom>
            <a:avLst/>
            <a:gdLst/>
            <a:ahLst/>
            <a:cxnLst/>
            <a:rect r="r" b="b" t="t" l="l"/>
            <a:pathLst>
              <a:path h="5047756" w="3176694">
                <a:moveTo>
                  <a:pt x="0" y="0"/>
                </a:moveTo>
                <a:lnTo>
                  <a:pt x="3176694" y="0"/>
                </a:lnTo>
                <a:lnTo>
                  <a:pt x="3176694" y="5047756"/>
                </a:lnTo>
                <a:lnTo>
                  <a:pt x="0" y="504775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3637725" y="2354878"/>
            <a:ext cx="3208451" cy="5047756"/>
          </a:xfrm>
          <a:custGeom>
            <a:avLst/>
            <a:gdLst/>
            <a:ahLst/>
            <a:cxnLst/>
            <a:rect r="r" b="b" t="t" l="l"/>
            <a:pathLst>
              <a:path h="5047756" w="3208451">
                <a:moveTo>
                  <a:pt x="0" y="0"/>
                </a:moveTo>
                <a:lnTo>
                  <a:pt x="3208451" y="0"/>
                </a:lnTo>
                <a:lnTo>
                  <a:pt x="3208451" y="5047756"/>
                </a:lnTo>
                <a:lnTo>
                  <a:pt x="0" y="504775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5140628" y="7666285"/>
            <a:ext cx="2695819" cy="763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90"/>
              </a:lnSpc>
              <a:spcBef>
                <a:spcPct val="0"/>
              </a:spcBef>
            </a:pPr>
            <a:r>
              <a:rPr lang="en-US" sz="220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Geser box sesuai pergerakan jari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49719" y="7694319"/>
            <a:ext cx="3558129" cy="372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0"/>
              </a:lnSpc>
              <a:spcBef>
                <a:spcPct val="0"/>
              </a:spcBef>
            </a:pPr>
            <a:r>
              <a:rPr lang="en-US" sz="220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(Pilih “</a:t>
            </a:r>
            <a:r>
              <a:rPr lang="en-US" b="true" sz="2207" i="true">
                <a:solidFill>
                  <a:srgbClr val="0000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Drag Movement</a:t>
            </a:r>
            <a:r>
              <a:rPr lang="en-US" sz="220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”)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427585" y="7666285"/>
            <a:ext cx="2695819" cy="763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90"/>
              </a:lnSpc>
              <a:spcBef>
                <a:spcPct val="0"/>
              </a:spcBef>
            </a:pPr>
            <a:r>
              <a:rPr lang="en-US" sz="220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Geser box sesuai pergerakan jari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012534" y="7666285"/>
            <a:ext cx="2695819" cy="763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90"/>
              </a:lnSpc>
              <a:spcBef>
                <a:spcPct val="0"/>
              </a:spcBef>
            </a:pPr>
            <a:r>
              <a:rPr lang="en-US" sz="220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Geser box sesuai pergerakan jari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2212260" y="3113001"/>
            <a:ext cx="1746710" cy="1746710"/>
          </a:xfrm>
          <a:custGeom>
            <a:avLst/>
            <a:gdLst/>
            <a:ahLst/>
            <a:cxnLst/>
            <a:rect r="r" b="b" t="t" l="l"/>
            <a:pathLst>
              <a:path h="1746710" w="1746710">
                <a:moveTo>
                  <a:pt x="0" y="0"/>
                </a:moveTo>
                <a:lnTo>
                  <a:pt x="1746709" y="0"/>
                </a:lnTo>
                <a:lnTo>
                  <a:pt x="1746709" y="1746709"/>
                </a:lnTo>
                <a:lnTo>
                  <a:pt x="0" y="17467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51147" y="649288"/>
            <a:ext cx="5335508" cy="758825"/>
            <a:chOff x="0" y="0"/>
            <a:chExt cx="7114011" cy="1011767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104775"/>
              <a:ext cx="1933017" cy="11165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000"/>
                </a:lnSpc>
              </a:pPr>
              <a:r>
                <a:rPr lang="en-US" sz="5000">
                  <a:solidFill>
                    <a:srgbClr val="000000"/>
                  </a:solidFill>
                  <a:latin typeface="Staatliches"/>
                  <a:ea typeface="Staatliches"/>
                  <a:cs typeface="Staatliches"/>
                  <a:sym typeface="Staatliches"/>
                </a:rPr>
                <a:t>SCALE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1933017" y="-104775"/>
              <a:ext cx="5180994" cy="11165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000"/>
                </a:lnSpc>
              </a:pPr>
              <a:r>
                <a:rPr lang="en-US" sz="5000">
                  <a:solidFill>
                    <a:srgbClr val="29007B"/>
                  </a:solidFill>
                  <a:latin typeface="Staatliches"/>
                  <a:ea typeface="Staatliches"/>
                  <a:cs typeface="Staatliches"/>
                  <a:sym typeface="Staatliches"/>
                </a:rPr>
                <a:t>&amp; ZOOM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51147" y="1673031"/>
            <a:ext cx="387005" cy="38700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9007B"/>
            </a:solidFill>
          </p:spPr>
        </p:sp>
      </p:grpSp>
      <p:sp>
        <p:nvSpPr>
          <p:cNvPr name="AutoShape 8" id="8"/>
          <p:cNvSpPr/>
          <p:nvPr/>
        </p:nvSpPr>
        <p:spPr>
          <a:xfrm flipV="true">
            <a:off x="651147" y="1408112"/>
            <a:ext cx="3593064" cy="19050"/>
          </a:xfrm>
          <a:prstGeom prst="line">
            <a:avLst/>
          </a:prstGeom>
          <a:ln cap="flat" w="38100">
            <a:gradFill>
              <a:gsLst>
                <a:gs pos="0">
                  <a:srgbClr val="29007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4842103" y="212501"/>
            <a:ext cx="2975988" cy="816199"/>
          </a:xfrm>
          <a:custGeom>
            <a:avLst/>
            <a:gdLst/>
            <a:ahLst/>
            <a:cxnLst/>
            <a:rect r="r" b="b" t="t" l="l"/>
            <a:pathLst>
              <a:path h="816199" w="2975988">
                <a:moveTo>
                  <a:pt x="0" y="0"/>
                </a:moveTo>
                <a:lnTo>
                  <a:pt x="2975989" y="0"/>
                </a:lnTo>
                <a:lnTo>
                  <a:pt x="2975989" y="816199"/>
                </a:lnTo>
                <a:lnTo>
                  <a:pt x="0" y="8161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0459793" y="1360487"/>
            <a:ext cx="387005" cy="387005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9007B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51147" y="4008249"/>
            <a:ext cx="387005" cy="387005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9007B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51147" y="6710770"/>
            <a:ext cx="387005" cy="387005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9007B"/>
            </a:solid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11067876" y="2061774"/>
            <a:ext cx="2465148" cy="5478107"/>
          </a:xfrm>
          <a:custGeom>
            <a:avLst/>
            <a:gdLst/>
            <a:ahLst/>
            <a:cxnLst/>
            <a:rect r="r" b="b" t="t" l="l"/>
            <a:pathLst>
              <a:path h="5478107" w="2465148">
                <a:moveTo>
                  <a:pt x="0" y="0"/>
                </a:moveTo>
                <a:lnTo>
                  <a:pt x="2465149" y="0"/>
                </a:lnTo>
                <a:lnTo>
                  <a:pt x="2465149" y="5478107"/>
                </a:lnTo>
                <a:lnTo>
                  <a:pt x="0" y="54781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3947354" y="2199122"/>
            <a:ext cx="2403342" cy="5340759"/>
          </a:xfrm>
          <a:custGeom>
            <a:avLst/>
            <a:gdLst/>
            <a:ahLst/>
            <a:cxnLst/>
            <a:rect r="r" b="b" t="t" l="l"/>
            <a:pathLst>
              <a:path h="5340759" w="2403342">
                <a:moveTo>
                  <a:pt x="0" y="0"/>
                </a:moveTo>
                <a:lnTo>
                  <a:pt x="2403342" y="0"/>
                </a:lnTo>
                <a:lnTo>
                  <a:pt x="2403342" y="5340759"/>
                </a:lnTo>
                <a:lnTo>
                  <a:pt x="0" y="53407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259231" y="1615881"/>
            <a:ext cx="4327318" cy="445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8"/>
              </a:lnSpc>
              <a:spcBef>
                <a:spcPct val="0"/>
              </a:spcBef>
            </a:pPr>
            <a:r>
              <a:rPr lang="en-US" b="true" sz="2577">
                <a:solidFill>
                  <a:srgbClr val="29007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FUNGSI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59231" y="2161022"/>
            <a:ext cx="8737285" cy="1690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4"/>
              </a:lnSpc>
              <a:spcBef>
                <a:spcPct val="0"/>
              </a:spcBef>
            </a:pPr>
            <a:r>
              <a:rPr lang="en-US" b="true" sz="243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Scale &amp; Zoom 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bertujuan untuk mempelajari bagaimana objek dapat diperbesar, diperkecil, serta dipindahkan dalam satu interaksi yang lebih kompleks, sehingga kita dapat  memahami konsep transformasi (skala dan posisi) Flutter.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067876" y="1303337"/>
            <a:ext cx="4327318" cy="445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8"/>
              </a:lnSpc>
              <a:spcBef>
                <a:spcPct val="0"/>
              </a:spcBef>
            </a:pPr>
            <a:r>
              <a:rPr lang="en-US" b="true" sz="2577">
                <a:solidFill>
                  <a:srgbClr val="29007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HASIL PRAKTIKUM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59231" y="3951099"/>
            <a:ext cx="4327318" cy="445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8"/>
              </a:lnSpc>
              <a:spcBef>
                <a:spcPct val="0"/>
              </a:spcBef>
            </a:pPr>
            <a:r>
              <a:rPr lang="en-US" b="true" sz="2577">
                <a:solidFill>
                  <a:srgbClr val="29007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INTERAKSI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59231" y="4496240"/>
            <a:ext cx="8737285" cy="2119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4"/>
              </a:lnSpc>
              <a:spcBef>
                <a:spcPct val="0"/>
              </a:spcBef>
            </a:pP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Kita dapat melakukan </a:t>
            </a:r>
            <a:r>
              <a:rPr lang="en-US" sz="2438" i="true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pinch 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(cubit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n) untuk memperbesar atau memperkecil objek (</a:t>
            </a:r>
            <a:r>
              <a:rPr lang="en-US" b="true" sz="243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zoom in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dan </a:t>
            </a:r>
            <a:r>
              <a:rPr lang="en-US" b="true" sz="243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zoom out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), menggeser objek dengan drag, serta menggunakan </a:t>
            </a:r>
            <a:r>
              <a:rPr lang="en-US" sz="2438" i="true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scroll mouse 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(pada desktop) untuk melakukan zoom secara lebih presisi.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59231" y="6653620"/>
            <a:ext cx="4327318" cy="445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8"/>
              </a:lnSpc>
              <a:spcBef>
                <a:spcPct val="0"/>
              </a:spcBef>
            </a:pPr>
            <a:r>
              <a:rPr lang="en-US" b="true" sz="2577">
                <a:solidFill>
                  <a:srgbClr val="29007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CARA KERJA SISTEM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59231" y="7198762"/>
            <a:ext cx="8737285" cy="2976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4"/>
              </a:lnSpc>
              <a:spcBef>
                <a:spcPct val="0"/>
              </a:spcBef>
            </a:pP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Sistem menggunakan </a:t>
            </a:r>
            <a:r>
              <a:rPr lang="en-US" b="true" sz="243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onScaleUpdate 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nt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uk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nan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gk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 p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rubahan skala dan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pos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isi s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ec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bersamaan. Nilai </a:t>
            </a:r>
            <a:r>
              <a:rPr lang="en-US" sz="2438" i="true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scale 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mengatur ukuran objek, sedangkan </a:t>
            </a:r>
            <a:r>
              <a:rPr lang="en-US" b="true" sz="243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focalPointDelta 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digunakan untuk menggeser posisi. </a:t>
            </a:r>
            <a:r>
              <a:rPr lang="en-US" sz="2438" i="true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Event scroll mouse 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deteksi melalui </a:t>
            </a:r>
            <a:r>
              <a:rPr lang="en-US" sz="2438" i="true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Lis</a:t>
            </a:r>
            <a:r>
              <a:rPr lang="en-US" sz="2438" i="true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t</a:t>
            </a:r>
            <a:r>
              <a:rPr lang="en-US" sz="2438" i="true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ener 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an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dikon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ver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si menjad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perubahan s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kal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a. Seluruh perubahan diperbarui dengan </a:t>
            </a:r>
            <a:r>
              <a:rPr lang="en-US" b="true" sz="243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setState()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sehingga tampilan berubah secara </a:t>
            </a:r>
            <a:r>
              <a:rPr lang="en-US" sz="2438" i="true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real-time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51147" y="649288"/>
            <a:ext cx="5140643" cy="758825"/>
            <a:chOff x="0" y="0"/>
            <a:chExt cx="6854191" cy="1011767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104775"/>
              <a:ext cx="1885528" cy="11165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000"/>
                </a:lnSpc>
              </a:pPr>
              <a:r>
                <a:rPr lang="en-US" sz="5000">
                  <a:solidFill>
                    <a:srgbClr val="000000"/>
                  </a:solidFill>
                  <a:latin typeface="Staatliches"/>
                  <a:ea typeface="Staatliches"/>
                  <a:cs typeface="Staatliches"/>
                  <a:sym typeface="Staatliches"/>
                </a:rPr>
                <a:t>ALUR 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1673197" y="-104775"/>
              <a:ext cx="5180994" cy="11165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000"/>
                </a:lnSpc>
              </a:pPr>
              <a:r>
                <a:rPr lang="en-US" sz="5000">
                  <a:solidFill>
                    <a:srgbClr val="29007B"/>
                  </a:solidFill>
                  <a:latin typeface="Staatliches"/>
                  <a:ea typeface="Staatliches"/>
                  <a:cs typeface="Staatliches"/>
                  <a:sym typeface="Staatliches"/>
                </a:rPr>
                <a:t>SCALE &amp; ZOOM</a:t>
              </a:r>
            </a:p>
          </p:txBody>
        </p:sp>
      </p:grpSp>
      <p:sp>
        <p:nvSpPr>
          <p:cNvPr name="AutoShape 6" id="6"/>
          <p:cNvSpPr/>
          <p:nvPr/>
        </p:nvSpPr>
        <p:spPr>
          <a:xfrm flipV="true">
            <a:off x="651147" y="1408112"/>
            <a:ext cx="5462097" cy="19050"/>
          </a:xfrm>
          <a:prstGeom prst="line">
            <a:avLst/>
          </a:prstGeom>
          <a:ln cap="flat" w="38100">
            <a:gradFill>
              <a:gsLst>
                <a:gs pos="0">
                  <a:srgbClr val="29007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4842103" y="212501"/>
            <a:ext cx="2975988" cy="816199"/>
          </a:xfrm>
          <a:custGeom>
            <a:avLst/>
            <a:gdLst/>
            <a:ahLst/>
            <a:cxnLst/>
            <a:rect r="r" b="b" t="t" l="l"/>
            <a:pathLst>
              <a:path h="816199" w="2975988">
                <a:moveTo>
                  <a:pt x="0" y="0"/>
                </a:moveTo>
                <a:lnTo>
                  <a:pt x="2975989" y="0"/>
                </a:lnTo>
                <a:lnTo>
                  <a:pt x="2975989" y="816199"/>
                </a:lnTo>
                <a:lnTo>
                  <a:pt x="0" y="8161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>
            <a:off x="8240920" y="4887377"/>
            <a:ext cx="777186" cy="1724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9" id="9"/>
          <p:cNvSpPr/>
          <p:nvPr/>
        </p:nvSpPr>
        <p:spPr>
          <a:xfrm>
            <a:off x="12586114" y="4878756"/>
            <a:ext cx="777186" cy="1724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651147" y="2354878"/>
            <a:ext cx="3205325" cy="5047756"/>
          </a:xfrm>
          <a:custGeom>
            <a:avLst/>
            <a:gdLst/>
            <a:ahLst/>
            <a:cxnLst/>
            <a:rect r="r" b="b" t="t" l="l"/>
            <a:pathLst>
              <a:path h="5047756" w="3205325">
                <a:moveTo>
                  <a:pt x="0" y="0"/>
                </a:moveTo>
                <a:lnTo>
                  <a:pt x="3205325" y="0"/>
                </a:lnTo>
                <a:lnTo>
                  <a:pt x="3205325" y="5047756"/>
                </a:lnTo>
                <a:lnTo>
                  <a:pt x="0" y="50477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AutoShape 11" id="11"/>
          <p:cNvSpPr/>
          <p:nvPr/>
        </p:nvSpPr>
        <p:spPr>
          <a:xfrm>
            <a:off x="3958969" y="4842467"/>
            <a:ext cx="777186" cy="1724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507100" y="4694122"/>
            <a:ext cx="1746710" cy="1746710"/>
          </a:xfrm>
          <a:custGeom>
            <a:avLst/>
            <a:gdLst/>
            <a:ahLst/>
            <a:cxnLst/>
            <a:rect r="r" b="b" t="t" l="l"/>
            <a:pathLst>
              <a:path h="1746710" w="1746710">
                <a:moveTo>
                  <a:pt x="0" y="0"/>
                </a:moveTo>
                <a:lnTo>
                  <a:pt x="1746710" y="0"/>
                </a:lnTo>
                <a:lnTo>
                  <a:pt x="1746710" y="1746710"/>
                </a:lnTo>
                <a:lnTo>
                  <a:pt x="0" y="17467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5255964" y="2103414"/>
            <a:ext cx="2465148" cy="5478107"/>
          </a:xfrm>
          <a:custGeom>
            <a:avLst/>
            <a:gdLst/>
            <a:ahLst/>
            <a:cxnLst/>
            <a:rect r="r" b="b" t="t" l="l"/>
            <a:pathLst>
              <a:path h="5478107" w="2465148">
                <a:moveTo>
                  <a:pt x="0" y="0"/>
                </a:moveTo>
                <a:lnTo>
                  <a:pt x="2465148" y="0"/>
                </a:lnTo>
                <a:lnTo>
                  <a:pt x="2465148" y="5478107"/>
                </a:lnTo>
                <a:lnTo>
                  <a:pt x="0" y="547810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427585" y="2103414"/>
            <a:ext cx="2465148" cy="5478107"/>
          </a:xfrm>
          <a:custGeom>
            <a:avLst/>
            <a:gdLst/>
            <a:ahLst/>
            <a:cxnLst/>
            <a:rect r="r" b="b" t="t" l="l"/>
            <a:pathLst>
              <a:path h="5478107" w="2465148">
                <a:moveTo>
                  <a:pt x="0" y="0"/>
                </a:moveTo>
                <a:lnTo>
                  <a:pt x="2465148" y="0"/>
                </a:lnTo>
                <a:lnTo>
                  <a:pt x="2465148" y="5478107"/>
                </a:lnTo>
                <a:lnTo>
                  <a:pt x="0" y="547810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3841484" y="2103414"/>
            <a:ext cx="2465148" cy="5478107"/>
          </a:xfrm>
          <a:custGeom>
            <a:avLst/>
            <a:gdLst/>
            <a:ahLst/>
            <a:cxnLst/>
            <a:rect r="r" b="b" t="t" l="l"/>
            <a:pathLst>
              <a:path h="5478107" w="2465148">
                <a:moveTo>
                  <a:pt x="0" y="0"/>
                </a:moveTo>
                <a:lnTo>
                  <a:pt x="2465148" y="0"/>
                </a:lnTo>
                <a:lnTo>
                  <a:pt x="2465148" y="5478107"/>
                </a:lnTo>
                <a:lnTo>
                  <a:pt x="0" y="547810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5140628" y="7661167"/>
            <a:ext cx="2695819" cy="763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90"/>
              </a:lnSpc>
              <a:spcBef>
                <a:spcPct val="0"/>
              </a:spcBef>
            </a:pPr>
            <a:r>
              <a:rPr lang="en-US" sz="220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(Tampilan box normal)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49719" y="7694319"/>
            <a:ext cx="3558129" cy="372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0"/>
              </a:lnSpc>
              <a:spcBef>
                <a:spcPct val="0"/>
              </a:spcBef>
            </a:pPr>
            <a:r>
              <a:rPr lang="en-US" sz="220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(Pilih “</a:t>
            </a:r>
            <a:r>
              <a:rPr lang="en-US" b="true" sz="2207" i="true">
                <a:solidFill>
                  <a:srgbClr val="0000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Scale &amp; Zoom</a:t>
            </a:r>
            <a:r>
              <a:rPr lang="en-US" sz="220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”)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312249" y="7661167"/>
            <a:ext cx="2695819" cy="763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90"/>
              </a:lnSpc>
              <a:spcBef>
                <a:spcPct val="0"/>
              </a:spcBef>
            </a:pPr>
            <a:r>
              <a:rPr lang="en-US" sz="220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(Tampilan box setelah di perbesar)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841484" y="7694319"/>
            <a:ext cx="2695819" cy="763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90"/>
              </a:lnSpc>
              <a:spcBef>
                <a:spcPct val="0"/>
              </a:spcBef>
            </a:pPr>
            <a:r>
              <a:rPr lang="en-US" sz="220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(Tampilan box setelah diperkecil)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51147" y="649288"/>
            <a:ext cx="5912419" cy="758825"/>
            <a:chOff x="0" y="0"/>
            <a:chExt cx="7883226" cy="1011767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104775"/>
              <a:ext cx="2702232" cy="11165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000"/>
                </a:lnSpc>
              </a:pPr>
              <a:r>
                <a:rPr lang="en-US" sz="5000">
                  <a:solidFill>
                    <a:srgbClr val="000000"/>
                  </a:solidFill>
                  <a:latin typeface="Staatliches"/>
                  <a:ea typeface="Staatliches"/>
                  <a:cs typeface="Staatliches"/>
                  <a:sym typeface="Staatliches"/>
                </a:rPr>
                <a:t>GESTURE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2702232" y="-104775"/>
              <a:ext cx="5180994" cy="11165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000"/>
                </a:lnSpc>
              </a:pPr>
              <a:r>
                <a:rPr lang="en-US" sz="5000">
                  <a:solidFill>
                    <a:srgbClr val="29007B"/>
                  </a:solidFill>
                  <a:latin typeface="Staatliches"/>
                  <a:ea typeface="Staatliches"/>
                  <a:cs typeface="Staatliches"/>
                  <a:sym typeface="Staatliches"/>
                </a:rPr>
                <a:t>PLAYGROUND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51147" y="1779943"/>
            <a:ext cx="387005" cy="38700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9007B"/>
            </a:solidFill>
          </p:spPr>
        </p:sp>
      </p:grpSp>
      <p:sp>
        <p:nvSpPr>
          <p:cNvPr name="AutoShape 8" id="8"/>
          <p:cNvSpPr/>
          <p:nvPr/>
        </p:nvSpPr>
        <p:spPr>
          <a:xfrm flipV="true">
            <a:off x="651147" y="1408112"/>
            <a:ext cx="6260584" cy="19050"/>
          </a:xfrm>
          <a:prstGeom prst="line">
            <a:avLst/>
          </a:prstGeom>
          <a:ln cap="flat" w="38100">
            <a:gradFill>
              <a:gsLst>
                <a:gs pos="0">
                  <a:srgbClr val="29007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4842103" y="212501"/>
            <a:ext cx="2975988" cy="816199"/>
          </a:xfrm>
          <a:custGeom>
            <a:avLst/>
            <a:gdLst/>
            <a:ahLst/>
            <a:cxnLst/>
            <a:rect r="r" b="b" t="t" l="l"/>
            <a:pathLst>
              <a:path h="816199" w="2975988">
                <a:moveTo>
                  <a:pt x="0" y="0"/>
                </a:moveTo>
                <a:lnTo>
                  <a:pt x="2975989" y="0"/>
                </a:lnTo>
                <a:lnTo>
                  <a:pt x="2975989" y="816199"/>
                </a:lnTo>
                <a:lnTo>
                  <a:pt x="0" y="8161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0459793" y="1779943"/>
            <a:ext cx="387005" cy="387005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9007B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51147" y="4101465"/>
            <a:ext cx="387005" cy="387005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9007B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259231" y="1722793"/>
            <a:ext cx="4327318" cy="445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8"/>
              </a:lnSpc>
              <a:spcBef>
                <a:spcPct val="0"/>
              </a:spcBef>
            </a:pPr>
            <a:r>
              <a:rPr lang="en-US" b="true" sz="2577">
                <a:solidFill>
                  <a:srgbClr val="29007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FUNGSI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59231" y="2267934"/>
            <a:ext cx="9200562" cy="1690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14"/>
              </a:lnSpc>
              <a:spcBef>
                <a:spcPct val="0"/>
              </a:spcBef>
            </a:pPr>
            <a:r>
              <a:rPr lang="en-US" b="true" sz="243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Gesture Playground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berfungsi sebagai media untuk menggabungkan berbagai jenis gesture dalam satu tampilan, sehingga kita dapat memahami bagaimana beberapa interaksi dapat bekerja secara be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maan dalam satu widget.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067876" y="1722793"/>
            <a:ext cx="4327318" cy="445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8"/>
              </a:lnSpc>
              <a:spcBef>
                <a:spcPct val="0"/>
              </a:spcBef>
            </a:pPr>
            <a:r>
              <a:rPr lang="en-US" b="true" sz="2577">
                <a:solidFill>
                  <a:srgbClr val="29007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CARA KERJA SISTEM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59231" y="4044315"/>
            <a:ext cx="4327318" cy="445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8"/>
              </a:lnSpc>
              <a:spcBef>
                <a:spcPct val="0"/>
              </a:spcBef>
            </a:pPr>
            <a:r>
              <a:rPr lang="en-US" b="true" sz="2577">
                <a:solidFill>
                  <a:srgbClr val="29007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INTERAKSI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59231" y="4589456"/>
            <a:ext cx="8737285" cy="2976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14"/>
              </a:lnSpc>
              <a:spcBef>
                <a:spcPct val="0"/>
              </a:spcBef>
            </a:pP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Kita dapat mel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kukan berbagai aksi pada satu objek, seperti </a:t>
            </a:r>
            <a:r>
              <a:rPr lang="en-US" b="true" sz="243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tap 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untuk mengubah warna menjadi hijau, </a:t>
            </a:r>
            <a:r>
              <a:rPr lang="en-US" b="true" sz="243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double tap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untuk mengubah warna menjadi merah, </a:t>
            </a:r>
            <a:r>
              <a:rPr lang="en-US" b="true" sz="243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long press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untuk memperbesar ukuran, </a:t>
            </a:r>
            <a:r>
              <a:rPr lang="en-US" b="true" sz="243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drag 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untuk menggeser posisi, serta </a:t>
            </a:r>
            <a:r>
              <a:rPr lang="en-US" b="true" sz="243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pinch 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untuk melakukan zoom in dan zoom out. Selain itu, tersedia tombol reset untuk mengembalikan objek ke kondisi awal.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067876" y="2355670"/>
            <a:ext cx="6750215" cy="5548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14"/>
              </a:lnSpc>
              <a:spcBef>
                <a:spcPct val="0"/>
              </a:spcBef>
            </a:pP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Sistem mengg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ab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ungkan beberapa </a:t>
            </a:r>
            <a:r>
              <a:rPr lang="en-US" sz="2438" i="true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event gesture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seperti </a:t>
            </a:r>
            <a:r>
              <a:rPr lang="en-US" b="true" sz="243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onTap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b="true" sz="243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onDoubleTap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b="true" sz="243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onLongPress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dan </a:t>
            </a:r>
            <a:r>
              <a:rPr lang="en-US" b="true" sz="243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onScaleUpdate 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am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tu </a:t>
            </a:r>
            <a:r>
              <a:rPr lang="en-US" b="true" sz="243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GestureDetector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 Perubahan warna, ukuran, da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 p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 diatur melalui state yang diperbarui menggunakan </a:t>
            </a:r>
            <a:r>
              <a:rPr lang="en-US" b="true" sz="243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setState().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Untuk gesture kompleks seperti </a:t>
            </a:r>
            <a:r>
              <a:rPr lang="en-US" sz="2438" i="true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drag 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38" i="true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zoom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sistem menggunakan data dari </a:t>
            </a:r>
            <a:r>
              <a:rPr lang="en-US" b="true" sz="243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onScaleUpdate 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yang mencakup perubahan skala dan pergeseran posisi. Tombol reset berfungsi untuk mengembalikan semua nilai state ke kondisi awal, sehingga tampilan kembali seperti semula.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51147" y="649288"/>
            <a:ext cx="7266931" cy="758825"/>
            <a:chOff x="0" y="0"/>
            <a:chExt cx="9689241" cy="1011767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104775"/>
              <a:ext cx="1885528" cy="11165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000"/>
                </a:lnSpc>
              </a:pPr>
              <a:r>
                <a:rPr lang="en-US" sz="5000">
                  <a:solidFill>
                    <a:srgbClr val="000000"/>
                  </a:solidFill>
                  <a:latin typeface="Staatliches"/>
                  <a:ea typeface="Staatliches"/>
                  <a:cs typeface="Staatliches"/>
                  <a:sym typeface="Staatliches"/>
                </a:rPr>
                <a:t>HASIL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1885528" y="-104775"/>
              <a:ext cx="7803713" cy="11165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000"/>
                </a:lnSpc>
              </a:pPr>
              <a:r>
                <a:rPr lang="en-US" sz="5000">
                  <a:solidFill>
                    <a:srgbClr val="29007B"/>
                  </a:solidFill>
                  <a:latin typeface="Staatliches"/>
                  <a:ea typeface="Staatliches"/>
                  <a:cs typeface="Staatliches"/>
                  <a:sym typeface="Staatliches"/>
                </a:rPr>
                <a:t>GESTURE PLAYGROUND</a:t>
              </a:r>
            </a:p>
          </p:txBody>
        </p:sp>
      </p:grpSp>
      <p:sp>
        <p:nvSpPr>
          <p:cNvPr name="AutoShape 6" id="6"/>
          <p:cNvSpPr/>
          <p:nvPr/>
        </p:nvSpPr>
        <p:spPr>
          <a:xfrm flipV="true">
            <a:off x="651147" y="1408112"/>
            <a:ext cx="7533699" cy="19050"/>
          </a:xfrm>
          <a:prstGeom prst="line">
            <a:avLst/>
          </a:prstGeom>
          <a:ln cap="flat" w="38100">
            <a:gradFill>
              <a:gsLst>
                <a:gs pos="0">
                  <a:srgbClr val="29007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4842103" y="212501"/>
            <a:ext cx="2975988" cy="816199"/>
          </a:xfrm>
          <a:custGeom>
            <a:avLst/>
            <a:gdLst/>
            <a:ahLst/>
            <a:cxnLst/>
            <a:rect r="r" b="b" t="t" l="l"/>
            <a:pathLst>
              <a:path h="816199" w="2975988">
                <a:moveTo>
                  <a:pt x="0" y="0"/>
                </a:moveTo>
                <a:lnTo>
                  <a:pt x="2975989" y="0"/>
                </a:lnTo>
                <a:lnTo>
                  <a:pt x="2975989" y="816199"/>
                </a:lnTo>
                <a:lnTo>
                  <a:pt x="0" y="8161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>
            <a:off x="5978653" y="3741664"/>
            <a:ext cx="675379" cy="14984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9" id="9"/>
          <p:cNvSpPr/>
          <p:nvPr/>
        </p:nvSpPr>
        <p:spPr>
          <a:xfrm>
            <a:off x="8669502" y="3773198"/>
            <a:ext cx="675379" cy="14984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647362" y="1906250"/>
            <a:ext cx="2269907" cy="3574657"/>
          </a:xfrm>
          <a:custGeom>
            <a:avLst/>
            <a:gdLst/>
            <a:ahLst/>
            <a:cxnLst/>
            <a:rect r="r" b="b" t="t" l="l"/>
            <a:pathLst>
              <a:path h="3574657" w="2269907">
                <a:moveTo>
                  <a:pt x="0" y="0"/>
                </a:moveTo>
                <a:lnTo>
                  <a:pt x="2269907" y="0"/>
                </a:lnTo>
                <a:lnTo>
                  <a:pt x="2269907" y="3574657"/>
                </a:lnTo>
                <a:lnTo>
                  <a:pt x="0" y="357465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AutoShape 11" id="11"/>
          <p:cNvSpPr/>
          <p:nvPr/>
        </p:nvSpPr>
        <p:spPr>
          <a:xfrm>
            <a:off x="3129117" y="3710129"/>
            <a:ext cx="675379" cy="14984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1611217" y="3507106"/>
            <a:ext cx="1517900" cy="1517900"/>
          </a:xfrm>
          <a:custGeom>
            <a:avLst/>
            <a:gdLst/>
            <a:ahLst/>
            <a:cxnLst/>
            <a:rect r="r" b="b" t="t" l="l"/>
            <a:pathLst>
              <a:path h="1517900" w="1517900">
                <a:moveTo>
                  <a:pt x="0" y="0"/>
                </a:moveTo>
                <a:lnTo>
                  <a:pt x="1517900" y="0"/>
                </a:lnTo>
                <a:lnTo>
                  <a:pt x="1517900" y="1517900"/>
                </a:lnTo>
                <a:lnTo>
                  <a:pt x="0" y="15179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6844777" y="1906250"/>
            <a:ext cx="1608596" cy="3574657"/>
          </a:xfrm>
          <a:custGeom>
            <a:avLst/>
            <a:gdLst/>
            <a:ahLst/>
            <a:cxnLst/>
            <a:rect r="r" b="b" t="t" l="l"/>
            <a:pathLst>
              <a:path h="3574657" w="1608596">
                <a:moveTo>
                  <a:pt x="0" y="0"/>
                </a:moveTo>
                <a:lnTo>
                  <a:pt x="1608596" y="0"/>
                </a:lnTo>
                <a:lnTo>
                  <a:pt x="1608596" y="3574657"/>
                </a:lnTo>
                <a:lnTo>
                  <a:pt x="0" y="357465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610121" y="1906250"/>
            <a:ext cx="1608596" cy="3574657"/>
          </a:xfrm>
          <a:custGeom>
            <a:avLst/>
            <a:gdLst/>
            <a:ahLst/>
            <a:cxnLst/>
            <a:rect r="r" b="b" t="t" l="l"/>
            <a:pathLst>
              <a:path h="3574657" w="1608596">
                <a:moveTo>
                  <a:pt x="0" y="0"/>
                </a:moveTo>
                <a:lnTo>
                  <a:pt x="1608596" y="0"/>
                </a:lnTo>
                <a:lnTo>
                  <a:pt x="1608596" y="3574657"/>
                </a:lnTo>
                <a:lnTo>
                  <a:pt x="0" y="357465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4104012" y="1906250"/>
            <a:ext cx="1608596" cy="3574657"/>
          </a:xfrm>
          <a:custGeom>
            <a:avLst/>
            <a:gdLst/>
            <a:ahLst/>
            <a:cxnLst/>
            <a:rect r="r" b="b" t="t" l="l"/>
            <a:pathLst>
              <a:path h="3574657" w="1608596">
                <a:moveTo>
                  <a:pt x="0" y="0"/>
                </a:moveTo>
                <a:lnTo>
                  <a:pt x="1608595" y="0"/>
                </a:lnTo>
                <a:lnTo>
                  <a:pt x="1608595" y="3574657"/>
                </a:lnTo>
                <a:lnTo>
                  <a:pt x="0" y="357465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AutoShape 16" id="16"/>
          <p:cNvSpPr/>
          <p:nvPr/>
        </p:nvSpPr>
        <p:spPr>
          <a:xfrm>
            <a:off x="11434092" y="3804733"/>
            <a:ext cx="675379" cy="14984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17" id="17"/>
          <p:cNvSpPr/>
          <p:nvPr/>
        </p:nvSpPr>
        <p:spPr>
          <a:xfrm flipH="false" flipV="false" rot="0">
            <a:off x="12374711" y="1906250"/>
            <a:ext cx="1608596" cy="3574657"/>
          </a:xfrm>
          <a:custGeom>
            <a:avLst/>
            <a:gdLst/>
            <a:ahLst/>
            <a:cxnLst/>
            <a:rect r="r" b="b" t="t" l="l"/>
            <a:pathLst>
              <a:path h="3574657" w="1608596">
                <a:moveTo>
                  <a:pt x="0" y="0"/>
                </a:moveTo>
                <a:lnTo>
                  <a:pt x="1608596" y="0"/>
                </a:lnTo>
                <a:lnTo>
                  <a:pt x="1608596" y="3574657"/>
                </a:lnTo>
                <a:lnTo>
                  <a:pt x="0" y="357465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5023078" y="1906250"/>
            <a:ext cx="1608596" cy="3574657"/>
          </a:xfrm>
          <a:custGeom>
            <a:avLst/>
            <a:gdLst/>
            <a:ahLst/>
            <a:cxnLst/>
            <a:rect r="r" b="b" t="t" l="l"/>
            <a:pathLst>
              <a:path h="3574657" w="1608596">
                <a:moveTo>
                  <a:pt x="0" y="0"/>
                </a:moveTo>
                <a:lnTo>
                  <a:pt x="1608596" y="0"/>
                </a:lnTo>
                <a:lnTo>
                  <a:pt x="1608596" y="3574657"/>
                </a:lnTo>
                <a:lnTo>
                  <a:pt x="0" y="357465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AutoShape 19" id="19"/>
          <p:cNvSpPr/>
          <p:nvPr/>
        </p:nvSpPr>
        <p:spPr>
          <a:xfrm>
            <a:off x="14166407" y="3834001"/>
            <a:ext cx="675379" cy="14984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20" id="20"/>
          <p:cNvSpPr/>
          <p:nvPr/>
        </p:nvSpPr>
        <p:spPr>
          <a:xfrm flipH="false" flipV="false" rot="0">
            <a:off x="718302" y="6211224"/>
            <a:ext cx="1587964" cy="3528810"/>
          </a:xfrm>
          <a:custGeom>
            <a:avLst/>
            <a:gdLst/>
            <a:ahLst/>
            <a:cxnLst/>
            <a:rect r="r" b="b" t="t" l="l"/>
            <a:pathLst>
              <a:path h="3528810" w="1587964">
                <a:moveTo>
                  <a:pt x="0" y="0"/>
                </a:moveTo>
                <a:lnTo>
                  <a:pt x="1587964" y="0"/>
                </a:lnTo>
                <a:lnTo>
                  <a:pt x="1587964" y="3528810"/>
                </a:lnTo>
                <a:lnTo>
                  <a:pt x="0" y="352881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3804496" y="5663405"/>
            <a:ext cx="2342682" cy="328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85"/>
              </a:lnSpc>
              <a:spcBef>
                <a:spcPct val="0"/>
              </a:spcBef>
            </a:pPr>
            <a:r>
              <a:rPr lang="en-US" sz="191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(Tampilan awal)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22250" y="5663405"/>
            <a:ext cx="3182614" cy="328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5"/>
              </a:lnSpc>
              <a:spcBef>
                <a:spcPct val="0"/>
              </a:spcBef>
            </a:pPr>
            <a:r>
              <a:rPr lang="en-US" sz="191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(Pilih “</a:t>
            </a:r>
            <a:r>
              <a:rPr lang="en-US" b="true" sz="1918" i="true">
                <a:solidFill>
                  <a:srgbClr val="0000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Gesture Playground</a:t>
            </a:r>
            <a:r>
              <a:rPr lang="en-US" sz="191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”)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502566" y="5663405"/>
            <a:ext cx="2342682" cy="328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85"/>
              </a:lnSpc>
              <a:spcBef>
                <a:spcPct val="0"/>
              </a:spcBef>
            </a:pPr>
            <a:r>
              <a:rPr lang="en-US" sz="191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(Tampilan Tap)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201171" y="5663405"/>
            <a:ext cx="2342682" cy="668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85"/>
              </a:lnSpc>
              <a:spcBef>
                <a:spcPct val="0"/>
              </a:spcBef>
            </a:pPr>
            <a:r>
              <a:rPr lang="en-US" sz="191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(Tampilan </a:t>
            </a:r>
            <a:r>
              <a:rPr lang="en-US" sz="1918" i="true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double tap</a:t>
            </a:r>
            <a:r>
              <a:rPr lang="en-US" sz="191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)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929775" y="5639042"/>
            <a:ext cx="2342682" cy="668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85"/>
              </a:lnSpc>
              <a:spcBef>
                <a:spcPct val="0"/>
              </a:spcBef>
            </a:pPr>
            <a:r>
              <a:rPr lang="en-US" sz="191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(Tampilan </a:t>
            </a:r>
            <a:r>
              <a:rPr lang="en-US" sz="1918" i="true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Long Press</a:t>
            </a:r>
            <a:r>
              <a:rPr lang="en-US" sz="191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)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662982" y="5639042"/>
            <a:ext cx="2342682" cy="328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85"/>
              </a:lnSpc>
              <a:spcBef>
                <a:spcPct val="0"/>
              </a:spcBef>
            </a:pPr>
            <a:r>
              <a:rPr lang="en-US" sz="191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(Tampilan Drag)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50468" y="9740034"/>
            <a:ext cx="2342682" cy="328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85"/>
              </a:lnSpc>
              <a:spcBef>
                <a:spcPct val="0"/>
              </a:spcBef>
            </a:pPr>
            <a:r>
              <a:rPr lang="en-US" sz="191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(Tampilan zoom)</a:t>
            </a:r>
          </a:p>
        </p:txBody>
      </p:sp>
      <p:sp>
        <p:nvSpPr>
          <p:cNvPr name="AutoShape 28" id="28"/>
          <p:cNvSpPr/>
          <p:nvPr/>
        </p:nvSpPr>
        <p:spPr>
          <a:xfrm>
            <a:off x="2595140" y="7820390"/>
            <a:ext cx="675379" cy="14984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29" id="29"/>
          <p:cNvSpPr/>
          <p:nvPr/>
        </p:nvSpPr>
        <p:spPr>
          <a:xfrm flipH="false" flipV="false" rot="0">
            <a:off x="3570034" y="6211224"/>
            <a:ext cx="1587964" cy="3528810"/>
          </a:xfrm>
          <a:custGeom>
            <a:avLst/>
            <a:gdLst/>
            <a:ahLst/>
            <a:cxnLst/>
            <a:rect r="r" b="b" t="t" l="l"/>
            <a:pathLst>
              <a:path h="3528810" w="1587964">
                <a:moveTo>
                  <a:pt x="0" y="0"/>
                </a:moveTo>
                <a:lnTo>
                  <a:pt x="1587964" y="0"/>
                </a:lnTo>
                <a:lnTo>
                  <a:pt x="1587964" y="3528810"/>
                </a:lnTo>
                <a:lnTo>
                  <a:pt x="0" y="352881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3270519" y="9773666"/>
            <a:ext cx="2708135" cy="328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85"/>
              </a:lnSpc>
              <a:spcBef>
                <a:spcPct val="0"/>
              </a:spcBef>
            </a:pPr>
            <a:r>
              <a:rPr lang="en-US" sz="191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(Tampilan ketika reset)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51147" y="649288"/>
            <a:ext cx="6278752" cy="758825"/>
            <a:chOff x="0" y="0"/>
            <a:chExt cx="8371669" cy="1011767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104775"/>
              <a:ext cx="3436072" cy="11165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000"/>
                </a:lnSpc>
              </a:pPr>
              <a:r>
                <a:rPr lang="en-US" sz="5000">
                  <a:solidFill>
                    <a:srgbClr val="000000"/>
                  </a:solidFill>
                  <a:latin typeface="Staatliches"/>
                  <a:ea typeface="Staatliches"/>
                  <a:cs typeface="Staatliches"/>
                  <a:sym typeface="Staatliches"/>
                </a:rPr>
                <a:t>POTONGAN 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3190675" y="-104775"/>
              <a:ext cx="5180994" cy="11165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000"/>
                </a:lnSpc>
              </a:pPr>
              <a:r>
                <a:rPr lang="en-US" sz="5000">
                  <a:solidFill>
                    <a:srgbClr val="29007B"/>
                  </a:solidFill>
                  <a:latin typeface="Staatliches"/>
                  <a:ea typeface="Staatliches"/>
                  <a:cs typeface="Staatliches"/>
                  <a:sym typeface="Staatliches"/>
                </a:rPr>
                <a:t>KODE PENTING 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51147" y="2398257"/>
            <a:ext cx="387005" cy="38700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9007B"/>
            </a:solidFill>
          </p:spPr>
        </p:sp>
      </p:grpSp>
      <p:sp>
        <p:nvSpPr>
          <p:cNvPr name="AutoShape 8" id="8"/>
          <p:cNvSpPr/>
          <p:nvPr/>
        </p:nvSpPr>
        <p:spPr>
          <a:xfrm flipV="true">
            <a:off x="651147" y="1408112"/>
            <a:ext cx="3486698" cy="19050"/>
          </a:xfrm>
          <a:prstGeom prst="line">
            <a:avLst/>
          </a:prstGeom>
          <a:ln cap="flat" w="38100">
            <a:gradFill>
              <a:gsLst>
                <a:gs pos="0">
                  <a:srgbClr val="29007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4842103" y="212501"/>
            <a:ext cx="2975988" cy="816199"/>
          </a:xfrm>
          <a:custGeom>
            <a:avLst/>
            <a:gdLst/>
            <a:ahLst/>
            <a:cxnLst/>
            <a:rect r="r" b="b" t="t" l="l"/>
            <a:pathLst>
              <a:path h="816199" w="2975988">
                <a:moveTo>
                  <a:pt x="0" y="0"/>
                </a:moveTo>
                <a:lnTo>
                  <a:pt x="2975989" y="0"/>
                </a:lnTo>
                <a:lnTo>
                  <a:pt x="2975989" y="816199"/>
                </a:lnTo>
                <a:lnTo>
                  <a:pt x="0" y="8161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0040362" y="2398257"/>
            <a:ext cx="387005" cy="387005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9007B"/>
            </a:solidFill>
          </p:spPr>
        </p:sp>
      </p:grpSp>
      <p:sp>
        <p:nvSpPr>
          <p:cNvPr name="AutoShape 12" id="12"/>
          <p:cNvSpPr/>
          <p:nvPr/>
        </p:nvSpPr>
        <p:spPr>
          <a:xfrm flipV="true">
            <a:off x="651043" y="2023674"/>
            <a:ext cx="3486698" cy="19050"/>
          </a:xfrm>
          <a:prstGeom prst="line">
            <a:avLst/>
          </a:prstGeom>
          <a:ln cap="flat" w="38100">
            <a:gradFill>
              <a:gsLst>
                <a:gs pos="0">
                  <a:srgbClr val="29007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1259231" y="3120375"/>
            <a:ext cx="8187995" cy="5926061"/>
          </a:xfrm>
          <a:custGeom>
            <a:avLst/>
            <a:gdLst/>
            <a:ahLst/>
            <a:cxnLst/>
            <a:rect r="r" b="b" t="t" l="l"/>
            <a:pathLst>
              <a:path h="5926061" w="8187995">
                <a:moveTo>
                  <a:pt x="0" y="0"/>
                </a:moveTo>
                <a:lnTo>
                  <a:pt x="8187995" y="0"/>
                </a:lnTo>
                <a:lnTo>
                  <a:pt x="8187995" y="5926062"/>
                </a:lnTo>
                <a:lnTo>
                  <a:pt x="0" y="59260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259231" y="2341107"/>
            <a:ext cx="4327318" cy="445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8"/>
              </a:lnSpc>
              <a:spcBef>
                <a:spcPct val="0"/>
              </a:spcBef>
            </a:pPr>
            <a:r>
              <a:rPr lang="en-US" b="true" sz="2577">
                <a:solidFill>
                  <a:srgbClr val="29007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KODE PENTING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648445" y="2341107"/>
            <a:ext cx="4327318" cy="445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8"/>
              </a:lnSpc>
              <a:spcBef>
                <a:spcPct val="0"/>
              </a:spcBef>
            </a:pPr>
            <a:r>
              <a:rPr lang="en-US" b="true" sz="2577">
                <a:solidFill>
                  <a:srgbClr val="29007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PENJELASAN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51147" y="1527791"/>
            <a:ext cx="1613877" cy="404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4"/>
              </a:lnSpc>
              <a:spcBef>
                <a:spcPct val="0"/>
              </a:spcBef>
            </a:pPr>
            <a:r>
              <a:rPr lang="en-US" b="true" sz="243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main.dart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648445" y="3082275"/>
            <a:ext cx="6750215" cy="5119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14"/>
              </a:lnSpc>
              <a:spcBef>
                <a:spcPct val="0"/>
              </a:spcBef>
            </a:pP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Kode ini 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adalah titi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k awal aplikasi Flut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ter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 Fungsi </a:t>
            </a:r>
            <a:r>
              <a:rPr lang="en-US" b="true" sz="243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main()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mem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ul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ai 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ap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likasi denga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mema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ng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gil </a:t>
            </a:r>
            <a:r>
              <a:rPr lang="en-US" b="true" sz="243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runApp()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yang me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na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mpi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kan widg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et 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utam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b="true" sz="243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GestureApp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sebuah </a:t>
            </a:r>
            <a:r>
              <a:rPr lang="en-US" b="true" sz="243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StatelessWidget 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yang tidak menyimpan data i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nternal. D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 dalamnya, MaterialApp digunakan sebagai kerangka da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sa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u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ntuk mengatur judul aplikasi, menonaktifkan </a:t>
            </a:r>
            <a:r>
              <a:rPr lang="en-US" sz="2438" i="true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ban</a:t>
            </a:r>
            <a:r>
              <a:rPr lang="en-US" sz="2438" i="true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ne</a:t>
            </a:r>
            <a:r>
              <a:rPr lang="en-US" sz="2438" i="true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r 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bug,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dan menerapkan tema Material Design 3 dengan warna utama biru, sekaligus menentukan HomePage sebagai halaman pertama yang muncul saat aplikasi dijalankan.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51147" y="649288"/>
            <a:ext cx="6278752" cy="758825"/>
            <a:chOff x="0" y="0"/>
            <a:chExt cx="8371669" cy="1011767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104775"/>
              <a:ext cx="3436072" cy="11165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000"/>
                </a:lnSpc>
              </a:pPr>
              <a:r>
                <a:rPr lang="en-US" sz="5000">
                  <a:solidFill>
                    <a:srgbClr val="000000"/>
                  </a:solidFill>
                  <a:latin typeface="Staatliches"/>
                  <a:ea typeface="Staatliches"/>
                  <a:cs typeface="Staatliches"/>
                  <a:sym typeface="Staatliches"/>
                </a:rPr>
                <a:t>POTONGAN 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3190675" y="-104775"/>
              <a:ext cx="5180994" cy="11165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000"/>
                </a:lnSpc>
              </a:pPr>
              <a:r>
                <a:rPr lang="en-US" sz="5000">
                  <a:solidFill>
                    <a:srgbClr val="29007B"/>
                  </a:solidFill>
                  <a:latin typeface="Staatliches"/>
                  <a:ea typeface="Staatliches"/>
                  <a:cs typeface="Staatliches"/>
                  <a:sym typeface="Staatliches"/>
                </a:rPr>
                <a:t>KODE PENTING 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51147" y="2398257"/>
            <a:ext cx="387005" cy="38700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9007B"/>
            </a:solidFill>
          </p:spPr>
        </p:sp>
      </p:grpSp>
      <p:sp>
        <p:nvSpPr>
          <p:cNvPr name="AutoShape 8" id="8"/>
          <p:cNvSpPr/>
          <p:nvPr/>
        </p:nvSpPr>
        <p:spPr>
          <a:xfrm flipV="true">
            <a:off x="651147" y="1408112"/>
            <a:ext cx="3486698" cy="19050"/>
          </a:xfrm>
          <a:prstGeom prst="line">
            <a:avLst/>
          </a:prstGeom>
          <a:ln cap="flat" w="38100">
            <a:gradFill>
              <a:gsLst>
                <a:gs pos="0">
                  <a:srgbClr val="29007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4842103" y="212501"/>
            <a:ext cx="2975988" cy="816199"/>
          </a:xfrm>
          <a:custGeom>
            <a:avLst/>
            <a:gdLst/>
            <a:ahLst/>
            <a:cxnLst/>
            <a:rect r="r" b="b" t="t" l="l"/>
            <a:pathLst>
              <a:path h="816199" w="2975988">
                <a:moveTo>
                  <a:pt x="0" y="0"/>
                </a:moveTo>
                <a:lnTo>
                  <a:pt x="2975989" y="0"/>
                </a:lnTo>
                <a:lnTo>
                  <a:pt x="2975989" y="816199"/>
                </a:lnTo>
                <a:lnTo>
                  <a:pt x="0" y="8161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AutoShape 10" id="10"/>
          <p:cNvSpPr/>
          <p:nvPr/>
        </p:nvSpPr>
        <p:spPr>
          <a:xfrm flipV="true">
            <a:off x="651043" y="2023674"/>
            <a:ext cx="3486698" cy="19050"/>
          </a:xfrm>
          <a:prstGeom prst="line">
            <a:avLst/>
          </a:prstGeom>
          <a:ln cap="flat" w="38100">
            <a:gradFill>
              <a:gsLst>
                <a:gs pos="0">
                  <a:srgbClr val="29007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1259231" y="2948925"/>
            <a:ext cx="7643544" cy="2194575"/>
          </a:xfrm>
          <a:custGeom>
            <a:avLst/>
            <a:gdLst/>
            <a:ahLst/>
            <a:cxnLst/>
            <a:rect r="r" b="b" t="t" l="l"/>
            <a:pathLst>
              <a:path h="2194575" w="7643544">
                <a:moveTo>
                  <a:pt x="0" y="0"/>
                </a:moveTo>
                <a:lnTo>
                  <a:pt x="7643543" y="0"/>
                </a:lnTo>
                <a:lnTo>
                  <a:pt x="7643543" y="2194575"/>
                </a:lnTo>
                <a:lnTo>
                  <a:pt x="0" y="21945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59231" y="6183389"/>
            <a:ext cx="7643544" cy="2018541"/>
          </a:xfrm>
          <a:custGeom>
            <a:avLst/>
            <a:gdLst/>
            <a:ahLst/>
            <a:cxnLst/>
            <a:rect r="r" b="b" t="t" l="l"/>
            <a:pathLst>
              <a:path h="2018541" w="7643544">
                <a:moveTo>
                  <a:pt x="0" y="0"/>
                </a:moveTo>
                <a:lnTo>
                  <a:pt x="7643543" y="0"/>
                </a:lnTo>
                <a:lnTo>
                  <a:pt x="7643543" y="2018541"/>
                </a:lnTo>
                <a:lnTo>
                  <a:pt x="0" y="201854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257961" y="1634035"/>
            <a:ext cx="7001339" cy="2302454"/>
          </a:xfrm>
          <a:custGeom>
            <a:avLst/>
            <a:gdLst/>
            <a:ahLst/>
            <a:cxnLst/>
            <a:rect r="r" b="b" t="t" l="l"/>
            <a:pathLst>
              <a:path h="2302454" w="7001339">
                <a:moveTo>
                  <a:pt x="0" y="0"/>
                </a:moveTo>
                <a:lnTo>
                  <a:pt x="7001339" y="0"/>
                </a:lnTo>
                <a:lnTo>
                  <a:pt x="7001339" y="2302454"/>
                </a:lnTo>
                <a:lnTo>
                  <a:pt x="0" y="23024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259231" y="2341107"/>
            <a:ext cx="4327318" cy="445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8"/>
              </a:lnSpc>
              <a:spcBef>
                <a:spcPct val="0"/>
              </a:spcBef>
            </a:pPr>
            <a:r>
              <a:rPr lang="en-US" b="true" sz="2577">
                <a:solidFill>
                  <a:srgbClr val="29007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KODE PENTING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51147" y="1527791"/>
            <a:ext cx="2771742" cy="404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4"/>
              </a:lnSpc>
              <a:spcBef>
                <a:spcPct val="0"/>
              </a:spcBef>
            </a:pPr>
            <a:r>
              <a:rPr lang="en-US" b="true" sz="243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home_page.dart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59231" y="5267325"/>
            <a:ext cx="8204422" cy="833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6532" indent="-263266" lvl="1">
              <a:lnSpc>
                <a:spcPts val="3414"/>
              </a:lnSpc>
              <a:spcBef>
                <a:spcPct val="0"/>
              </a:spcBef>
              <a:buFont typeface="Arial"/>
              <a:buChar char="•"/>
            </a:pP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Fungsinya menyimpan daftar menu untuk navigasi ke setiap halaman gesture.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59231" y="8424895"/>
            <a:ext cx="8204422" cy="404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6532" indent="-263266" lvl="1">
              <a:lnSpc>
                <a:spcPts val="3414"/>
              </a:lnSpc>
              <a:spcBef>
                <a:spcPct val="0"/>
              </a:spcBef>
              <a:buFont typeface="Arial"/>
              <a:buChar char="•"/>
            </a:pP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Fungsinya berpindah halaman saat menu ditekan.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896707" y="4008113"/>
            <a:ext cx="8204422" cy="404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6532" indent="-263266" lvl="1">
              <a:lnSpc>
                <a:spcPts val="3414"/>
              </a:lnSpc>
              <a:spcBef>
                <a:spcPct val="0"/>
              </a:spcBef>
              <a:buFont typeface="Arial"/>
              <a:buChar char="•"/>
            </a:pP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Fungsinya mendeteksi klik pada menu.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0071770" y="4754757"/>
            <a:ext cx="387005" cy="387005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9007B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0679854" y="4697607"/>
            <a:ext cx="4327318" cy="445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8"/>
              </a:lnSpc>
              <a:spcBef>
                <a:spcPct val="0"/>
              </a:spcBef>
            </a:pPr>
            <a:r>
              <a:rPr lang="en-US" b="true" sz="2577">
                <a:solidFill>
                  <a:srgbClr val="29007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PENJELASAN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896707" y="5298297"/>
            <a:ext cx="7362593" cy="4262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26532" indent="-263266" lvl="1">
              <a:lnSpc>
                <a:spcPts val="3414"/>
              </a:lnSpc>
              <a:spcBef>
                <a:spcPct val="0"/>
              </a:spcBef>
              <a:buFont typeface="Arial"/>
              <a:buChar char="•"/>
            </a:pP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Variabel </a:t>
            </a:r>
            <a:r>
              <a:rPr lang="en-US" b="true" sz="243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menus 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digunakan untuk menyimpan daftar halaman yang tersedia dalam aplikasi, lengkap dengan judul dan tujuan navigasinya. Ketika kita menekan salah satu menu, </a:t>
            </a:r>
            <a:r>
              <a:rPr lang="en-US" b="true" sz="243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Navigator.push()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akan dijalankan untuk berpindah ke halaman yang dipilih. Interaksi ini dideteksi menggunakan </a:t>
            </a:r>
            <a:r>
              <a:rPr lang="en-US" b="true" sz="243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GestureDetector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dengan </a:t>
            </a:r>
            <a:r>
              <a:rPr lang="en-US" b="true" sz="243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event onTap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sehingga setiap kotak menu dapat diklik dan berfungsi sebagai navigasi antar halaman.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51147" y="649288"/>
            <a:ext cx="6278752" cy="758825"/>
            <a:chOff x="0" y="0"/>
            <a:chExt cx="8371669" cy="1011767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104775"/>
              <a:ext cx="3436072" cy="11165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000"/>
                </a:lnSpc>
              </a:pPr>
              <a:r>
                <a:rPr lang="en-US" sz="5000">
                  <a:solidFill>
                    <a:srgbClr val="000000"/>
                  </a:solidFill>
                  <a:latin typeface="Staatliches"/>
                  <a:ea typeface="Staatliches"/>
                  <a:cs typeface="Staatliches"/>
                  <a:sym typeface="Staatliches"/>
                </a:rPr>
                <a:t>POTONGAN 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3190675" y="-104775"/>
              <a:ext cx="5180994" cy="11165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000"/>
                </a:lnSpc>
              </a:pPr>
              <a:r>
                <a:rPr lang="en-US" sz="5000">
                  <a:solidFill>
                    <a:srgbClr val="29007B"/>
                  </a:solidFill>
                  <a:latin typeface="Staatliches"/>
                  <a:ea typeface="Staatliches"/>
                  <a:cs typeface="Staatliches"/>
                  <a:sym typeface="Staatliches"/>
                </a:rPr>
                <a:t>KODE PENTING 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51147" y="2398257"/>
            <a:ext cx="387005" cy="38700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9007B"/>
            </a:solidFill>
          </p:spPr>
        </p:sp>
      </p:grpSp>
      <p:sp>
        <p:nvSpPr>
          <p:cNvPr name="AutoShape 8" id="8"/>
          <p:cNvSpPr/>
          <p:nvPr/>
        </p:nvSpPr>
        <p:spPr>
          <a:xfrm flipV="true">
            <a:off x="651147" y="1408112"/>
            <a:ext cx="3486698" cy="19050"/>
          </a:xfrm>
          <a:prstGeom prst="line">
            <a:avLst/>
          </a:prstGeom>
          <a:ln cap="flat" w="38100">
            <a:gradFill>
              <a:gsLst>
                <a:gs pos="0">
                  <a:srgbClr val="29007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4842103" y="212501"/>
            <a:ext cx="2975988" cy="816199"/>
          </a:xfrm>
          <a:custGeom>
            <a:avLst/>
            <a:gdLst/>
            <a:ahLst/>
            <a:cxnLst/>
            <a:rect r="r" b="b" t="t" l="l"/>
            <a:pathLst>
              <a:path h="816199" w="2975988">
                <a:moveTo>
                  <a:pt x="0" y="0"/>
                </a:moveTo>
                <a:lnTo>
                  <a:pt x="2975989" y="0"/>
                </a:lnTo>
                <a:lnTo>
                  <a:pt x="2975989" y="816199"/>
                </a:lnTo>
                <a:lnTo>
                  <a:pt x="0" y="8161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AutoShape 10" id="10"/>
          <p:cNvSpPr/>
          <p:nvPr/>
        </p:nvSpPr>
        <p:spPr>
          <a:xfrm flipV="true">
            <a:off x="651043" y="2023674"/>
            <a:ext cx="3486698" cy="19050"/>
          </a:xfrm>
          <a:prstGeom prst="line">
            <a:avLst/>
          </a:prstGeom>
          <a:ln cap="flat" w="38100">
            <a:gradFill>
              <a:gsLst>
                <a:gs pos="0">
                  <a:srgbClr val="29007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10071770" y="2398257"/>
            <a:ext cx="387005" cy="387005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9007B"/>
            </a:solid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1259231" y="3146027"/>
            <a:ext cx="7643544" cy="430370"/>
          </a:xfrm>
          <a:custGeom>
            <a:avLst/>
            <a:gdLst/>
            <a:ahLst/>
            <a:cxnLst/>
            <a:rect r="r" b="b" t="t" l="l"/>
            <a:pathLst>
              <a:path h="430370" w="7643544">
                <a:moveTo>
                  <a:pt x="0" y="0"/>
                </a:moveTo>
                <a:lnTo>
                  <a:pt x="7643543" y="0"/>
                </a:lnTo>
                <a:lnTo>
                  <a:pt x="7643543" y="430369"/>
                </a:lnTo>
                <a:lnTo>
                  <a:pt x="0" y="4303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40982" r="0" b="-122948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259231" y="4157807"/>
            <a:ext cx="7643544" cy="419695"/>
          </a:xfrm>
          <a:custGeom>
            <a:avLst/>
            <a:gdLst/>
            <a:ahLst/>
            <a:cxnLst/>
            <a:rect r="r" b="b" t="t" l="l"/>
            <a:pathLst>
              <a:path h="419695" w="7643544">
                <a:moveTo>
                  <a:pt x="0" y="0"/>
                </a:moveTo>
                <a:lnTo>
                  <a:pt x="7643543" y="0"/>
                </a:lnTo>
                <a:lnTo>
                  <a:pt x="7643543" y="419696"/>
                </a:lnTo>
                <a:lnTo>
                  <a:pt x="0" y="41969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259231" y="5153025"/>
            <a:ext cx="7643544" cy="354439"/>
          </a:xfrm>
          <a:custGeom>
            <a:avLst/>
            <a:gdLst/>
            <a:ahLst/>
            <a:cxnLst/>
            <a:rect r="r" b="b" t="t" l="l"/>
            <a:pathLst>
              <a:path h="354439" w="7643544">
                <a:moveTo>
                  <a:pt x="0" y="0"/>
                </a:moveTo>
                <a:lnTo>
                  <a:pt x="7643543" y="0"/>
                </a:lnTo>
                <a:lnTo>
                  <a:pt x="7643543" y="354439"/>
                </a:lnTo>
                <a:lnTo>
                  <a:pt x="0" y="3544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259231" y="6088456"/>
            <a:ext cx="7643544" cy="1619022"/>
          </a:xfrm>
          <a:custGeom>
            <a:avLst/>
            <a:gdLst/>
            <a:ahLst/>
            <a:cxnLst/>
            <a:rect r="r" b="b" t="t" l="l"/>
            <a:pathLst>
              <a:path h="1619022" w="7643544">
                <a:moveTo>
                  <a:pt x="0" y="0"/>
                </a:moveTo>
                <a:lnTo>
                  <a:pt x="7643543" y="0"/>
                </a:lnTo>
                <a:lnTo>
                  <a:pt x="7643543" y="1619022"/>
                </a:lnTo>
                <a:lnTo>
                  <a:pt x="0" y="161902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259231" y="2341107"/>
            <a:ext cx="4327318" cy="445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8"/>
              </a:lnSpc>
              <a:spcBef>
                <a:spcPct val="0"/>
              </a:spcBef>
            </a:pPr>
            <a:r>
              <a:rPr lang="en-US" b="true" sz="2577">
                <a:solidFill>
                  <a:srgbClr val="29007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KODE PENTING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51147" y="1527791"/>
            <a:ext cx="2771742" cy="404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4"/>
              </a:lnSpc>
              <a:spcBef>
                <a:spcPct val="0"/>
              </a:spcBef>
            </a:pPr>
            <a:r>
              <a:rPr lang="en-US" b="true" sz="243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tap_page.dart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59231" y="3629202"/>
            <a:ext cx="8204422" cy="404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6532" indent="-263266" lvl="1">
              <a:lnSpc>
                <a:spcPts val="3414"/>
              </a:lnSpc>
              <a:spcBef>
                <a:spcPct val="0"/>
              </a:spcBef>
              <a:buFont typeface="Arial"/>
              <a:buChar char="•"/>
            </a:pP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Klik 1x → mengubah ukuran &amp; warna.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59231" y="5583664"/>
            <a:ext cx="8204422" cy="404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6532" indent="-263266" lvl="1">
              <a:lnSpc>
                <a:spcPts val="3414"/>
              </a:lnSpc>
              <a:spcBef>
                <a:spcPct val="0"/>
              </a:spcBef>
              <a:buFont typeface="Arial"/>
              <a:buChar char="•"/>
            </a:pP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Tekan lama → akan memperbesar ukuran.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679854" y="2341107"/>
            <a:ext cx="4327318" cy="445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8"/>
              </a:lnSpc>
              <a:spcBef>
                <a:spcPct val="0"/>
              </a:spcBef>
            </a:pPr>
            <a:r>
              <a:rPr lang="en-US" b="true" sz="2577">
                <a:solidFill>
                  <a:srgbClr val="29007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PENJELASAN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896707" y="2941798"/>
            <a:ext cx="7362593" cy="469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26532" indent="-263266" lvl="1">
              <a:lnSpc>
                <a:spcPts val="3414"/>
              </a:lnSpc>
              <a:spcBef>
                <a:spcPct val="0"/>
              </a:spcBef>
              <a:buFont typeface="Arial"/>
              <a:buChar char="•"/>
            </a:pP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Pada hala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 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ini, berbagai jenis gesture dasar seperti </a:t>
            </a:r>
            <a:r>
              <a:rPr lang="en-US" b="true" sz="243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tap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b="true" sz="243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double tap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dan </a:t>
            </a:r>
            <a:r>
              <a:rPr lang="en-US" b="true" sz="243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long press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diimplementasikan dalam satu widget. Event </a:t>
            </a:r>
            <a:r>
              <a:rPr lang="en-US" b="true" sz="243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onTap 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digunakan untuk mengubah ukuran dan warna objek, </a:t>
            </a:r>
            <a:r>
              <a:rPr lang="en-US" b="true" sz="243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onDoubleTap 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untuk mengubah warna menj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hij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au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dan </a:t>
            </a:r>
            <a:r>
              <a:rPr lang="en-US" b="true" sz="243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onLongPress 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untuk memperbesar ukuran objek. Semua perubahan ini dikontrol menggunakan </a:t>
            </a:r>
            <a:r>
              <a:rPr lang="en-US" b="true" sz="243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setState()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sehingga setiap interaksi langsung memperbarui tampilan secara </a:t>
            </a:r>
            <a:r>
              <a:rPr lang="en-US" sz="2438" i="true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real-time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59231" y="4634653"/>
            <a:ext cx="8204422" cy="404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6532" indent="-263266" lvl="1">
              <a:lnSpc>
                <a:spcPts val="3414"/>
              </a:lnSpc>
              <a:spcBef>
                <a:spcPct val="0"/>
              </a:spcBef>
              <a:buFont typeface="Arial"/>
              <a:buChar char="•"/>
            </a:pP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Klik 2x → mengubah warna.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59231" y="7769390"/>
            <a:ext cx="8204422" cy="833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6532" indent="-263266" lvl="1">
              <a:lnSpc>
                <a:spcPts val="3414"/>
              </a:lnSpc>
              <a:spcBef>
                <a:spcPct val="0"/>
              </a:spcBef>
              <a:buFont typeface="Arial"/>
              <a:buChar char="•"/>
            </a:pP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Fungsinya mengupdate tampilan secara real-time saat state berubah.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51147" y="649288"/>
            <a:ext cx="6278752" cy="758825"/>
            <a:chOff x="0" y="0"/>
            <a:chExt cx="8371669" cy="1011767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104775"/>
              <a:ext cx="3436072" cy="11165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000"/>
                </a:lnSpc>
              </a:pPr>
              <a:r>
                <a:rPr lang="en-US" sz="5000">
                  <a:solidFill>
                    <a:srgbClr val="000000"/>
                  </a:solidFill>
                  <a:latin typeface="Staatliches"/>
                  <a:ea typeface="Staatliches"/>
                  <a:cs typeface="Staatliches"/>
                  <a:sym typeface="Staatliches"/>
                </a:rPr>
                <a:t>POTONGAN 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3190675" y="-104775"/>
              <a:ext cx="5180994" cy="11165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000"/>
                </a:lnSpc>
              </a:pPr>
              <a:r>
                <a:rPr lang="en-US" sz="5000">
                  <a:solidFill>
                    <a:srgbClr val="29007B"/>
                  </a:solidFill>
                  <a:latin typeface="Staatliches"/>
                  <a:ea typeface="Staatliches"/>
                  <a:cs typeface="Staatliches"/>
                  <a:sym typeface="Staatliches"/>
                </a:rPr>
                <a:t>KODE PENTING 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51147" y="2398257"/>
            <a:ext cx="387005" cy="38700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9007B"/>
            </a:solidFill>
          </p:spPr>
        </p:sp>
      </p:grpSp>
      <p:sp>
        <p:nvSpPr>
          <p:cNvPr name="AutoShape 8" id="8"/>
          <p:cNvSpPr/>
          <p:nvPr/>
        </p:nvSpPr>
        <p:spPr>
          <a:xfrm flipV="true">
            <a:off x="651147" y="1408112"/>
            <a:ext cx="3486698" cy="19050"/>
          </a:xfrm>
          <a:prstGeom prst="line">
            <a:avLst/>
          </a:prstGeom>
          <a:ln cap="flat" w="38100">
            <a:gradFill>
              <a:gsLst>
                <a:gs pos="0">
                  <a:srgbClr val="29007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4842103" y="212501"/>
            <a:ext cx="2975988" cy="816199"/>
          </a:xfrm>
          <a:custGeom>
            <a:avLst/>
            <a:gdLst/>
            <a:ahLst/>
            <a:cxnLst/>
            <a:rect r="r" b="b" t="t" l="l"/>
            <a:pathLst>
              <a:path h="816199" w="2975988">
                <a:moveTo>
                  <a:pt x="0" y="0"/>
                </a:moveTo>
                <a:lnTo>
                  <a:pt x="2975989" y="0"/>
                </a:lnTo>
                <a:lnTo>
                  <a:pt x="2975989" y="816199"/>
                </a:lnTo>
                <a:lnTo>
                  <a:pt x="0" y="8161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AutoShape 10" id="10"/>
          <p:cNvSpPr/>
          <p:nvPr/>
        </p:nvSpPr>
        <p:spPr>
          <a:xfrm flipV="true">
            <a:off x="651043" y="2023674"/>
            <a:ext cx="3486698" cy="19050"/>
          </a:xfrm>
          <a:prstGeom prst="line">
            <a:avLst/>
          </a:prstGeom>
          <a:ln cap="flat" w="38100">
            <a:gradFill>
              <a:gsLst>
                <a:gs pos="0">
                  <a:srgbClr val="29007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10071770" y="2591759"/>
            <a:ext cx="387005" cy="387005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9007B"/>
            </a:solid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1259231" y="2910825"/>
            <a:ext cx="7643544" cy="1036711"/>
          </a:xfrm>
          <a:custGeom>
            <a:avLst/>
            <a:gdLst/>
            <a:ahLst/>
            <a:cxnLst/>
            <a:rect r="r" b="b" t="t" l="l"/>
            <a:pathLst>
              <a:path h="1036711" w="7643544">
                <a:moveTo>
                  <a:pt x="0" y="0"/>
                </a:moveTo>
                <a:lnTo>
                  <a:pt x="7643543" y="0"/>
                </a:lnTo>
                <a:lnTo>
                  <a:pt x="7643543" y="1036711"/>
                </a:lnTo>
                <a:lnTo>
                  <a:pt x="0" y="10367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259231" y="4681559"/>
            <a:ext cx="7643544" cy="2524473"/>
          </a:xfrm>
          <a:custGeom>
            <a:avLst/>
            <a:gdLst/>
            <a:ahLst/>
            <a:cxnLst/>
            <a:rect r="r" b="b" t="t" l="l"/>
            <a:pathLst>
              <a:path h="2524473" w="7643544">
                <a:moveTo>
                  <a:pt x="0" y="0"/>
                </a:moveTo>
                <a:lnTo>
                  <a:pt x="7643543" y="0"/>
                </a:lnTo>
                <a:lnTo>
                  <a:pt x="7643543" y="2524473"/>
                </a:lnTo>
                <a:lnTo>
                  <a:pt x="0" y="252447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259231" y="7896562"/>
            <a:ext cx="7643544" cy="1458692"/>
          </a:xfrm>
          <a:custGeom>
            <a:avLst/>
            <a:gdLst/>
            <a:ahLst/>
            <a:cxnLst/>
            <a:rect r="r" b="b" t="t" l="l"/>
            <a:pathLst>
              <a:path h="1458692" w="7643544">
                <a:moveTo>
                  <a:pt x="0" y="0"/>
                </a:moveTo>
                <a:lnTo>
                  <a:pt x="7643543" y="0"/>
                </a:lnTo>
                <a:lnTo>
                  <a:pt x="7643543" y="1458692"/>
                </a:lnTo>
                <a:lnTo>
                  <a:pt x="0" y="145869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259231" y="2341107"/>
            <a:ext cx="4327318" cy="445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8"/>
              </a:lnSpc>
              <a:spcBef>
                <a:spcPct val="0"/>
              </a:spcBef>
            </a:pPr>
            <a:r>
              <a:rPr lang="en-US" b="true" sz="2577">
                <a:solidFill>
                  <a:srgbClr val="29007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KODE PENTING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51147" y="1527791"/>
            <a:ext cx="2771742" cy="404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4"/>
              </a:lnSpc>
              <a:spcBef>
                <a:spcPct val="0"/>
              </a:spcBef>
            </a:pPr>
            <a:r>
              <a:rPr lang="en-US" b="true" sz="243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drag_page.dart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38152" y="4114854"/>
            <a:ext cx="8639480" cy="404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6532" indent="-263266" lvl="1">
              <a:lnSpc>
                <a:spcPts val="3414"/>
              </a:lnSpc>
              <a:spcBef>
                <a:spcPct val="0"/>
              </a:spcBef>
              <a:buFont typeface="Arial"/>
              <a:buChar char="•"/>
            </a:pP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Fungsinya menyimpan posisi box (horizontal &amp; vertikal).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38152" y="7329857"/>
            <a:ext cx="8204422" cy="404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6532" indent="-263266" lvl="1">
              <a:lnSpc>
                <a:spcPts val="3414"/>
              </a:lnSpc>
              <a:spcBef>
                <a:spcPct val="0"/>
              </a:spcBef>
              <a:buFont typeface="Arial"/>
              <a:buChar char="•"/>
            </a:pP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Fungsinya menggerakkan box mengikuti jari user.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679854" y="2534609"/>
            <a:ext cx="4327318" cy="445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8"/>
              </a:lnSpc>
              <a:spcBef>
                <a:spcPct val="0"/>
              </a:spcBef>
            </a:pPr>
            <a:r>
              <a:rPr lang="en-US" b="true" sz="2577">
                <a:solidFill>
                  <a:srgbClr val="29007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PENJELASAN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896707" y="3135300"/>
            <a:ext cx="7362593" cy="469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26532" indent="-263266" lvl="1">
              <a:lnSpc>
                <a:spcPts val="3414"/>
              </a:lnSpc>
              <a:spcBef>
                <a:spcPct val="0"/>
              </a:spcBef>
              <a:buFont typeface="Arial"/>
              <a:buChar char="•"/>
            </a:pP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Kode drag_page berfok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us 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pada pergerakan objek di layar dengan memanfaatkan koordinat x dan y sebagai posisi. Event </a:t>
            </a:r>
            <a:r>
              <a:rPr lang="en-US" b="true" sz="243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onPanUpdate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digunakan untuk mendeteksi pergerakan jari pengguna, l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lu n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 pe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ge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eran (delta) ditambahkan ke posisi sebelumnya. Widget </a:t>
            </a:r>
            <a:r>
              <a:rPr lang="en-US" b="true" sz="243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Positioned 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kemudian menggunakan nilai t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ebu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uk m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nentukan posisi t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rbaru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o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bjek, sehingga box dapat bergerak mengikuti arah drag secara dinamis.</a:t>
            </a:r>
          </a:p>
          <a:p>
            <a:pPr algn="just">
              <a:lnSpc>
                <a:spcPts val="3414"/>
              </a:lnSpc>
              <a:spcBef>
                <a:spcPct val="0"/>
              </a:spcBef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1038152" y="9440979"/>
            <a:ext cx="8204422" cy="404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6532" indent="-263266" lvl="1">
              <a:lnSpc>
                <a:spcPts val="3414"/>
              </a:lnSpc>
              <a:spcBef>
                <a:spcPct val="0"/>
              </a:spcBef>
              <a:buFont typeface="Arial"/>
              <a:buChar char="•"/>
            </a:pP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Fungsinya menentukan posisi box di layar.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51147" y="649288"/>
            <a:ext cx="6278752" cy="758825"/>
            <a:chOff x="0" y="0"/>
            <a:chExt cx="8371669" cy="1011767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104775"/>
              <a:ext cx="3436072" cy="11165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000"/>
                </a:lnSpc>
              </a:pPr>
              <a:r>
                <a:rPr lang="en-US" sz="5000">
                  <a:solidFill>
                    <a:srgbClr val="000000"/>
                  </a:solidFill>
                  <a:latin typeface="Staatliches"/>
                  <a:ea typeface="Staatliches"/>
                  <a:cs typeface="Staatliches"/>
                  <a:sym typeface="Staatliches"/>
                </a:rPr>
                <a:t>POTONGAN 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3190675" y="-104775"/>
              <a:ext cx="5180994" cy="11165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000"/>
                </a:lnSpc>
              </a:pPr>
              <a:r>
                <a:rPr lang="en-US" sz="5000">
                  <a:solidFill>
                    <a:srgbClr val="29007B"/>
                  </a:solidFill>
                  <a:latin typeface="Staatliches"/>
                  <a:ea typeface="Staatliches"/>
                  <a:cs typeface="Staatliches"/>
                  <a:sym typeface="Staatliches"/>
                </a:rPr>
                <a:t>KODE PENTING 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51147" y="2398257"/>
            <a:ext cx="387005" cy="38700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9007B"/>
            </a:solidFill>
          </p:spPr>
        </p:sp>
      </p:grpSp>
      <p:sp>
        <p:nvSpPr>
          <p:cNvPr name="AutoShape 8" id="8"/>
          <p:cNvSpPr/>
          <p:nvPr/>
        </p:nvSpPr>
        <p:spPr>
          <a:xfrm flipV="true">
            <a:off x="651147" y="1408112"/>
            <a:ext cx="3486698" cy="19050"/>
          </a:xfrm>
          <a:prstGeom prst="line">
            <a:avLst/>
          </a:prstGeom>
          <a:ln cap="flat" w="38100">
            <a:gradFill>
              <a:gsLst>
                <a:gs pos="0">
                  <a:srgbClr val="29007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4842103" y="212501"/>
            <a:ext cx="2975988" cy="816199"/>
          </a:xfrm>
          <a:custGeom>
            <a:avLst/>
            <a:gdLst/>
            <a:ahLst/>
            <a:cxnLst/>
            <a:rect r="r" b="b" t="t" l="l"/>
            <a:pathLst>
              <a:path h="816199" w="2975988">
                <a:moveTo>
                  <a:pt x="0" y="0"/>
                </a:moveTo>
                <a:lnTo>
                  <a:pt x="2975989" y="0"/>
                </a:lnTo>
                <a:lnTo>
                  <a:pt x="2975989" y="816199"/>
                </a:lnTo>
                <a:lnTo>
                  <a:pt x="0" y="8161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AutoShape 10" id="10"/>
          <p:cNvSpPr/>
          <p:nvPr/>
        </p:nvSpPr>
        <p:spPr>
          <a:xfrm flipV="true">
            <a:off x="651043" y="2023674"/>
            <a:ext cx="3486698" cy="19050"/>
          </a:xfrm>
          <a:prstGeom prst="line">
            <a:avLst/>
          </a:prstGeom>
          <a:ln cap="flat" w="38100">
            <a:gradFill>
              <a:gsLst>
                <a:gs pos="0">
                  <a:srgbClr val="29007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10071770" y="2591759"/>
            <a:ext cx="387005" cy="387005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9007B"/>
            </a:solid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1259231" y="2978764"/>
            <a:ext cx="7643544" cy="995253"/>
          </a:xfrm>
          <a:custGeom>
            <a:avLst/>
            <a:gdLst/>
            <a:ahLst/>
            <a:cxnLst/>
            <a:rect r="r" b="b" t="t" l="l"/>
            <a:pathLst>
              <a:path h="995253" w="7643544">
                <a:moveTo>
                  <a:pt x="0" y="0"/>
                </a:moveTo>
                <a:lnTo>
                  <a:pt x="7643543" y="0"/>
                </a:lnTo>
                <a:lnTo>
                  <a:pt x="7643543" y="995253"/>
                </a:lnTo>
                <a:lnTo>
                  <a:pt x="0" y="9952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259231" y="5083648"/>
            <a:ext cx="7643544" cy="1552426"/>
          </a:xfrm>
          <a:custGeom>
            <a:avLst/>
            <a:gdLst/>
            <a:ahLst/>
            <a:cxnLst/>
            <a:rect r="r" b="b" t="t" l="l"/>
            <a:pathLst>
              <a:path h="1552426" w="7643544">
                <a:moveTo>
                  <a:pt x="0" y="0"/>
                </a:moveTo>
                <a:lnTo>
                  <a:pt x="7643543" y="0"/>
                </a:lnTo>
                <a:lnTo>
                  <a:pt x="7643543" y="1552426"/>
                </a:lnTo>
                <a:lnTo>
                  <a:pt x="0" y="15524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259231" y="7669504"/>
            <a:ext cx="7643544" cy="1325067"/>
          </a:xfrm>
          <a:custGeom>
            <a:avLst/>
            <a:gdLst/>
            <a:ahLst/>
            <a:cxnLst/>
            <a:rect r="r" b="b" t="t" l="l"/>
            <a:pathLst>
              <a:path h="1325067" w="7643544">
                <a:moveTo>
                  <a:pt x="0" y="0"/>
                </a:moveTo>
                <a:lnTo>
                  <a:pt x="7643543" y="0"/>
                </a:lnTo>
                <a:lnTo>
                  <a:pt x="7643543" y="1325067"/>
                </a:lnTo>
                <a:lnTo>
                  <a:pt x="0" y="132506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259231" y="2341107"/>
            <a:ext cx="4327318" cy="445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8"/>
              </a:lnSpc>
              <a:spcBef>
                <a:spcPct val="0"/>
              </a:spcBef>
            </a:pPr>
            <a:r>
              <a:rPr lang="en-US" b="true" sz="2577">
                <a:solidFill>
                  <a:srgbClr val="29007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KODE PENTING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51147" y="1527791"/>
            <a:ext cx="2771742" cy="404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4"/>
              </a:lnSpc>
              <a:spcBef>
                <a:spcPct val="0"/>
              </a:spcBef>
            </a:pPr>
            <a:r>
              <a:rPr lang="en-US" b="true" sz="243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scale_page.dart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4107367"/>
            <a:ext cx="7874074" cy="833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6532" indent="-263266" lvl="1">
              <a:lnSpc>
                <a:spcPts val="3414"/>
              </a:lnSpc>
              <a:spcBef>
                <a:spcPct val="0"/>
              </a:spcBef>
              <a:buFont typeface="Arial"/>
              <a:buChar char="•"/>
            </a:pP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Fungsinya menyimpan ukuran (zoom) dan posisi object.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679854" y="2534609"/>
            <a:ext cx="4327318" cy="445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8"/>
              </a:lnSpc>
              <a:spcBef>
                <a:spcPct val="0"/>
              </a:spcBef>
            </a:pPr>
            <a:r>
              <a:rPr lang="en-US" b="true" sz="2577">
                <a:solidFill>
                  <a:srgbClr val="29007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PENJELASAN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896707" y="3135300"/>
            <a:ext cx="7362593" cy="5548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26532" indent="-263266" lvl="1">
              <a:lnSpc>
                <a:spcPts val="3414"/>
              </a:lnSpc>
              <a:spcBef>
                <a:spcPct val="0"/>
              </a:spcBef>
              <a:buFont typeface="Arial"/>
              <a:buChar char="•"/>
            </a:pP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Halaman ini menggabungkan kon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 zoom dan pergeseran objek. Variabel scale digunakan untuk mengatur ukuran objek, sedangkan </a:t>
            </a:r>
            <a:r>
              <a:rPr lang="en-US" sz="2438" i="true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position 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untuk mengatur letaknya. Event </a:t>
            </a:r>
            <a:r>
              <a:rPr lang="en-US" b="true" sz="243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onScaleUpdate 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memungkinkan sistem membaca perubah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 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sk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ala dan posisi secara bersamaan, lalu d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ite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rapkan menggunakan </a:t>
            </a:r>
            <a:r>
              <a:rPr lang="en-US" b="true" sz="243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Transform.scale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dan </a:t>
            </a:r>
            <a:r>
              <a:rPr lang="en-US" b="true" sz="243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Transform.translate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 Selain itu, </a:t>
            </a:r>
            <a:r>
              <a:rPr lang="en-US" b="true" sz="243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Listener 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digunakan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uk m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ndeteksi </a:t>
            </a:r>
            <a:r>
              <a:rPr lang="en-US" sz="2438" i="true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scroll mous</a:t>
            </a:r>
            <a:r>
              <a:rPr lang="en-US" sz="2438" i="true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e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pad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esktop, sehingga kita dapat melakukan zoom menggunakan roda mouse.</a:t>
            </a:r>
          </a:p>
          <a:p>
            <a:pPr algn="just">
              <a:lnSpc>
                <a:spcPts val="3414"/>
              </a:lnSpc>
              <a:spcBef>
                <a:spcPct val="0"/>
              </a:spcBef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1038152" y="9127921"/>
            <a:ext cx="8204422" cy="833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6532" indent="-263266" lvl="1">
              <a:lnSpc>
                <a:spcPts val="3414"/>
              </a:lnSpc>
              <a:spcBef>
                <a:spcPct val="0"/>
              </a:spcBef>
              <a:buFont typeface="Arial"/>
              <a:buChar char="•"/>
            </a:pP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Fungsinya menangkap scroll mouse untuk zoom (desktop).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38152" y="6721799"/>
            <a:ext cx="8105848" cy="833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6532" indent="-263266" lvl="1">
              <a:lnSpc>
                <a:spcPts val="3414"/>
              </a:lnSpc>
              <a:spcBef>
                <a:spcPct val="0"/>
              </a:spcBef>
              <a:buFont typeface="Arial"/>
              <a:buChar char="•"/>
            </a:pP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Fungsinya mengatur zoom + geser dalam satu gesture.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51147" y="649288"/>
            <a:ext cx="6278752" cy="758825"/>
            <a:chOff x="0" y="0"/>
            <a:chExt cx="8371669" cy="1011767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104775"/>
              <a:ext cx="3436072" cy="11165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000"/>
                </a:lnSpc>
              </a:pPr>
              <a:r>
                <a:rPr lang="en-US" sz="5000">
                  <a:solidFill>
                    <a:srgbClr val="000000"/>
                  </a:solidFill>
                  <a:latin typeface="Staatliches"/>
                  <a:ea typeface="Staatliches"/>
                  <a:cs typeface="Staatliches"/>
                  <a:sym typeface="Staatliches"/>
                </a:rPr>
                <a:t>POTONGAN 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3190675" y="-104775"/>
              <a:ext cx="5180994" cy="11165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000"/>
                </a:lnSpc>
              </a:pPr>
              <a:r>
                <a:rPr lang="en-US" sz="5000">
                  <a:solidFill>
                    <a:srgbClr val="29007B"/>
                  </a:solidFill>
                  <a:latin typeface="Staatliches"/>
                  <a:ea typeface="Staatliches"/>
                  <a:cs typeface="Staatliches"/>
                  <a:sym typeface="Staatliches"/>
                </a:rPr>
                <a:t>KODE PENTING 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51147" y="2398257"/>
            <a:ext cx="387005" cy="38700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9007B"/>
            </a:solidFill>
          </p:spPr>
        </p:sp>
      </p:grpSp>
      <p:sp>
        <p:nvSpPr>
          <p:cNvPr name="AutoShape 8" id="8"/>
          <p:cNvSpPr/>
          <p:nvPr/>
        </p:nvSpPr>
        <p:spPr>
          <a:xfrm flipV="true">
            <a:off x="651147" y="1408112"/>
            <a:ext cx="3486698" cy="19050"/>
          </a:xfrm>
          <a:prstGeom prst="line">
            <a:avLst/>
          </a:prstGeom>
          <a:ln cap="flat" w="38100">
            <a:gradFill>
              <a:gsLst>
                <a:gs pos="0">
                  <a:srgbClr val="29007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4842103" y="212501"/>
            <a:ext cx="2975988" cy="816199"/>
          </a:xfrm>
          <a:custGeom>
            <a:avLst/>
            <a:gdLst/>
            <a:ahLst/>
            <a:cxnLst/>
            <a:rect r="r" b="b" t="t" l="l"/>
            <a:pathLst>
              <a:path h="816199" w="2975988">
                <a:moveTo>
                  <a:pt x="0" y="0"/>
                </a:moveTo>
                <a:lnTo>
                  <a:pt x="2975989" y="0"/>
                </a:lnTo>
                <a:lnTo>
                  <a:pt x="2975989" y="816199"/>
                </a:lnTo>
                <a:lnTo>
                  <a:pt x="0" y="8161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AutoShape 10" id="10"/>
          <p:cNvSpPr/>
          <p:nvPr/>
        </p:nvSpPr>
        <p:spPr>
          <a:xfrm flipV="true">
            <a:off x="651043" y="2023674"/>
            <a:ext cx="3486698" cy="19050"/>
          </a:xfrm>
          <a:prstGeom prst="line">
            <a:avLst/>
          </a:prstGeom>
          <a:ln cap="flat" w="38100">
            <a:gradFill>
              <a:gsLst>
                <a:gs pos="0">
                  <a:srgbClr val="29007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10071770" y="2591759"/>
            <a:ext cx="387005" cy="387005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9007B"/>
            </a:solid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1259231" y="2980503"/>
            <a:ext cx="7403009" cy="930852"/>
          </a:xfrm>
          <a:custGeom>
            <a:avLst/>
            <a:gdLst/>
            <a:ahLst/>
            <a:cxnLst/>
            <a:rect r="r" b="b" t="t" l="l"/>
            <a:pathLst>
              <a:path h="930852" w="7403009">
                <a:moveTo>
                  <a:pt x="0" y="0"/>
                </a:moveTo>
                <a:lnTo>
                  <a:pt x="7403008" y="0"/>
                </a:lnTo>
                <a:lnTo>
                  <a:pt x="7403008" y="930851"/>
                </a:lnTo>
                <a:lnTo>
                  <a:pt x="0" y="9308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259231" y="4801909"/>
            <a:ext cx="7403009" cy="1998490"/>
          </a:xfrm>
          <a:custGeom>
            <a:avLst/>
            <a:gdLst/>
            <a:ahLst/>
            <a:cxnLst/>
            <a:rect r="r" b="b" t="t" l="l"/>
            <a:pathLst>
              <a:path h="1998490" w="7403009">
                <a:moveTo>
                  <a:pt x="0" y="0"/>
                </a:moveTo>
                <a:lnTo>
                  <a:pt x="7403008" y="0"/>
                </a:lnTo>
                <a:lnTo>
                  <a:pt x="7403008" y="1998490"/>
                </a:lnTo>
                <a:lnTo>
                  <a:pt x="0" y="199849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259231" y="7281380"/>
            <a:ext cx="7516793" cy="2335617"/>
          </a:xfrm>
          <a:custGeom>
            <a:avLst/>
            <a:gdLst/>
            <a:ahLst/>
            <a:cxnLst/>
            <a:rect r="r" b="b" t="t" l="l"/>
            <a:pathLst>
              <a:path h="2335617" w="7516793">
                <a:moveTo>
                  <a:pt x="0" y="0"/>
                </a:moveTo>
                <a:lnTo>
                  <a:pt x="7516792" y="0"/>
                </a:lnTo>
                <a:lnTo>
                  <a:pt x="7516792" y="2335617"/>
                </a:lnTo>
                <a:lnTo>
                  <a:pt x="0" y="233561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-11422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259231" y="2341107"/>
            <a:ext cx="4327318" cy="445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8"/>
              </a:lnSpc>
              <a:spcBef>
                <a:spcPct val="0"/>
              </a:spcBef>
            </a:pPr>
            <a:r>
              <a:rPr lang="en-US" b="true" sz="2577">
                <a:solidFill>
                  <a:srgbClr val="29007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KODE PENTING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51147" y="1527791"/>
            <a:ext cx="3775048" cy="404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4"/>
              </a:lnSpc>
              <a:spcBef>
                <a:spcPct val="0"/>
              </a:spcBef>
            </a:pPr>
            <a:r>
              <a:rPr lang="en-US" b="true" sz="243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playground_page.dart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3698" y="3911354"/>
            <a:ext cx="7874074" cy="833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6532" indent="-263266" lvl="1">
              <a:lnSpc>
                <a:spcPts val="3414"/>
              </a:lnSpc>
              <a:spcBef>
                <a:spcPct val="0"/>
              </a:spcBef>
              <a:buFont typeface="Arial"/>
              <a:buChar char="•"/>
            </a:pP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Fungsinya menggabungkan berbagai gesture dalam satu widget.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679854" y="2534609"/>
            <a:ext cx="4327318" cy="445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8"/>
              </a:lnSpc>
              <a:spcBef>
                <a:spcPct val="0"/>
              </a:spcBef>
            </a:pPr>
            <a:r>
              <a:rPr lang="en-US" b="true" sz="2577">
                <a:solidFill>
                  <a:srgbClr val="29007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PENJELASAN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896707" y="3135300"/>
            <a:ext cx="7362593" cy="5976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26532" indent="-263266" lvl="1">
              <a:lnSpc>
                <a:spcPts val="3414"/>
              </a:lnSpc>
              <a:spcBef>
                <a:spcPct val="0"/>
              </a:spcBef>
              <a:buFont typeface="Arial"/>
              <a:buChar char="•"/>
            </a:pP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Pada halaman ini, berbagai gesture digabungkan dalam 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satu widget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untuk menunjukkan interaksi yang lebih kompleks. Gesture seperti </a:t>
            </a:r>
            <a:r>
              <a:rPr lang="en-US" b="true" sz="243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tap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b="true" sz="243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double tap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dan </a:t>
            </a:r>
            <a:r>
              <a:rPr lang="en-US" b="true" sz="243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long press 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digunakan untuk mengubah warna dan ukuran, sedangkan </a:t>
            </a:r>
            <a:r>
              <a:rPr lang="en-US" b="true" sz="243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onScaleUpdate 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menangani kombinasi </a:t>
            </a:r>
            <a:r>
              <a:rPr lang="en-US" b="true" sz="243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drag 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dan </a:t>
            </a:r>
            <a:r>
              <a:rPr lang="en-US" b="true" sz="243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zoom 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sekaligus. Semua perubah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 disimpan dalam state dan d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ipe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rbarui menggunakan </a:t>
            </a:r>
            <a:r>
              <a:rPr lang="en-US" b="true" sz="243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setState()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 Selain itu, tombol </a:t>
            </a:r>
            <a:r>
              <a:rPr lang="en-US" b="true" sz="243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FloatingActionButton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b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er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ungsi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uk m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er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eset 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mu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nil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ai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k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 kondisi awal, sehingga kita dapat mengulang interaksi dari awal.</a:t>
            </a:r>
          </a:p>
          <a:p>
            <a:pPr algn="just">
              <a:lnSpc>
                <a:spcPts val="3414"/>
              </a:lnSpc>
              <a:spcBef>
                <a:spcPct val="0"/>
              </a:spcBef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1038152" y="6790874"/>
            <a:ext cx="7874074" cy="404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6532" indent="-263266" lvl="1">
              <a:lnSpc>
                <a:spcPts val="3414"/>
              </a:lnSpc>
              <a:spcBef>
                <a:spcPct val="0"/>
              </a:spcBef>
              <a:buFont typeface="Arial"/>
              <a:buChar char="•"/>
            </a:pP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Fungsinya menghandle drag + zoom sekaligus.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80590" y="9702722"/>
            <a:ext cx="7874074" cy="404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6532" indent="-263266" lvl="1">
              <a:lnSpc>
                <a:spcPts val="3414"/>
              </a:lnSpc>
              <a:spcBef>
                <a:spcPct val="0"/>
              </a:spcBef>
              <a:buFont typeface="Arial"/>
              <a:buChar char="•"/>
            </a:pP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Fungsinya mereset semua kondisi ke awal.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51147" y="649288"/>
            <a:ext cx="6733034" cy="758825"/>
            <a:chOff x="0" y="0"/>
            <a:chExt cx="8977379" cy="1011767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104775"/>
              <a:ext cx="3981211" cy="11165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000"/>
                </a:lnSpc>
              </a:pPr>
              <a:r>
                <a:rPr lang="en-US" sz="5000">
                  <a:solidFill>
                    <a:srgbClr val="000000"/>
                  </a:solidFill>
                  <a:latin typeface="Staatliches"/>
                  <a:ea typeface="Staatliches"/>
                  <a:cs typeface="Staatliches"/>
                  <a:sym typeface="Staatliches"/>
                </a:rPr>
                <a:t>KESIMPULAN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3796385" y="-104775"/>
              <a:ext cx="5180994" cy="11165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000"/>
                </a:lnSpc>
              </a:pPr>
              <a:r>
                <a:rPr lang="en-US" sz="5000">
                  <a:solidFill>
                    <a:srgbClr val="29007B"/>
                  </a:solidFill>
                  <a:latin typeface="Staatliches"/>
                  <a:ea typeface="Staatliches"/>
                  <a:cs typeface="Staatliches"/>
                  <a:sym typeface="Staatliches"/>
                </a:rPr>
                <a:t>PRAKTIKUM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51147" y="2398257"/>
            <a:ext cx="387005" cy="38700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9007B"/>
            </a:solidFill>
          </p:spPr>
        </p:sp>
      </p:grpSp>
      <p:sp>
        <p:nvSpPr>
          <p:cNvPr name="AutoShape 8" id="8"/>
          <p:cNvSpPr/>
          <p:nvPr/>
        </p:nvSpPr>
        <p:spPr>
          <a:xfrm flipV="true">
            <a:off x="651147" y="1408112"/>
            <a:ext cx="7258962" cy="19050"/>
          </a:xfrm>
          <a:prstGeom prst="line">
            <a:avLst/>
          </a:prstGeom>
          <a:ln cap="flat" w="38100">
            <a:gradFill>
              <a:gsLst>
                <a:gs pos="0">
                  <a:srgbClr val="29007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4842103" y="212501"/>
            <a:ext cx="2975988" cy="816199"/>
          </a:xfrm>
          <a:custGeom>
            <a:avLst/>
            <a:gdLst/>
            <a:ahLst/>
            <a:cxnLst/>
            <a:rect r="r" b="b" t="t" l="l"/>
            <a:pathLst>
              <a:path h="816199" w="2975988">
                <a:moveTo>
                  <a:pt x="0" y="0"/>
                </a:moveTo>
                <a:lnTo>
                  <a:pt x="2975989" y="0"/>
                </a:lnTo>
                <a:lnTo>
                  <a:pt x="2975989" y="816199"/>
                </a:lnTo>
                <a:lnTo>
                  <a:pt x="0" y="8161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AutoShape 10" id="10"/>
          <p:cNvSpPr/>
          <p:nvPr/>
        </p:nvSpPr>
        <p:spPr>
          <a:xfrm flipV="true">
            <a:off x="651043" y="2023674"/>
            <a:ext cx="3486698" cy="19050"/>
          </a:xfrm>
          <a:prstGeom prst="line">
            <a:avLst/>
          </a:prstGeom>
          <a:ln cap="flat" w="38100">
            <a:gradFill>
              <a:gsLst>
                <a:gs pos="0">
                  <a:srgbClr val="29007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1259231" y="2341107"/>
            <a:ext cx="4327318" cy="445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8"/>
              </a:lnSpc>
              <a:spcBef>
                <a:spcPct val="0"/>
              </a:spcBef>
            </a:pPr>
            <a:r>
              <a:rPr lang="en-US" b="true" sz="2577">
                <a:solidFill>
                  <a:srgbClr val="29007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KESIMPULAN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51147" y="1527791"/>
            <a:ext cx="6161964" cy="404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4"/>
              </a:lnSpc>
              <a:spcBef>
                <a:spcPct val="0"/>
              </a:spcBef>
            </a:pPr>
            <a:r>
              <a:rPr lang="en-US" b="true" sz="243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Workshop Mobile Minggu ke-7 : Gesture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38152" y="2987025"/>
            <a:ext cx="15572380" cy="1690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26532" indent="-263266" lvl="1">
              <a:lnSpc>
                <a:spcPts val="3414"/>
              </a:lnSpc>
              <a:spcBef>
                <a:spcPct val="0"/>
              </a:spcBef>
              <a:buFont typeface="Arial"/>
              <a:buChar char="•"/>
            </a:pP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Pada minggu ke-7 ini, saya mempelajari berbagai jenis </a:t>
            </a:r>
            <a:r>
              <a:rPr lang="en-US" b="true" sz="243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gesture 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 Flutter melalui praktikum “</a:t>
            </a:r>
            <a:r>
              <a:rPr lang="en-US" b="true" sz="243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Gesture Lab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”. Saya belajar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bagaimana cara mendeteksi interaksi pengguna, seperti </a:t>
            </a:r>
            <a:r>
              <a:rPr lang="en-US" b="true" sz="243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tap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b="true" sz="243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double tap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</a:t>
            </a:r>
            <a:r>
              <a:rPr lang="en-US" b="true" sz="243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ong press, drag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dan </a:t>
            </a:r>
            <a:r>
              <a:rPr lang="en-US" b="true" sz="243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pinch/zoom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serta bag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imana menggabungkan 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mu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gest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 dalam satu tampilan.</a:t>
            </a:r>
          </a:p>
          <a:p>
            <a:pPr algn="just">
              <a:lnSpc>
                <a:spcPts val="3414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4639580"/>
            <a:ext cx="15572380" cy="2547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26532" indent="-263266" lvl="1">
              <a:lnSpc>
                <a:spcPts val="3414"/>
              </a:lnSpc>
              <a:spcBef>
                <a:spcPct val="0"/>
              </a:spcBef>
              <a:buFont typeface="Arial"/>
              <a:buChar char="•"/>
            </a:pP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Dari praktikum ini, saya memahami bahwa </a:t>
            </a:r>
            <a:r>
              <a:rPr lang="en-US" b="true" sz="243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setiap gesture bisa memicu perubahan UI secara langsung menggunakan setState().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Saya juga belajar pentingnya mengatur posisi dan skala objek untuk membuat interaksi yang responsif dan intuitif. Dengan mempraktikkan </a:t>
            </a:r>
            <a:r>
              <a:rPr lang="en-US" b="true" sz="243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gesture 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dari yang sederhana hingga gabungan kompleks, saya menjadi lebih paham cara membuat aplikasi mobile interaktif yang mampu merespon sentuhan pengguna dengan tepat.</a:t>
            </a:r>
          </a:p>
          <a:p>
            <a:pPr algn="just">
              <a:lnSpc>
                <a:spcPts val="3414"/>
              </a:lnSpc>
              <a:spcBef>
                <a:spcPct val="0"/>
              </a:spcBef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7063660"/>
            <a:ext cx="15572380" cy="1690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26532" indent="-263266" lvl="1">
              <a:lnSpc>
                <a:spcPts val="3414"/>
              </a:lnSpc>
              <a:spcBef>
                <a:spcPct val="0"/>
              </a:spcBef>
              <a:buFont typeface="Arial"/>
              <a:buChar char="•"/>
            </a:pP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Secara keseluruhan, praktikum ini </a:t>
            </a:r>
            <a:r>
              <a:rPr lang="en-US" b="true" sz="243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memperkuat pemahaman saya tentang manajemen state, koordinat, transformasi, dan responsivitas UI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yang menjadi dasar penting dalam pengembangan aplikasi mobile </a:t>
            </a:r>
            <a:r>
              <a:rPr lang="en-US" sz="2438" i="true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modern</a:t>
            </a:r>
            <a:r>
              <a:rPr lang="en-US" sz="24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  <a:p>
            <a:pPr algn="just">
              <a:lnSpc>
                <a:spcPts val="341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701761" y="72850"/>
            <a:ext cx="8315513" cy="831551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29007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641349" y="1828654"/>
            <a:ext cx="6629692" cy="6629692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29007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90192" y="681979"/>
            <a:ext cx="8923041" cy="8923041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blipFill>
              <a:blip r:embed="rId2"/>
              <a:stretch>
                <a:fillRect l="-101388" t="0" r="-101388" b="0"/>
              </a:stretch>
            </a:blipFill>
            <a:ln w="952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4755477" y="5712487"/>
            <a:ext cx="8315513" cy="8315513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29007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020098" y="-663626"/>
            <a:ext cx="3805897" cy="3805897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29007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239387" y="1779364"/>
            <a:ext cx="11984461" cy="2505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61"/>
              </a:lnSpc>
            </a:pPr>
            <a:r>
              <a:rPr lang="en-US" sz="14615">
                <a:solidFill>
                  <a:srgbClr val="29007B"/>
                </a:solidFill>
                <a:latin typeface="Staatliches"/>
                <a:ea typeface="Staatliches"/>
                <a:cs typeface="Staatliches"/>
                <a:sym typeface="Staatliches"/>
              </a:rPr>
              <a:t>TERIMA KASIH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69585" y="4338782"/>
            <a:ext cx="7954257" cy="2690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88"/>
              </a:lnSpc>
            </a:pPr>
            <a:r>
              <a:rPr lang="en-US" sz="306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Disusun Oleh:</a:t>
            </a:r>
          </a:p>
          <a:p>
            <a:pPr algn="l">
              <a:lnSpc>
                <a:spcPts val="4288"/>
              </a:lnSpc>
            </a:pPr>
            <a:r>
              <a:rPr lang="en-US" sz="306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Nama : M. Anang Ma’ruf </a:t>
            </a:r>
          </a:p>
          <a:p>
            <a:pPr algn="l">
              <a:lnSpc>
                <a:spcPts val="4288"/>
              </a:lnSpc>
            </a:pPr>
            <a:r>
              <a:rPr lang="en-US" sz="306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NIM : E41240259</a:t>
            </a:r>
          </a:p>
          <a:p>
            <a:pPr algn="l">
              <a:lnSpc>
                <a:spcPts val="4288"/>
              </a:lnSpc>
            </a:pPr>
            <a:r>
              <a:rPr lang="en-US" sz="306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PRODI : Teknik Informatika</a:t>
            </a:r>
          </a:p>
          <a:p>
            <a:pPr algn="l">
              <a:lnSpc>
                <a:spcPts val="4288"/>
              </a:lnSpc>
              <a:spcBef>
                <a:spcPct val="0"/>
              </a:spcBef>
            </a:pPr>
            <a:r>
              <a:rPr lang="en-US" sz="306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Golongan : A</a:t>
            </a:r>
          </a:p>
        </p:txBody>
      </p:sp>
      <p:sp>
        <p:nvSpPr>
          <p:cNvPr name="AutoShape 14" id="14"/>
          <p:cNvSpPr/>
          <p:nvPr/>
        </p:nvSpPr>
        <p:spPr>
          <a:xfrm>
            <a:off x="1188152" y="9224962"/>
            <a:ext cx="7955848" cy="0"/>
          </a:xfrm>
          <a:prstGeom prst="line">
            <a:avLst/>
          </a:prstGeom>
          <a:ln cap="flat" w="66675">
            <a:gradFill>
              <a:gsLst>
                <a:gs pos="0">
                  <a:srgbClr val="29007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317481" y="212501"/>
            <a:ext cx="2975988" cy="816199"/>
          </a:xfrm>
          <a:custGeom>
            <a:avLst/>
            <a:gdLst/>
            <a:ahLst/>
            <a:cxnLst/>
            <a:rect r="r" b="b" t="t" l="l"/>
            <a:pathLst>
              <a:path h="816199" w="2975988">
                <a:moveTo>
                  <a:pt x="0" y="0"/>
                </a:moveTo>
                <a:lnTo>
                  <a:pt x="2975988" y="0"/>
                </a:lnTo>
                <a:lnTo>
                  <a:pt x="2975988" y="816199"/>
                </a:lnTo>
                <a:lnTo>
                  <a:pt x="0" y="8161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DAHFgTArUTk</dc:identifier>
  <dcterms:modified xsi:type="dcterms:W3CDTF">2011-08-01T06:04:30Z</dcterms:modified>
  <cp:revision>1</cp:revision>
  <dc:title>M. ANANG MA'RUF_E41240259_TIF GOL A</dc:title>
</cp:coreProperties>
</file>