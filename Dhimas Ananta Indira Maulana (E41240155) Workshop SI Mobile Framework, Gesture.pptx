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DM Sans" pitchFamily="2" charset="0"/>
      <p:regular r:id="rId9"/>
    </p:embeddedFont>
    <p:embeddedFont>
      <p:font typeface="Fraunces Heavy" panose="020B0604020202020204" charset="0"/>
      <p:regular r:id="rId10"/>
    </p:embeddedFont>
    <p:embeddedFont>
      <p:font typeface="Fraunces Semi-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4.jpeg"/><Relationship Id="rId7"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rot="5400000">
            <a:off x="13507075" y="5505392"/>
            <a:ext cx="6179809" cy="3382041"/>
          </a:xfrm>
          <a:custGeom>
            <a:avLst/>
            <a:gdLst/>
            <a:ahLst/>
            <a:cxnLst/>
            <a:rect l="l" t="t" r="r" b="b"/>
            <a:pathLst>
              <a:path w="6179809" h="3382041">
                <a:moveTo>
                  <a:pt x="0" y="0"/>
                </a:moveTo>
                <a:lnTo>
                  <a:pt x="6179809" y="0"/>
                </a:lnTo>
                <a:lnTo>
                  <a:pt x="6179809" y="3382041"/>
                </a:lnTo>
                <a:lnTo>
                  <a:pt x="0" y="338204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AutoShape 4"/>
          <p:cNvSpPr/>
          <p:nvPr/>
        </p:nvSpPr>
        <p:spPr>
          <a:xfrm rot="5400000">
            <a:off x="-3605352" y="5652265"/>
            <a:ext cx="9258579" cy="0"/>
          </a:xfrm>
          <a:prstGeom prst="line">
            <a:avLst/>
          </a:prstGeom>
          <a:ln w="9525" cap="flat">
            <a:solidFill>
              <a:srgbClr val="2D2D2D"/>
            </a:solidFill>
            <a:prstDash val="solid"/>
            <a:headEnd type="none" w="sm" len="sm"/>
            <a:tailEnd type="none" w="sm" len="sm"/>
          </a:ln>
        </p:spPr>
      </p:sp>
      <p:sp>
        <p:nvSpPr>
          <p:cNvPr id="5" name="AutoShape 5"/>
          <p:cNvSpPr/>
          <p:nvPr/>
        </p:nvSpPr>
        <p:spPr>
          <a:xfrm rot="-10800000">
            <a:off x="1028700" y="1008688"/>
            <a:ext cx="17259300" cy="0"/>
          </a:xfrm>
          <a:prstGeom prst="line">
            <a:avLst/>
          </a:prstGeom>
          <a:ln w="9525" cap="flat">
            <a:solidFill>
              <a:srgbClr val="2D2D2D"/>
            </a:solidFill>
            <a:prstDash val="solid"/>
            <a:headEnd type="none" w="sm" len="sm"/>
            <a:tailEnd type="none" w="sm" len="sm"/>
          </a:ln>
        </p:spPr>
      </p:sp>
      <p:sp>
        <p:nvSpPr>
          <p:cNvPr id="6" name="TextBox 6"/>
          <p:cNvSpPr txBox="1"/>
          <p:nvPr/>
        </p:nvSpPr>
        <p:spPr>
          <a:xfrm>
            <a:off x="1993519" y="2109751"/>
            <a:ext cx="12041202" cy="1996757"/>
          </a:xfrm>
          <a:prstGeom prst="rect">
            <a:avLst/>
          </a:prstGeom>
        </p:spPr>
        <p:txBody>
          <a:bodyPr lIns="0" tIns="0" rIns="0" bIns="0" rtlCol="0" anchor="t">
            <a:spAutoFit/>
          </a:bodyPr>
          <a:lstStyle/>
          <a:p>
            <a:pPr algn="l">
              <a:lnSpc>
                <a:spcPts val="7704"/>
              </a:lnSpc>
            </a:pPr>
            <a:r>
              <a:rPr lang="en-US" sz="7704" b="1">
                <a:solidFill>
                  <a:srgbClr val="2D2D2D"/>
                </a:solidFill>
                <a:latin typeface="Fraunces Semi-Bold"/>
                <a:ea typeface="Fraunces Semi-Bold"/>
                <a:cs typeface="Fraunces Semi-Bold"/>
                <a:sym typeface="Fraunces Semi-Bold"/>
              </a:rPr>
              <a:t>Workshop Mobile Applications Framework</a:t>
            </a:r>
          </a:p>
        </p:txBody>
      </p:sp>
      <p:sp>
        <p:nvSpPr>
          <p:cNvPr id="7" name="TextBox 7"/>
          <p:cNvSpPr txBox="1"/>
          <p:nvPr/>
        </p:nvSpPr>
        <p:spPr>
          <a:xfrm>
            <a:off x="1993519" y="4322281"/>
            <a:ext cx="4533038" cy="414922"/>
          </a:xfrm>
          <a:prstGeom prst="rect">
            <a:avLst/>
          </a:prstGeom>
        </p:spPr>
        <p:txBody>
          <a:bodyPr lIns="0" tIns="0" rIns="0" bIns="0" rtlCol="0" anchor="t">
            <a:spAutoFit/>
          </a:bodyPr>
          <a:lstStyle/>
          <a:p>
            <a:pPr algn="l">
              <a:lnSpc>
                <a:spcPts val="3359"/>
              </a:lnSpc>
            </a:pPr>
            <a:r>
              <a:rPr lang="en-US" sz="2400" dirty="0">
                <a:solidFill>
                  <a:srgbClr val="2D2D2D"/>
                </a:solidFill>
                <a:latin typeface="DM Sans"/>
                <a:ea typeface="DM Sans"/>
                <a:cs typeface="DM Sans"/>
                <a:sym typeface="DM Sans"/>
              </a:rPr>
              <a:t>Gesture Lab</a:t>
            </a:r>
          </a:p>
        </p:txBody>
      </p:sp>
      <p:sp>
        <p:nvSpPr>
          <p:cNvPr id="8" name="TextBox 8"/>
          <p:cNvSpPr txBox="1"/>
          <p:nvPr/>
        </p:nvSpPr>
        <p:spPr>
          <a:xfrm>
            <a:off x="1993518" y="8032115"/>
            <a:ext cx="7409821" cy="414922"/>
          </a:xfrm>
          <a:prstGeom prst="rect">
            <a:avLst/>
          </a:prstGeom>
        </p:spPr>
        <p:txBody>
          <a:bodyPr wrap="square" lIns="0" tIns="0" rIns="0" bIns="0" rtlCol="0" anchor="t">
            <a:spAutoFit/>
          </a:bodyPr>
          <a:lstStyle/>
          <a:p>
            <a:pPr algn="l">
              <a:lnSpc>
                <a:spcPts val="3359"/>
              </a:lnSpc>
            </a:pPr>
            <a:r>
              <a:rPr lang="id-ID" sz="2400" dirty="0">
                <a:solidFill>
                  <a:srgbClr val="2D2D2D"/>
                </a:solidFill>
                <a:latin typeface="DM Sans"/>
                <a:ea typeface="DM Sans"/>
                <a:cs typeface="DM Sans"/>
                <a:sym typeface="DM Sans"/>
              </a:rPr>
              <a:t>Dhimas Ananta Indira Maulana (E41240155) Gol A</a:t>
            </a:r>
            <a:endParaRPr lang="en-US" sz="2400" dirty="0">
              <a:solidFill>
                <a:srgbClr val="2D2D2D"/>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sp>
        <p:nvSpPr>
          <p:cNvPr id="6" name="AutoShape 6"/>
          <p:cNvSpPr/>
          <p:nvPr/>
        </p:nvSpPr>
        <p:spPr>
          <a:xfrm rot="5400000">
            <a:off x="-3605352" y="5652265"/>
            <a:ext cx="9258579" cy="0"/>
          </a:xfrm>
          <a:prstGeom prst="line">
            <a:avLst/>
          </a:prstGeom>
          <a:ln w="9525" cap="flat">
            <a:solidFill>
              <a:srgbClr val="2D2D2D"/>
            </a:solidFill>
            <a:prstDash val="solid"/>
            <a:headEnd type="none" w="sm" len="sm"/>
            <a:tailEnd type="none" w="sm" len="sm"/>
          </a:ln>
        </p:spPr>
      </p:sp>
      <p:sp>
        <p:nvSpPr>
          <p:cNvPr id="7" name="AutoShape 7"/>
          <p:cNvSpPr/>
          <p:nvPr/>
        </p:nvSpPr>
        <p:spPr>
          <a:xfrm rot="-10800000">
            <a:off x="1028700" y="1008688"/>
            <a:ext cx="17259300" cy="0"/>
          </a:xfrm>
          <a:prstGeom prst="line">
            <a:avLst/>
          </a:prstGeom>
          <a:ln w="9525" cap="flat">
            <a:solidFill>
              <a:srgbClr val="2D2D2D"/>
            </a:solidFill>
            <a:prstDash val="solid"/>
            <a:headEnd type="none" w="sm" len="sm"/>
            <a:tailEnd type="none" w="sm" len="sm"/>
          </a:ln>
        </p:spPr>
      </p:sp>
      <p:sp>
        <p:nvSpPr>
          <p:cNvPr id="9" name="Freeform 9"/>
          <p:cNvSpPr/>
          <p:nvPr/>
        </p:nvSpPr>
        <p:spPr>
          <a:xfrm>
            <a:off x="1719554" y="3016173"/>
            <a:ext cx="4795842" cy="6210443"/>
          </a:xfrm>
          <a:custGeom>
            <a:avLst/>
            <a:gdLst/>
            <a:ahLst/>
            <a:cxnLst/>
            <a:rect l="l" t="t" r="r" b="b"/>
            <a:pathLst>
              <a:path w="4795842" h="6210443">
                <a:moveTo>
                  <a:pt x="0" y="0"/>
                </a:moveTo>
                <a:lnTo>
                  <a:pt x="4795842" y="0"/>
                </a:lnTo>
                <a:lnTo>
                  <a:pt x="4795842" y="6210444"/>
                </a:lnTo>
                <a:lnTo>
                  <a:pt x="0" y="6210444"/>
                </a:lnTo>
                <a:lnTo>
                  <a:pt x="0" y="0"/>
                </a:lnTo>
                <a:close/>
              </a:path>
            </a:pathLst>
          </a:custGeom>
          <a:blipFill>
            <a:blip r:embed="rId2"/>
            <a:stretch>
              <a:fillRect/>
            </a:stretch>
          </a:blipFill>
        </p:spPr>
      </p:sp>
      <p:sp>
        <p:nvSpPr>
          <p:cNvPr id="10" name="TextBox 10"/>
          <p:cNvSpPr txBox="1"/>
          <p:nvPr/>
        </p:nvSpPr>
        <p:spPr>
          <a:xfrm>
            <a:off x="1993519" y="1888817"/>
            <a:ext cx="6848808" cy="821055"/>
          </a:xfrm>
          <a:prstGeom prst="rect">
            <a:avLst/>
          </a:prstGeom>
        </p:spPr>
        <p:txBody>
          <a:bodyPr lIns="0" tIns="0" rIns="0" bIns="0" rtlCol="0" anchor="t">
            <a:spAutoFit/>
          </a:bodyPr>
          <a:lstStyle/>
          <a:p>
            <a:pPr algn="l">
              <a:lnSpc>
                <a:spcPts val="6719"/>
              </a:lnSpc>
            </a:pPr>
            <a:r>
              <a:rPr lang="en-US" sz="4800" b="1">
                <a:solidFill>
                  <a:srgbClr val="2D2D2D"/>
                </a:solidFill>
                <a:latin typeface="Fraunces Heavy"/>
                <a:ea typeface="Fraunces Heavy"/>
                <a:cs typeface="Fraunces Heavy"/>
                <a:sym typeface="Fraunces Heavy"/>
              </a:rPr>
              <a:t>Gesture Lab</a:t>
            </a:r>
          </a:p>
        </p:txBody>
      </p:sp>
      <p:sp>
        <p:nvSpPr>
          <p:cNvPr id="12" name="TextBox 12"/>
          <p:cNvSpPr txBox="1"/>
          <p:nvPr/>
        </p:nvSpPr>
        <p:spPr>
          <a:xfrm>
            <a:off x="7206250" y="2905283"/>
            <a:ext cx="8028708" cy="493395"/>
          </a:xfrm>
          <a:prstGeom prst="rect">
            <a:avLst/>
          </a:prstGeom>
        </p:spPr>
        <p:txBody>
          <a:bodyPr lIns="0" tIns="0" rIns="0" bIns="0" rtlCol="0" anchor="t">
            <a:spAutoFit/>
          </a:bodyPr>
          <a:lstStyle/>
          <a:p>
            <a:pPr algn="just">
              <a:lnSpc>
                <a:spcPts val="4199"/>
              </a:lnSpc>
            </a:pPr>
            <a:r>
              <a:rPr lang="en-US" sz="2799">
                <a:solidFill>
                  <a:srgbClr val="2D2D2D"/>
                </a:solidFill>
                <a:latin typeface="DM Sans"/>
                <a:ea typeface="DM Sans"/>
                <a:cs typeface="DM Sans"/>
                <a:sym typeface="DM Sans"/>
              </a:rPr>
              <a:t>Menampilkan beberapa pilihan gesture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sp>
        <p:nvSpPr>
          <p:cNvPr id="6" name="AutoShape 6"/>
          <p:cNvSpPr/>
          <p:nvPr/>
        </p:nvSpPr>
        <p:spPr>
          <a:xfrm rot="5400000">
            <a:off x="-3605352" y="5652265"/>
            <a:ext cx="9258579" cy="0"/>
          </a:xfrm>
          <a:prstGeom prst="line">
            <a:avLst/>
          </a:prstGeom>
          <a:ln w="9525" cap="flat">
            <a:solidFill>
              <a:srgbClr val="2D2D2D"/>
            </a:solidFill>
            <a:prstDash val="solid"/>
            <a:headEnd type="none" w="sm" len="sm"/>
            <a:tailEnd type="none" w="sm" len="sm"/>
          </a:ln>
        </p:spPr>
      </p:sp>
      <p:sp>
        <p:nvSpPr>
          <p:cNvPr id="7" name="AutoShape 7"/>
          <p:cNvSpPr/>
          <p:nvPr/>
        </p:nvSpPr>
        <p:spPr>
          <a:xfrm rot="-10800000">
            <a:off x="1028700" y="1008688"/>
            <a:ext cx="17259300" cy="0"/>
          </a:xfrm>
          <a:prstGeom prst="line">
            <a:avLst/>
          </a:prstGeom>
          <a:ln w="9525" cap="flat">
            <a:solidFill>
              <a:srgbClr val="2D2D2D"/>
            </a:solidFill>
            <a:prstDash val="solid"/>
            <a:headEnd type="none" w="sm" len="sm"/>
            <a:tailEnd type="none" w="sm" len="sm"/>
          </a:ln>
        </p:spPr>
      </p:sp>
      <p:sp>
        <p:nvSpPr>
          <p:cNvPr id="9" name="Freeform 9"/>
          <p:cNvSpPr/>
          <p:nvPr/>
        </p:nvSpPr>
        <p:spPr>
          <a:xfrm>
            <a:off x="1993519" y="2981483"/>
            <a:ext cx="2717852" cy="3551850"/>
          </a:xfrm>
          <a:custGeom>
            <a:avLst/>
            <a:gdLst/>
            <a:ahLst/>
            <a:cxnLst/>
            <a:rect l="l" t="t" r="r" b="b"/>
            <a:pathLst>
              <a:path w="2717852" h="3551850">
                <a:moveTo>
                  <a:pt x="0" y="0"/>
                </a:moveTo>
                <a:lnTo>
                  <a:pt x="2717852" y="0"/>
                </a:lnTo>
                <a:lnTo>
                  <a:pt x="2717852" y="3551849"/>
                </a:lnTo>
                <a:lnTo>
                  <a:pt x="0" y="3551849"/>
                </a:lnTo>
                <a:lnTo>
                  <a:pt x="0" y="0"/>
                </a:lnTo>
                <a:close/>
              </a:path>
            </a:pathLst>
          </a:custGeom>
          <a:blipFill>
            <a:blip r:embed="rId2"/>
            <a:stretch>
              <a:fillRect/>
            </a:stretch>
          </a:blipFill>
        </p:spPr>
      </p:sp>
      <p:sp>
        <p:nvSpPr>
          <p:cNvPr id="10" name="Freeform 10"/>
          <p:cNvSpPr/>
          <p:nvPr/>
        </p:nvSpPr>
        <p:spPr>
          <a:xfrm>
            <a:off x="5133182" y="2981483"/>
            <a:ext cx="2741261" cy="3551850"/>
          </a:xfrm>
          <a:custGeom>
            <a:avLst/>
            <a:gdLst/>
            <a:ahLst/>
            <a:cxnLst/>
            <a:rect l="l" t="t" r="r" b="b"/>
            <a:pathLst>
              <a:path w="2741261" h="3551850">
                <a:moveTo>
                  <a:pt x="0" y="0"/>
                </a:moveTo>
                <a:lnTo>
                  <a:pt x="2741261" y="0"/>
                </a:lnTo>
                <a:lnTo>
                  <a:pt x="2741261" y="3551849"/>
                </a:lnTo>
                <a:lnTo>
                  <a:pt x="0" y="3551849"/>
                </a:lnTo>
                <a:lnTo>
                  <a:pt x="0" y="0"/>
                </a:lnTo>
                <a:close/>
              </a:path>
            </a:pathLst>
          </a:custGeom>
          <a:blipFill>
            <a:blip r:embed="rId3"/>
            <a:stretch>
              <a:fillRect/>
            </a:stretch>
          </a:blipFill>
        </p:spPr>
      </p:sp>
      <p:sp>
        <p:nvSpPr>
          <p:cNvPr id="11" name="Freeform 11"/>
          <p:cNvSpPr/>
          <p:nvPr/>
        </p:nvSpPr>
        <p:spPr>
          <a:xfrm>
            <a:off x="8256716" y="2981483"/>
            <a:ext cx="2744611" cy="3551850"/>
          </a:xfrm>
          <a:custGeom>
            <a:avLst/>
            <a:gdLst/>
            <a:ahLst/>
            <a:cxnLst/>
            <a:rect l="l" t="t" r="r" b="b"/>
            <a:pathLst>
              <a:path w="2744611" h="3551850">
                <a:moveTo>
                  <a:pt x="0" y="0"/>
                </a:moveTo>
                <a:lnTo>
                  <a:pt x="2744611" y="0"/>
                </a:lnTo>
                <a:lnTo>
                  <a:pt x="2744611" y="3551849"/>
                </a:lnTo>
                <a:lnTo>
                  <a:pt x="0" y="3551849"/>
                </a:lnTo>
                <a:lnTo>
                  <a:pt x="0" y="0"/>
                </a:lnTo>
                <a:close/>
              </a:path>
            </a:pathLst>
          </a:custGeom>
          <a:blipFill>
            <a:blip r:embed="rId4"/>
            <a:stretch>
              <a:fillRect/>
            </a:stretch>
          </a:blipFill>
        </p:spPr>
      </p:sp>
      <p:sp>
        <p:nvSpPr>
          <p:cNvPr id="12" name="TextBox 12"/>
          <p:cNvSpPr txBox="1"/>
          <p:nvPr/>
        </p:nvSpPr>
        <p:spPr>
          <a:xfrm>
            <a:off x="1993519" y="1888817"/>
            <a:ext cx="6848808" cy="821055"/>
          </a:xfrm>
          <a:prstGeom prst="rect">
            <a:avLst/>
          </a:prstGeom>
        </p:spPr>
        <p:txBody>
          <a:bodyPr lIns="0" tIns="0" rIns="0" bIns="0" rtlCol="0" anchor="t">
            <a:spAutoFit/>
          </a:bodyPr>
          <a:lstStyle/>
          <a:p>
            <a:pPr algn="l">
              <a:lnSpc>
                <a:spcPts val="6719"/>
              </a:lnSpc>
            </a:pPr>
            <a:r>
              <a:rPr lang="en-US" sz="4800" b="1">
                <a:solidFill>
                  <a:srgbClr val="2D2D2D"/>
                </a:solidFill>
                <a:latin typeface="Fraunces Heavy"/>
                <a:ea typeface="Fraunces Heavy"/>
                <a:cs typeface="Fraunces Heavy"/>
                <a:sym typeface="Fraunces Heavy"/>
              </a:rPr>
              <a:t>Tap Interaction</a:t>
            </a:r>
          </a:p>
        </p:txBody>
      </p:sp>
      <p:sp>
        <p:nvSpPr>
          <p:cNvPr id="13" name="TextBox 13"/>
          <p:cNvSpPr txBox="1"/>
          <p:nvPr/>
        </p:nvSpPr>
        <p:spPr>
          <a:xfrm>
            <a:off x="2505583" y="6610303"/>
            <a:ext cx="1693724" cy="359274"/>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Tampilan awal</a:t>
            </a:r>
          </a:p>
        </p:txBody>
      </p:sp>
      <p:sp>
        <p:nvSpPr>
          <p:cNvPr id="15" name="TextBox 15"/>
          <p:cNvSpPr txBox="1"/>
          <p:nvPr/>
        </p:nvSpPr>
        <p:spPr>
          <a:xfrm>
            <a:off x="5150690" y="6610303"/>
            <a:ext cx="2723753" cy="359274"/>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Tampilan ketika di klik</a:t>
            </a:r>
          </a:p>
        </p:txBody>
      </p:sp>
      <p:sp>
        <p:nvSpPr>
          <p:cNvPr id="16" name="TextBox 16"/>
          <p:cNvSpPr txBox="1"/>
          <p:nvPr/>
        </p:nvSpPr>
        <p:spPr>
          <a:xfrm>
            <a:off x="8152218" y="6610303"/>
            <a:ext cx="2953606" cy="359274"/>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Tampilan ketika di tahan</a:t>
            </a:r>
          </a:p>
        </p:txBody>
      </p:sp>
      <p:sp>
        <p:nvSpPr>
          <p:cNvPr id="17" name="TextBox 17"/>
          <p:cNvSpPr txBox="1"/>
          <p:nvPr/>
        </p:nvSpPr>
        <p:spPr>
          <a:xfrm>
            <a:off x="1993519" y="7276133"/>
            <a:ext cx="11299274" cy="2256170"/>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Kode ini membuat objek interaktif di Flutter yang merespons berbagai jenis sentuhan. Variabel size mengatur ukuran dan color mengatur warna objek. Melalui GestureDetector, tap akan memanggil fungsi randomize() untuk mengganti ukuran dan warna secara bergantian, double tap mengubah warna menjadi hijau, dan long press memperbesar ukuran menjadi lebih besar. Perubahan tampilan dibuat halus menggunakan AnimatedContainer, sehingga setiap perubahan ukuran dan warna terlihat dengan animasi.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sp>
        <p:nvSpPr>
          <p:cNvPr id="6" name="AutoShape 6"/>
          <p:cNvSpPr/>
          <p:nvPr/>
        </p:nvSpPr>
        <p:spPr>
          <a:xfrm rot="5400000">
            <a:off x="-3605352" y="5652265"/>
            <a:ext cx="9258579" cy="0"/>
          </a:xfrm>
          <a:prstGeom prst="line">
            <a:avLst/>
          </a:prstGeom>
          <a:ln w="9525" cap="flat">
            <a:solidFill>
              <a:srgbClr val="2D2D2D"/>
            </a:solidFill>
            <a:prstDash val="solid"/>
            <a:headEnd type="none" w="sm" len="sm"/>
            <a:tailEnd type="none" w="sm" len="sm"/>
          </a:ln>
        </p:spPr>
      </p:sp>
      <p:sp>
        <p:nvSpPr>
          <p:cNvPr id="7" name="AutoShape 7"/>
          <p:cNvSpPr/>
          <p:nvPr/>
        </p:nvSpPr>
        <p:spPr>
          <a:xfrm rot="-10800000">
            <a:off x="1028700" y="1008688"/>
            <a:ext cx="17259300" cy="0"/>
          </a:xfrm>
          <a:prstGeom prst="line">
            <a:avLst/>
          </a:prstGeom>
          <a:ln w="9525" cap="flat">
            <a:solidFill>
              <a:srgbClr val="2D2D2D"/>
            </a:solidFill>
            <a:prstDash val="solid"/>
            <a:headEnd type="none" w="sm" len="sm"/>
            <a:tailEnd type="none" w="sm" len="sm"/>
          </a:ln>
        </p:spPr>
      </p:sp>
      <p:sp>
        <p:nvSpPr>
          <p:cNvPr id="9" name="Freeform 9"/>
          <p:cNvSpPr/>
          <p:nvPr/>
        </p:nvSpPr>
        <p:spPr>
          <a:xfrm>
            <a:off x="2042420" y="2990936"/>
            <a:ext cx="2709761" cy="3542397"/>
          </a:xfrm>
          <a:custGeom>
            <a:avLst/>
            <a:gdLst/>
            <a:ahLst/>
            <a:cxnLst/>
            <a:rect l="l" t="t" r="r" b="b"/>
            <a:pathLst>
              <a:path w="2709761" h="3542397">
                <a:moveTo>
                  <a:pt x="0" y="0"/>
                </a:moveTo>
                <a:lnTo>
                  <a:pt x="2709762" y="0"/>
                </a:lnTo>
                <a:lnTo>
                  <a:pt x="2709762" y="3542396"/>
                </a:lnTo>
                <a:lnTo>
                  <a:pt x="0" y="3542396"/>
                </a:lnTo>
                <a:lnTo>
                  <a:pt x="0" y="0"/>
                </a:lnTo>
                <a:close/>
              </a:path>
            </a:pathLst>
          </a:custGeom>
          <a:blipFill>
            <a:blip r:embed="rId2"/>
            <a:stretch>
              <a:fillRect/>
            </a:stretch>
          </a:blipFill>
        </p:spPr>
      </p:sp>
      <p:sp>
        <p:nvSpPr>
          <p:cNvPr id="10" name="Freeform 10"/>
          <p:cNvSpPr/>
          <p:nvPr/>
        </p:nvSpPr>
        <p:spPr>
          <a:xfrm>
            <a:off x="5150690" y="2981483"/>
            <a:ext cx="2741261" cy="3597287"/>
          </a:xfrm>
          <a:custGeom>
            <a:avLst/>
            <a:gdLst/>
            <a:ahLst/>
            <a:cxnLst/>
            <a:rect l="l" t="t" r="r" b="b"/>
            <a:pathLst>
              <a:path w="2741261" h="3597287">
                <a:moveTo>
                  <a:pt x="0" y="0"/>
                </a:moveTo>
                <a:lnTo>
                  <a:pt x="2741262" y="0"/>
                </a:lnTo>
                <a:lnTo>
                  <a:pt x="2741262" y="3597287"/>
                </a:lnTo>
                <a:lnTo>
                  <a:pt x="0" y="3597287"/>
                </a:lnTo>
                <a:lnTo>
                  <a:pt x="0" y="0"/>
                </a:lnTo>
                <a:close/>
              </a:path>
            </a:pathLst>
          </a:custGeom>
          <a:blipFill>
            <a:blip r:embed="rId3"/>
            <a:stretch>
              <a:fillRect/>
            </a:stretch>
          </a:blipFill>
        </p:spPr>
      </p:sp>
      <p:sp>
        <p:nvSpPr>
          <p:cNvPr id="11" name="TextBox 11"/>
          <p:cNvSpPr txBox="1"/>
          <p:nvPr/>
        </p:nvSpPr>
        <p:spPr>
          <a:xfrm>
            <a:off x="1993519" y="1888817"/>
            <a:ext cx="6848808" cy="821055"/>
          </a:xfrm>
          <a:prstGeom prst="rect">
            <a:avLst/>
          </a:prstGeom>
        </p:spPr>
        <p:txBody>
          <a:bodyPr lIns="0" tIns="0" rIns="0" bIns="0" rtlCol="0" anchor="t">
            <a:spAutoFit/>
          </a:bodyPr>
          <a:lstStyle/>
          <a:p>
            <a:pPr algn="l">
              <a:lnSpc>
                <a:spcPts val="6719"/>
              </a:lnSpc>
            </a:pPr>
            <a:r>
              <a:rPr lang="en-US" sz="4800" b="1">
                <a:solidFill>
                  <a:srgbClr val="2D2D2D"/>
                </a:solidFill>
                <a:latin typeface="Fraunces Heavy"/>
                <a:ea typeface="Fraunces Heavy"/>
                <a:cs typeface="Fraunces Heavy"/>
                <a:sym typeface="Fraunces Heavy"/>
              </a:rPr>
              <a:t>Drag Movement</a:t>
            </a:r>
          </a:p>
        </p:txBody>
      </p:sp>
      <p:sp>
        <p:nvSpPr>
          <p:cNvPr id="12" name="TextBox 12"/>
          <p:cNvSpPr txBox="1"/>
          <p:nvPr/>
        </p:nvSpPr>
        <p:spPr>
          <a:xfrm>
            <a:off x="2505583" y="6610303"/>
            <a:ext cx="1693724" cy="359274"/>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Tampilan awal</a:t>
            </a:r>
          </a:p>
        </p:txBody>
      </p:sp>
      <p:sp>
        <p:nvSpPr>
          <p:cNvPr id="14" name="TextBox 14"/>
          <p:cNvSpPr txBox="1"/>
          <p:nvPr/>
        </p:nvSpPr>
        <p:spPr>
          <a:xfrm>
            <a:off x="5150690" y="6610303"/>
            <a:ext cx="3001528" cy="359274"/>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Tampilan ketika digeser</a:t>
            </a:r>
          </a:p>
        </p:txBody>
      </p:sp>
      <p:sp>
        <p:nvSpPr>
          <p:cNvPr id="15" name="TextBox 15"/>
          <p:cNvSpPr txBox="1"/>
          <p:nvPr/>
        </p:nvSpPr>
        <p:spPr>
          <a:xfrm>
            <a:off x="8152218" y="2652722"/>
            <a:ext cx="5642600" cy="4532445"/>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Kode tersebut merupakan implementasi fitur drag (geser) pada sebuah objek di Flutter menggunakan StatefulWidget agar posisi objek dapat berubah secara dinamis. Variabel x dan y digunakan untuk menyimpan posisi horizontal dan vertikal dari objek. Tampilan dibangun menggunakan Scaffold sebagai kerangka utama, dengan AppBar sebagai judul dan Stack untuk memungkinkan penempatan widget secara bebas. Objek ditampilkan menggunakan Positioned yang posisinya bergantung pada nilai x dan y. </a:t>
            </a:r>
          </a:p>
        </p:txBody>
      </p:sp>
      <p:sp>
        <p:nvSpPr>
          <p:cNvPr id="16" name="TextBox 16"/>
          <p:cNvSpPr txBox="1"/>
          <p:nvPr/>
        </p:nvSpPr>
        <p:spPr>
          <a:xfrm>
            <a:off x="2042420" y="7542431"/>
            <a:ext cx="11752398" cy="1497412"/>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Untuk mendeteksi gerakan pengguna, digunakan GestureDetector dengan event onPanUpdate, yang akan memperbarui nilai posisi berdasarkan pergerakan jari (delta.dx dan delta.dy). Perubahan ini dibungkus dalam setState() agar UI otomatis diperbarui. Objek visualnya menggunakan AnimatedContainer sehingga pergerakan terlihat lebih halus dengan animasi singkat.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sp>
        <p:nvSpPr>
          <p:cNvPr id="6" name="AutoShape 6"/>
          <p:cNvSpPr/>
          <p:nvPr/>
        </p:nvSpPr>
        <p:spPr>
          <a:xfrm rot="5400000">
            <a:off x="-3605352" y="5652265"/>
            <a:ext cx="9258579" cy="0"/>
          </a:xfrm>
          <a:prstGeom prst="line">
            <a:avLst/>
          </a:prstGeom>
          <a:ln w="9525" cap="flat">
            <a:solidFill>
              <a:srgbClr val="2D2D2D"/>
            </a:solidFill>
            <a:prstDash val="solid"/>
            <a:headEnd type="none" w="sm" len="sm"/>
            <a:tailEnd type="none" w="sm" len="sm"/>
          </a:ln>
        </p:spPr>
      </p:sp>
      <p:sp>
        <p:nvSpPr>
          <p:cNvPr id="7" name="AutoShape 7"/>
          <p:cNvSpPr/>
          <p:nvPr/>
        </p:nvSpPr>
        <p:spPr>
          <a:xfrm rot="-10800000">
            <a:off x="1028700" y="1008688"/>
            <a:ext cx="17259300" cy="0"/>
          </a:xfrm>
          <a:prstGeom prst="line">
            <a:avLst/>
          </a:prstGeom>
          <a:ln w="9525" cap="flat">
            <a:solidFill>
              <a:srgbClr val="2D2D2D"/>
            </a:solidFill>
            <a:prstDash val="solid"/>
            <a:headEnd type="none" w="sm" len="sm"/>
            <a:tailEnd type="none" w="sm" len="sm"/>
          </a:ln>
        </p:spPr>
      </p:sp>
      <p:sp>
        <p:nvSpPr>
          <p:cNvPr id="9" name="Freeform 9"/>
          <p:cNvSpPr/>
          <p:nvPr/>
        </p:nvSpPr>
        <p:spPr>
          <a:xfrm>
            <a:off x="2042420" y="2990936"/>
            <a:ext cx="2709761" cy="3542397"/>
          </a:xfrm>
          <a:custGeom>
            <a:avLst/>
            <a:gdLst/>
            <a:ahLst/>
            <a:cxnLst/>
            <a:rect l="l" t="t" r="r" b="b"/>
            <a:pathLst>
              <a:path w="2709761" h="3542397">
                <a:moveTo>
                  <a:pt x="0" y="0"/>
                </a:moveTo>
                <a:lnTo>
                  <a:pt x="2709762" y="0"/>
                </a:lnTo>
                <a:lnTo>
                  <a:pt x="2709762" y="3542396"/>
                </a:lnTo>
                <a:lnTo>
                  <a:pt x="0" y="3542396"/>
                </a:lnTo>
                <a:lnTo>
                  <a:pt x="0" y="0"/>
                </a:lnTo>
                <a:close/>
              </a:path>
            </a:pathLst>
          </a:custGeom>
          <a:blipFill>
            <a:blip r:embed="rId2"/>
            <a:stretch>
              <a:fillRect/>
            </a:stretch>
          </a:blipFill>
        </p:spPr>
      </p:sp>
      <p:sp>
        <p:nvSpPr>
          <p:cNvPr id="10" name="Freeform 10"/>
          <p:cNvSpPr/>
          <p:nvPr/>
        </p:nvSpPr>
        <p:spPr>
          <a:xfrm>
            <a:off x="2042420" y="3004202"/>
            <a:ext cx="2727313" cy="3551850"/>
          </a:xfrm>
          <a:custGeom>
            <a:avLst/>
            <a:gdLst/>
            <a:ahLst/>
            <a:cxnLst/>
            <a:rect l="l" t="t" r="r" b="b"/>
            <a:pathLst>
              <a:path w="2727313" h="3551850">
                <a:moveTo>
                  <a:pt x="0" y="0"/>
                </a:moveTo>
                <a:lnTo>
                  <a:pt x="2727313" y="0"/>
                </a:lnTo>
                <a:lnTo>
                  <a:pt x="2727313" y="3551849"/>
                </a:lnTo>
                <a:lnTo>
                  <a:pt x="0" y="3551849"/>
                </a:lnTo>
                <a:lnTo>
                  <a:pt x="0" y="0"/>
                </a:lnTo>
                <a:close/>
              </a:path>
            </a:pathLst>
          </a:custGeom>
          <a:blipFill>
            <a:blip r:embed="rId3"/>
            <a:stretch>
              <a:fillRect/>
            </a:stretch>
          </a:blipFill>
        </p:spPr>
      </p:sp>
      <p:sp>
        <p:nvSpPr>
          <p:cNvPr id="11" name="TextBox 11"/>
          <p:cNvSpPr txBox="1"/>
          <p:nvPr/>
        </p:nvSpPr>
        <p:spPr>
          <a:xfrm>
            <a:off x="1993519" y="1888817"/>
            <a:ext cx="6848808" cy="821055"/>
          </a:xfrm>
          <a:prstGeom prst="rect">
            <a:avLst/>
          </a:prstGeom>
        </p:spPr>
        <p:txBody>
          <a:bodyPr lIns="0" tIns="0" rIns="0" bIns="0" rtlCol="0" anchor="t">
            <a:spAutoFit/>
          </a:bodyPr>
          <a:lstStyle/>
          <a:p>
            <a:pPr algn="l">
              <a:lnSpc>
                <a:spcPts val="6719"/>
              </a:lnSpc>
            </a:pPr>
            <a:r>
              <a:rPr lang="en-US" sz="4800" b="1">
                <a:solidFill>
                  <a:srgbClr val="2D2D2D"/>
                </a:solidFill>
                <a:latin typeface="Fraunces Heavy"/>
                <a:ea typeface="Fraunces Heavy"/>
                <a:cs typeface="Fraunces Heavy"/>
                <a:sym typeface="Fraunces Heavy"/>
              </a:rPr>
              <a:t>Scale &amp; Zoom</a:t>
            </a:r>
          </a:p>
        </p:txBody>
      </p:sp>
      <p:sp>
        <p:nvSpPr>
          <p:cNvPr id="12" name="TextBox 12"/>
          <p:cNvSpPr txBox="1"/>
          <p:nvPr/>
        </p:nvSpPr>
        <p:spPr>
          <a:xfrm>
            <a:off x="2505583" y="6610303"/>
            <a:ext cx="1693724" cy="359274"/>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Tampilan awal</a:t>
            </a:r>
          </a:p>
        </p:txBody>
      </p:sp>
      <p:sp>
        <p:nvSpPr>
          <p:cNvPr id="14" name="TextBox 14"/>
          <p:cNvSpPr txBox="1"/>
          <p:nvPr/>
        </p:nvSpPr>
        <p:spPr>
          <a:xfrm>
            <a:off x="4993044" y="2947052"/>
            <a:ext cx="5226555" cy="738653"/>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Yang dimana aslinya dapat di zoom yang hanya bisa dilakukan di Handphone </a:t>
            </a:r>
          </a:p>
        </p:txBody>
      </p:sp>
      <p:sp>
        <p:nvSpPr>
          <p:cNvPr id="15" name="TextBox 15"/>
          <p:cNvSpPr txBox="1"/>
          <p:nvPr/>
        </p:nvSpPr>
        <p:spPr>
          <a:xfrm>
            <a:off x="2042420" y="7137101"/>
            <a:ext cx="12813262" cy="2635549"/>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Kode ini membuat fitur zoom dan drag interaktif pada sebuah objek di Flutter. Nilai scale digunakan untuk mengatur ukuran (zoom), sedangkan position untuk menggeser posisi objek. Pengguna bisa melakukan pinch (dua jari) untuk zoom dan drag sekaligus melalui GestureDetector (onScaleStart dan onScaleUpdate). Selain itu, widget Listener memungkinkan zoom menggunakan scroll mouse/laptop dengan PointerScrollEvent. Tampilan diperhalus menggunakan AnimatedContainer, Transform.scale, dan Transform.translate. Objek ditampilkan dengan desain menarik (gradient dan bayangan), serta tersedia tombol reset untuk mengembalikan ukuran dan posisi ke kondisi awal.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sp>
        <p:nvSpPr>
          <p:cNvPr id="6" name="AutoShape 6"/>
          <p:cNvSpPr/>
          <p:nvPr/>
        </p:nvSpPr>
        <p:spPr>
          <a:xfrm rot="5400000">
            <a:off x="-3605352" y="5652265"/>
            <a:ext cx="9258579" cy="0"/>
          </a:xfrm>
          <a:prstGeom prst="line">
            <a:avLst/>
          </a:prstGeom>
          <a:ln w="9525" cap="flat">
            <a:solidFill>
              <a:srgbClr val="2D2D2D"/>
            </a:solidFill>
            <a:prstDash val="solid"/>
            <a:headEnd type="none" w="sm" len="sm"/>
            <a:tailEnd type="none" w="sm" len="sm"/>
          </a:ln>
        </p:spPr>
      </p:sp>
      <p:sp>
        <p:nvSpPr>
          <p:cNvPr id="7" name="AutoShape 7"/>
          <p:cNvSpPr/>
          <p:nvPr/>
        </p:nvSpPr>
        <p:spPr>
          <a:xfrm rot="-10800000">
            <a:off x="1028700" y="1008688"/>
            <a:ext cx="17259300" cy="0"/>
          </a:xfrm>
          <a:prstGeom prst="line">
            <a:avLst/>
          </a:prstGeom>
          <a:ln w="9525" cap="flat">
            <a:solidFill>
              <a:srgbClr val="2D2D2D"/>
            </a:solidFill>
            <a:prstDash val="solid"/>
            <a:headEnd type="none" w="sm" len="sm"/>
            <a:tailEnd type="none" w="sm" len="sm"/>
          </a:ln>
        </p:spPr>
      </p:sp>
      <p:sp>
        <p:nvSpPr>
          <p:cNvPr id="9" name="Freeform 9"/>
          <p:cNvSpPr/>
          <p:nvPr/>
        </p:nvSpPr>
        <p:spPr>
          <a:xfrm>
            <a:off x="1993519" y="2981483"/>
            <a:ext cx="2717852" cy="3551850"/>
          </a:xfrm>
          <a:custGeom>
            <a:avLst/>
            <a:gdLst/>
            <a:ahLst/>
            <a:cxnLst/>
            <a:rect l="l" t="t" r="r" b="b"/>
            <a:pathLst>
              <a:path w="2717852" h="3551850">
                <a:moveTo>
                  <a:pt x="0" y="0"/>
                </a:moveTo>
                <a:lnTo>
                  <a:pt x="2717852" y="0"/>
                </a:lnTo>
                <a:lnTo>
                  <a:pt x="2717852" y="3551849"/>
                </a:lnTo>
                <a:lnTo>
                  <a:pt x="0" y="3551849"/>
                </a:lnTo>
                <a:lnTo>
                  <a:pt x="0" y="0"/>
                </a:lnTo>
                <a:close/>
              </a:path>
            </a:pathLst>
          </a:custGeom>
          <a:blipFill>
            <a:blip r:embed="rId2"/>
            <a:stretch>
              <a:fillRect/>
            </a:stretch>
          </a:blipFill>
        </p:spPr>
      </p:sp>
      <p:sp>
        <p:nvSpPr>
          <p:cNvPr id="10" name="Freeform 10"/>
          <p:cNvSpPr/>
          <p:nvPr/>
        </p:nvSpPr>
        <p:spPr>
          <a:xfrm>
            <a:off x="5133182" y="2981483"/>
            <a:ext cx="2741261" cy="3551850"/>
          </a:xfrm>
          <a:custGeom>
            <a:avLst/>
            <a:gdLst/>
            <a:ahLst/>
            <a:cxnLst/>
            <a:rect l="l" t="t" r="r" b="b"/>
            <a:pathLst>
              <a:path w="2741261" h="3551850">
                <a:moveTo>
                  <a:pt x="0" y="0"/>
                </a:moveTo>
                <a:lnTo>
                  <a:pt x="2741261" y="0"/>
                </a:lnTo>
                <a:lnTo>
                  <a:pt x="2741261" y="3551849"/>
                </a:lnTo>
                <a:lnTo>
                  <a:pt x="0" y="3551849"/>
                </a:lnTo>
                <a:lnTo>
                  <a:pt x="0" y="0"/>
                </a:lnTo>
                <a:close/>
              </a:path>
            </a:pathLst>
          </a:custGeom>
          <a:blipFill>
            <a:blip r:embed="rId3"/>
            <a:stretch>
              <a:fillRect/>
            </a:stretch>
          </a:blipFill>
        </p:spPr>
      </p:sp>
      <p:sp>
        <p:nvSpPr>
          <p:cNvPr id="11" name="Freeform 11"/>
          <p:cNvSpPr/>
          <p:nvPr/>
        </p:nvSpPr>
        <p:spPr>
          <a:xfrm>
            <a:off x="8256716" y="2981483"/>
            <a:ext cx="2744611" cy="3551850"/>
          </a:xfrm>
          <a:custGeom>
            <a:avLst/>
            <a:gdLst/>
            <a:ahLst/>
            <a:cxnLst/>
            <a:rect l="l" t="t" r="r" b="b"/>
            <a:pathLst>
              <a:path w="2744611" h="3551850">
                <a:moveTo>
                  <a:pt x="0" y="0"/>
                </a:moveTo>
                <a:lnTo>
                  <a:pt x="2744611" y="0"/>
                </a:lnTo>
                <a:lnTo>
                  <a:pt x="2744611" y="3551849"/>
                </a:lnTo>
                <a:lnTo>
                  <a:pt x="0" y="3551849"/>
                </a:lnTo>
                <a:lnTo>
                  <a:pt x="0" y="0"/>
                </a:lnTo>
                <a:close/>
              </a:path>
            </a:pathLst>
          </a:custGeom>
          <a:blipFill>
            <a:blip r:embed="rId4"/>
            <a:stretch>
              <a:fillRect/>
            </a:stretch>
          </a:blipFill>
        </p:spPr>
      </p:sp>
      <p:sp>
        <p:nvSpPr>
          <p:cNvPr id="12" name="Freeform 12"/>
          <p:cNvSpPr/>
          <p:nvPr/>
        </p:nvSpPr>
        <p:spPr>
          <a:xfrm>
            <a:off x="1993519" y="2981483"/>
            <a:ext cx="2758663" cy="3575861"/>
          </a:xfrm>
          <a:custGeom>
            <a:avLst/>
            <a:gdLst/>
            <a:ahLst/>
            <a:cxnLst/>
            <a:rect l="l" t="t" r="r" b="b"/>
            <a:pathLst>
              <a:path w="2758663" h="3575861">
                <a:moveTo>
                  <a:pt x="0" y="0"/>
                </a:moveTo>
                <a:lnTo>
                  <a:pt x="2758663" y="0"/>
                </a:lnTo>
                <a:lnTo>
                  <a:pt x="2758663" y="3575861"/>
                </a:lnTo>
                <a:lnTo>
                  <a:pt x="0" y="3575861"/>
                </a:lnTo>
                <a:lnTo>
                  <a:pt x="0" y="0"/>
                </a:lnTo>
                <a:close/>
              </a:path>
            </a:pathLst>
          </a:custGeom>
          <a:blipFill>
            <a:blip r:embed="rId5"/>
            <a:stretch>
              <a:fillRect/>
            </a:stretch>
          </a:blipFill>
        </p:spPr>
      </p:sp>
      <p:sp>
        <p:nvSpPr>
          <p:cNvPr id="13" name="Freeform 13"/>
          <p:cNvSpPr/>
          <p:nvPr/>
        </p:nvSpPr>
        <p:spPr>
          <a:xfrm>
            <a:off x="5150690" y="2981483"/>
            <a:ext cx="2786122" cy="3619448"/>
          </a:xfrm>
          <a:custGeom>
            <a:avLst/>
            <a:gdLst/>
            <a:ahLst/>
            <a:cxnLst/>
            <a:rect l="l" t="t" r="r" b="b"/>
            <a:pathLst>
              <a:path w="2786122" h="3619448">
                <a:moveTo>
                  <a:pt x="0" y="0"/>
                </a:moveTo>
                <a:lnTo>
                  <a:pt x="2786122" y="0"/>
                </a:lnTo>
                <a:lnTo>
                  <a:pt x="2786122" y="3619448"/>
                </a:lnTo>
                <a:lnTo>
                  <a:pt x="0" y="3619448"/>
                </a:lnTo>
                <a:lnTo>
                  <a:pt x="0" y="0"/>
                </a:lnTo>
                <a:close/>
              </a:path>
            </a:pathLst>
          </a:custGeom>
          <a:blipFill>
            <a:blip r:embed="rId6"/>
            <a:stretch>
              <a:fillRect/>
            </a:stretch>
          </a:blipFill>
        </p:spPr>
      </p:sp>
      <p:sp>
        <p:nvSpPr>
          <p:cNvPr id="14" name="Freeform 14"/>
          <p:cNvSpPr/>
          <p:nvPr/>
        </p:nvSpPr>
        <p:spPr>
          <a:xfrm>
            <a:off x="8256716" y="2981483"/>
            <a:ext cx="2772237" cy="3619448"/>
          </a:xfrm>
          <a:custGeom>
            <a:avLst/>
            <a:gdLst/>
            <a:ahLst/>
            <a:cxnLst/>
            <a:rect l="l" t="t" r="r" b="b"/>
            <a:pathLst>
              <a:path w="2772237" h="3619448">
                <a:moveTo>
                  <a:pt x="0" y="0"/>
                </a:moveTo>
                <a:lnTo>
                  <a:pt x="2772236" y="0"/>
                </a:lnTo>
                <a:lnTo>
                  <a:pt x="2772236" y="3619448"/>
                </a:lnTo>
                <a:lnTo>
                  <a:pt x="0" y="3619448"/>
                </a:lnTo>
                <a:lnTo>
                  <a:pt x="0" y="0"/>
                </a:lnTo>
                <a:close/>
              </a:path>
            </a:pathLst>
          </a:custGeom>
          <a:blipFill>
            <a:blip r:embed="rId7"/>
            <a:stretch>
              <a:fillRect/>
            </a:stretch>
          </a:blipFill>
        </p:spPr>
      </p:sp>
      <p:sp>
        <p:nvSpPr>
          <p:cNvPr id="15" name="Freeform 15"/>
          <p:cNvSpPr/>
          <p:nvPr/>
        </p:nvSpPr>
        <p:spPr>
          <a:xfrm>
            <a:off x="11352802" y="2981483"/>
            <a:ext cx="2840262" cy="3619448"/>
          </a:xfrm>
          <a:custGeom>
            <a:avLst/>
            <a:gdLst/>
            <a:ahLst/>
            <a:cxnLst/>
            <a:rect l="l" t="t" r="r" b="b"/>
            <a:pathLst>
              <a:path w="2840262" h="3619448">
                <a:moveTo>
                  <a:pt x="0" y="0"/>
                </a:moveTo>
                <a:lnTo>
                  <a:pt x="2840262" y="0"/>
                </a:lnTo>
                <a:lnTo>
                  <a:pt x="2840262" y="3619448"/>
                </a:lnTo>
                <a:lnTo>
                  <a:pt x="0" y="3619448"/>
                </a:lnTo>
                <a:lnTo>
                  <a:pt x="0" y="0"/>
                </a:lnTo>
                <a:close/>
              </a:path>
            </a:pathLst>
          </a:custGeom>
          <a:blipFill>
            <a:blip r:embed="rId8"/>
            <a:stretch>
              <a:fillRect/>
            </a:stretch>
          </a:blipFill>
        </p:spPr>
      </p:sp>
      <p:sp>
        <p:nvSpPr>
          <p:cNvPr id="16" name="TextBox 16"/>
          <p:cNvSpPr txBox="1"/>
          <p:nvPr/>
        </p:nvSpPr>
        <p:spPr>
          <a:xfrm>
            <a:off x="1993519" y="1888817"/>
            <a:ext cx="6848808" cy="821055"/>
          </a:xfrm>
          <a:prstGeom prst="rect">
            <a:avLst/>
          </a:prstGeom>
        </p:spPr>
        <p:txBody>
          <a:bodyPr lIns="0" tIns="0" rIns="0" bIns="0" rtlCol="0" anchor="t">
            <a:spAutoFit/>
          </a:bodyPr>
          <a:lstStyle/>
          <a:p>
            <a:pPr algn="l">
              <a:lnSpc>
                <a:spcPts val="6719"/>
              </a:lnSpc>
            </a:pPr>
            <a:r>
              <a:rPr lang="en-US" sz="4800" b="1">
                <a:solidFill>
                  <a:srgbClr val="2D2D2D"/>
                </a:solidFill>
                <a:latin typeface="Fraunces Heavy"/>
                <a:ea typeface="Fraunces Heavy"/>
                <a:cs typeface="Fraunces Heavy"/>
                <a:sym typeface="Fraunces Heavy"/>
              </a:rPr>
              <a:t>Gesture Playground</a:t>
            </a:r>
          </a:p>
        </p:txBody>
      </p:sp>
      <p:sp>
        <p:nvSpPr>
          <p:cNvPr id="17" name="TextBox 17"/>
          <p:cNvSpPr txBox="1"/>
          <p:nvPr/>
        </p:nvSpPr>
        <p:spPr>
          <a:xfrm>
            <a:off x="2505583" y="6610303"/>
            <a:ext cx="1693724" cy="359274"/>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Tampilan awal</a:t>
            </a:r>
          </a:p>
        </p:txBody>
      </p:sp>
      <p:sp>
        <p:nvSpPr>
          <p:cNvPr id="18" name="TextBox 18"/>
          <p:cNvSpPr txBox="1"/>
          <p:nvPr/>
        </p:nvSpPr>
        <p:spPr>
          <a:xfrm>
            <a:off x="17371077" y="9465628"/>
            <a:ext cx="773608" cy="547370"/>
          </a:xfrm>
          <a:prstGeom prst="rect">
            <a:avLst/>
          </a:prstGeom>
        </p:spPr>
        <p:txBody>
          <a:bodyPr lIns="0" tIns="0" rIns="0" bIns="0" rtlCol="0" anchor="t">
            <a:spAutoFit/>
          </a:bodyPr>
          <a:lstStyle/>
          <a:p>
            <a:pPr algn="ctr">
              <a:lnSpc>
                <a:spcPts val="4480"/>
              </a:lnSpc>
            </a:pPr>
            <a:r>
              <a:rPr lang="en-US" sz="3200">
                <a:solidFill>
                  <a:srgbClr val="E0DDAA"/>
                </a:solidFill>
                <a:latin typeface="DM Sans"/>
                <a:ea typeface="DM Sans"/>
                <a:cs typeface="DM Sans"/>
                <a:sym typeface="DM Sans"/>
              </a:rPr>
              <a:t>2</a:t>
            </a:r>
          </a:p>
        </p:txBody>
      </p:sp>
      <p:sp>
        <p:nvSpPr>
          <p:cNvPr id="19" name="TextBox 19"/>
          <p:cNvSpPr txBox="1"/>
          <p:nvPr/>
        </p:nvSpPr>
        <p:spPr>
          <a:xfrm>
            <a:off x="5003048" y="6610303"/>
            <a:ext cx="3001528" cy="359274"/>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Tampilan ketika di geser</a:t>
            </a:r>
          </a:p>
        </p:txBody>
      </p:sp>
      <p:sp>
        <p:nvSpPr>
          <p:cNvPr id="20" name="TextBox 20"/>
          <p:cNvSpPr txBox="1"/>
          <p:nvPr/>
        </p:nvSpPr>
        <p:spPr>
          <a:xfrm>
            <a:off x="8342524" y="6610303"/>
            <a:ext cx="2953606" cy="359274"/>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Tampilan ketika di klik</a:t>
            </a:r>
          </a:p>
        </p:txBody>
      </p:sp>
      <p:sp>
        <p:nvSpPr>
          <p:cNvPr id="21" name="TextBox 21"/>
          <p:cNvSpPr txBox="1"/>
          <p:nvPr/>
        </p:nvSpPr>
        <p:spPr>
          <a:xfrm>
            <a:off x="1993519" y="7276133"/>
            <a:ext cx="11801300" cy="2256170"/>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Kode ini menampilkan sebuah objek interaktif di Flutter yang bisa dipindah (drag), diperbesar (zoom), dan diubah warna menggunakan berbagai gesture. Posisi diatur dengan x dan y, ukuran dengan scale, serta warna dengan color. GestureDetector digunakan untuk menangani tap, double tap, long press, dan pinch/drag, sementara Stack dan Positioned memungkinkan objek bergerak bebas di layar. Perubahan ditampilkan secara halus menggunakan AnimatedContainer dan Transform.scale. Terdapat juga tombol reset untuk mengembalikan semua ke kondisi awal.</a:t>
            </a:r>
          </a:p>
        </p:txBody>
      </p:sp>
      <p:sp>
        <p:nvSpPr>
          <p:cNvPr id="22" name="TextBox 22"/>
          <p:cNvSpPr txBox="1"/>
          <p:nvPr/>
        </p:nvSpPr>
        <p:spPr>
          <a:xfrm>
            <a:off x="11296130" y="6610303"/>
            <a:ext cx="2953606" cy="359274"/>
          </a:xfrm>
          <a:prstGeom prst="rect">
            <a:avLst/>
          </a:prstGeom>
        </p:spPr>
        <p:txBody>
          <a:bodyPr lIns="0" tIns="0" rIns="0" bIns="0" rtlCol="0" anchor="t">
            <a:spAutoFit/>
          </a:bodyPr>
          <a:lstStyle/>
          <a:p>
            <a:pPr algn="just">
              <a:lnSpc>
                <a:spcPts val="3041"/>
              </a:lnSpc>
            </a:pPr>
            <a:r>
              <a:rPr lang="en-US" sz="2027">
                <a:solidFill>
                  <a:srgbClr val="2D2D2D"/>
                </a:solidFill>
                <a:latin typeface="DM Sans"/>
                <a:ea typeface="DM Sans"/>
                <a:cs typeface="DM Sans"/>
                <a:sym typeface="DM Sans"/>
              </a:rPr>
              <a:t>Tampilan ketika di tahan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sp>
        <p:nvSpPr>
          <p:cNvPr id="3" name="AutoShape 3"/>
          <p:cNvSpPr/>
          <p:nvPr/>
        </p:nvSpPr>
        <p:spPr>
          <a:xfrm rot="5400000">
            <a:off x="-3605352" y="5652265"/>
            <a:ext cx="9258579" cy="0"/>
          </a:xfrm>
          <a:prstGeom prst="line">
            <a:avLst/>
          </a:prstGeom>
          <a:ln w="9525" cap="flat">
            <a:solidFill>
              <a:srgbClr val="2D2D2D"/>
            </a:solidFill>
            <a:prstDash val="solid"/>
            <a:headEnd type="none" w="sm" len="sm"/>
            <a:tailEnd type="none" w="sm" len="sm"/>
          </a:ln>
        </p:spPr>
      </p:sp>
      <p:sp>
        <p:nvSpPr>
          <p:cNvPr id="4" name="AutoShape 4"/>
          <p:cNvSpPr/>
          <p:nvPr/>
        </p:nvSpPr>
        <p:spPr>
          <a:xfrm rot="-10800000">
            <a:off x="1028700" y="1008688"/>
            <a:ext cx="17259300" cy="0"/>
          </a:xfrm>
          <a:prstGeom prst="line">
            <a:avLst/>
          </a:prstGeom>
          <a:ln w="9525" cap="flat">
            <a:solidFill>
              <a:srgbClr val="2D2D2D"/>
            </a:solidFill>
            <a:prstDash val="solid"/>
            <a:headEnd type="none" w="sm" len="sm"/>
            <a:tailEnd type="none" w="sm" len="sm"/>
          </a:ln>
        </p:spPr>
      </p:sp>
      <p:sp>
        <p:nvSpPr>
          <p:cNvPr id="5" name="TextBox 5"/>
          <p:cNvSpPr txBox="1"/>
          <p:nvPr/>
        </p:nvSpPr>
        <p:spPr>
          <a:xfrm>
            <a:off x="2466956" y="4335108"/>
            <a:ext cx="11000747" cy="3204370"/>
          </a:xfrm>
          <a:prstGeom prst="rect">
            <a:avLst/>
          </a:prstGeom>
        </p:spPr>
        <p:txBody>
          <a:bodyPr lIns="0" tIns="0" rIns="0" bIns="0" rtlCol="0" anchor="t">
            <a:spAutoFit/>
          </a:bodyPr>
          <a:lstStyle/>
          <a:p>
            <a:pPr algn="ctr">
              <a:lnSpc>
                <a:spcPts val="12364"/>
              </a:lnSpc>
            </a:pPr>
            <a:r>
              <a:rPr lang="en-US" sz="12364" b="1">
                <a:solidFill>
                  <a:srgbClr val="2D2D2D"/>
                </a:solidFill>
                <a:latin typeface="Fraunces Semi-Bold"/>
                <a:ea typeface="Fraunces Semi-Bold"/>
                <a:cs typeface="Fraunces Semi-Bold"/>
                <a:sym typeface="Fraunces Semi-Bold"/>
              </a:rPr>
              <a:t>TERIMA</a:t>
            </a:r>
          </a:p>
          <a:p>
            <a:pPr algn="ctr">
              <a:lnSpc>
                <a:spcPts val="12364"/>
              </a:lnSpc>
            </a:pPr>
            <a:r>
              <a:rPr lang="en-US" sz="12364" b="1">
                <a:solidFill>
                  <a:srgbClr val="2D2D2D"/>
                </a:solidFill>
                <a:latin typeface="Fraunces Semi-Bold"/>
                <a:ea typeface="Fraunces Semi-Bold"/>
                <a:cs typeface="Fraunces Semi-Bold"/>
                <a:sym typeface="Fraunces Semi-Bold"/>
              </a:rPr>
              <a:t>KASIH</a:t>
            </a:r>
          </a:p>
        </p:txBody>
      </p:sp>
      <p:sp>
        <p:nvSpPr>
          <p:cNvPr id="6" name="Freeform 6"/>
          <p:cNvSpPr/>
          <p:nvPr/>
        </p:nvSpPr>
        <p:spPr>
          <a:xfrm rot="5400000">
            <a:off x="13507075" y="5505392"/>
            <a:ext cx="6179809" cy="3382041"/>
          </a:xfrm>
          <a:custGeom>
            <a:avLst/>
            <a:gdLst/>
            <a:ahLst/>
            <a:cxnLst/>
            <a:rect l="l" t="t" r="r" b="b"/>
            <a:pathLst>
              <a:path w="6179809" h="3382041">
                <a:moveTo>
                  <a:pt x="0" y="0"/>
                </a:moveTo>
                <a:lnTo>
                  <a:pt x="6179809" y="0"/>
                </a:lnTo>
                <a:lnTo>
                  <a:pt x="6179809" y="3382041"/>
                </a:lnTo>
                <a:lnTo>
                  <a:pt x="0" y="3382041"/>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466</Words>
  <Application>Microsoft Office PowerPoint</Application>
  <PresentationFormat>Custom</PresentationFormat>
  <Paragraphs>28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Fraunces Heavy</vt:lpstr>
      <vt:lpstr>Calibri</vt:lpstr>
      <vt:lpstr>Fraunces Semi-Bold</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Rafi Rajendranata Pidekso_E41240029_TIF GOL A_WMAF</dc:title>
  <dc:creator>Dhimas Ananta</dc:creator>
  <cp:lastModifiedBy>Dhimas Ananta</cp:lastModifiedBy>
  <cp:revision>2</cp:revision>
  <dcterms:created xsi:type="dcterms:W3CDTF">2006-08-16T00:00:00Z</dcterms:created>
  <dcterms:modified xsi:type="dcterms:W3CDTF">2026-04-01T14:08:14Z</dcterms:modified>
  <dc:identifier>DAHFm1h9uOE</dc:identifier>
</cp:coreProperties>
</file>