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Monda" charset="1" panose="02000503000000000000"/>
      <p:regular r:id="rId17"/>
    </p:embeddedFont>
    <p:embeddedFont>
      <p:font typeface="Monda Bold" charset="1" panose="0200080300000000000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7.png" Type="http://schemas.openxmlformats.org/officeDocument/2006/relationships/image"/><Relationship Id="rId8" Target="../media/image8.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9.png" Type="http://schemas.openxmlformats.org/officeDocument/2006/relationships/image"/><Relationship Id="rId8" Target="../media/image10.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1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12.png" Type="http://schemas.openxmlformats.org/officeDocument/2006/relationships/image"/><Relationship Id="rId8" Target="../media/image13.png" Type="http://schemas.openxmlformats.org/officeDocument/2006/relationships/image"/><Relationship Id="rId9" Target="../media/image14.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777" r="0" b="-777"/>
            </a:stretch>
          </a:blipFill>
        </p:spPr>
      </p:sp>
      <p:sp>
        <p:nvSpPr>
          <p:cNvPr name="Freeform 3" id="3"/>
          <p:cNvSpPr/>
          <p:nvPr/>
        </p:nvSpPr>
        <p:spPr>
          <a:xfrm flipH="true" flipV="false" rot="0">
            <a:off x="10273278" y="5039691"/>
            <a:ext cx="9295205" cy="5948931"/>
          </a:xfrm>
          <a:custGeom>
            <a:avLst/>
            <a:gdLst/>
            <a:ahLst/>
            <a:cxnLst/>
            <a:rect r="r" b="b" t="t" l="l"/>
            <a:pathLst>
              <a:path h="5948931" w="9295205">
                <a:moveTo>
                  <a:pt x="9295205" y="0"/>
                </a:moveTo>
                <a:lnTo>
                  <a:pt x="0" y="0"/>
                </a:lnTo>
                <a:lnTo>
                  <a:pt x="0" y="5948932"/>
                </a:lnTo>
                <a:lnTo>
                  <a:pt x="9295205" y="5948932"/>
                </a:lnTo>
                <a:lnTo>
                  <a:pt x="9295205"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true" rot="0">
            <a:off x="-1280483" y="-701623"/>
            <a:ext cx="9295205" cy="5948931"/>
          </a:xfrm>
          <a:custGeom>
            <a:avLst/>
            <a:gdLst/>
            <a:ahLst/>
            <a:cxnLst/>
            <a:rect r="r" b="b" t="t" l="l"/>
            <a:pathLst>
              <a:path h="5948931" w="9295205">
                <a:moveTo>
                  <a:pt x="0" y="5948932"/>
                </a:moveTo>
                <a:lnTo>
                  <a:pt x="9295205" y="5948932"/>
                </a:lnTo>
                <a:lnTo>
                  <a:pt x="9295205" y="0"/>
                </a:lnTo>
                <a:lnTo>
                  <a:pt x="0" y="0"/>
                </a:lnTo>
                <a:lnTo>
                  <a:pt x="0" y="5948932"/>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4790631" y="-3420266"/>
            <a:ext cx="5568589" cy="7775011"/>
          </a:xfrm>
          <a:custGeom>
            <a:avLst/>
            <a:gdLst/>
            <a:ahLst/>
            <a:cxnLst/>
            <a:rect r="r" b="b" t="t" l="l"/>
            <a:pathLst>
              <a:path h="7775011" w="5568589">
                <a:moveTo>
                  <a:pt x="0" y="0"/>
                </a:moveTo>
                <a:lnTo>
                  <a:pt x="5568589" y="0"/>
                </a:lnTo>
                <a:lnTo>
                  <a:pt x="5568589" y="7775011"/>
                </a:lnTo>
                <a:lnTo>
                  <a:pt x="0" y="777501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646086" y="6399494"/>
            <a:ext cx="5568589" cy="7775011"/>
          </a:xfrm>
          <a:custGeom>
            <a:avLst/>
            <a:gdLst/>
            <a:ahLst/>
            <a:cxnLst/>
            <a:rect r="r" b="b" t="t" l="l"/>
            <a:pathLst>
              <a:path h="7775011" w="5568589">
                <a:moveTo>
                  <a:pt x="0" y="0"/>
                </a:moveTo>
                <a:lnTo>
                  <a:pt x="5568589" y="0"/>
                </a:lnTo>
                <a:lnTo>
                  <a:pt x="5568589" y="7775012"/>
                </a:lnTo>
                <a:lnTo>
                  <a:pt x="0" y="777501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5385527" y="3425411"/>
            <a:ext cx="7516946" cy="929334"/>
          </a:xfrm>
          <a:prstGeom prst="rect">
            <a:avLst/>
          </a:prstGeom>
        </p:spPr>
        <p:txBody>
          <a:bodyPr anchor="t" rtlCol="false" tIns="0" lIns="0" bIns="0" rIns="0">
            <a:spAutoFit/>
          </a:bodyPr>
          <a:lstStyle/>
          <a:p>
            <a:pPr algn="ctr">
              <a:lnSpc>
                <a:spcPts val="7623"/>
              </a:lnSpc>
            </a:pPr>
            <a:r>
              <a:rPr lang="en-US" sz="5445">
                <a:solidFill>
                  <a:srgbClr val="002B58"/>
                </a:solidFill>
                <a:latin typeface="Monda"/>
                <a:ea typeface="Monda"/>
                <a:cs typeface="Monda"/>
                <a:sym typeface="Monda"/>
              </a:rPr>
              <a:t>Laporan Gesture Lab</a:t>
            </a:r>
          </a:p>
        </p:txBody>
      </p:sp>
      <p:sp>
        <p:nvSpPr>
          <p:cNvPr name="TextBox 8" id="8"/>
          <p:cNvSpPr txBox="true"/>
          <p:nvPr/>
        </p:nvSpPr>
        <p:spPr>
          <a:xfrm rot="0">
            <a:off x="2885463" y="1287903"/>
            <a:ext cx="12517074" cy="2242283"/>
          </a:xfrm>
          <a:prstGeom prst="rect">
            <a:avLst/>
          </a:prstGeom>
        </p:spPr>
        <p:txBody>
          <a:bodyPr anchor="t" rtlCol="false" tIns="0" lIns="0" bIns="0" rIns="0">
            <a:spAutoFit/>
          </a:bodyPr>
          <a:lstStyle/>
          <a:p>
            <a:pPr algn="ctr">
              <a:lnSpc>
                <a:spcPts val="9020"/>
              </a:lnSpc>
            </a:pPr>
            <a:r>
              <a:rPr lang="en-US" b="true" sz="6443">
                <a:solidFill>
                  <a:srgbClr val="002B58"/>
                </a:solidFill>
                <a:latin typeface="Monda Bold"/>
                <a:ea typeface="Monda Bold"/>
                <a:cs typeface="Monda Bold"/>
                <a:sym typeface="Monda Bold"/>
              </a:rPr>
              <a:t>WORKSHOP MOBILE APPLICATION FRAMEWORK</a:t>
            </a:r>
          </a:p>
        </p:txBody>
      </p:sp>
      <p:sp>
        <p:nvSpPr>
          <p:cNvPr name="TextBox 9" id="9"/>
          <p:cNvSpPr txBox="true"/>
          <p:nvPr/>
        </p:nvSpPr>
        <p:spPr>
          <a:xfrm rot="0">
            <a:off x="1793652" y="7966532"/>
            <a:ext cx="4217118" cy="1313836"/>
          </a:xfrm>
          <a:prstGeom prst="rect">
            <a:avLst/>
          </a:prstGeom>
        </p:spPr>
        <p:txBody>
          <a:bodyPr anchor="t" rtlCol="false" tIns="0" lIns="0" bIns="0" rIns="0">
            <a:spAutoFit/>
          </a:bodyPr>
          <a:lstStyle/>
          <a:p>
            <a:pPr algn="l">
              <a:lnSpc>
                <a:spcPts val="3512"/>
              </a:lnSpc>
            </a:pPr>
            <a:r>
              <a:rPr lang="en-US" sz="2509">
                <a:solidFill>
                  <a:srgbClr val="002B58"/>
                </a:solidFill>
                <a:latin typeface="Monda"/>
                <a:ea typeface="Monda"/>
                <a:cs typeface="Monda"/>
                <a:sym typeface="Monda"/>
              </a:rPr>
              <a:t>Fahmi Achmad Syahdan</a:t>
            </a:r>
          </a:p>
          <a:p>
            <a:pPr algn="l">
              <a:lnSpc>
                <a:spcPts val="3512"/>
              </a:lnSpc>
            </a:pPr>
            <a:r>
              <a:rPr lang="en-US" sz="2509">
                <a:solidFill>
                  <a:srgbClr val="002B58"/>
                </a:solidFill>
                <a:latin typeface="Monda"/>
                <a:ea typeface="Monda"/>
                <a:cs typeface="Monda"/>
                <a:sym typeface="Monda"/>
              </a:rPr>
              <a:t>E41240345</a:t>
            </a:r>
          </a:p>
          <a:p>
            <a:pPr algn="l">
              <a:lnSpc>
                <a:spcPts val="3512"/>
              </a:lnSpc>
            </a:pPr>
            <a:r>
              <a:rPr lang="en-US" sz="2509">
                <a:solidFill>
                  <a:srgbClr val="002B58"/>
                </a:solidFill>
                <a:latin typeface="Monda"/>
                <a:ea typeface="Monda"/>
                <a:cs typeface="Monda"/>
                <a:sym typeface="Monda"/>
              </a:rPr>
              <a:t>gol A</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777" r="0" b="-777"/>
            </a:stretch>
          </a:blipFill>
        </p:spPr>
      </p:sp>
      <p:sp>
        <p:nvSpPr>
          <p:cNvPr name="Freeform 3" id="3"/>
          <p:cNvSpPr/>
          <p:nvPr/>
        </p:nvSpPr>
        <p:spPr>
          <a:xfrm flipH="true" flipV="false" rot="0">
            <a:off x="10273278" y="5039691"/>
            <a:ext cx="9295205" cy="5948931"/>
          </a:xfrm>
          <a:custGeom>
            <a:avLst/>
            <a:gdLst/>
            <a:ahLst/>
            <a:cxnLst/>
            <a:rect r="r" b="b" t="t" l="l"/>
            <a:pathLst>
              <a:path h="5948931" w="9295205">
                <a:moveTo>
                  <a:pt x="9295205" y="0"/>
                </a:moveTo>
                <a:lnTo>
                  <a:pt x="0" y="0"/>
                </a:lnTo>
                <a:lnTo>
                  <a:pt x="0" y="5948932"/>
                </a:lnTo>
                <a:lnTo>
                  <a:pt x="9295205" y="5948932"/>
                </a:lnTo>
                <a:lnTo>
                  <a:pt x="9295205"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true" rot="0">
            <a:off x="-1280483" y="-701623"/>
            <a:ext cx="9295205" cy="5948931"/>
          </a:xfrm>
          <a:custGeom>
            <a:avLst/>
            <a:gdLst/>
            <a:ahLst/>
            <a:cxnLst/>
            <a:rect r="r" b="b" t="t" l="l"/>
            <a:pathLst>
              <a:path h="5948931" w="9295205">
                <a:moveTo>
                  <a:pt x="0" y="5948932"/>
                </a:moveTo>
                <a:lnTo>
                  <a:pt x="9295205" y="5948932"/>
                </a:lnTo>
                <a:lnTo>
                  <a:pt x="9295205" y="0"/>
                </a:lnTo>
                <a:lnTo>
                  <a:pt x="0" y="0"/>
                </a:lnTo>
                <a:lnTo>
                  <a:pt x="0" y="5948932"/>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4790631" y="-3420266"/>
            <a:ext cx="5568589" cy="7775011"/>
          </a:xfrm>
          <a:custGeom>
            <a:avLst/>
            <a:gdLst/>
            <a:ahLst/>
            <a:cxnLst/>
            <a:rect r="r" b="b" t="t" l="l"/>
            <a:pathLst>
              <a:path h="7775011" w="5568589">
                <a:moveTo>
                  <a:pt x="0" y="0"/>
                </a:moveTo>
                <a:lnTo>
                  <a:pt x="5568589" y="0"/>
                </a:lnTo>
                <a:lnTo>
                  <a:pt x="5568589" y="7775011"/>
                </a:lnTo>
                <a:lnTo>
                  <a:pt x="0" y="777501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646086" y="6399494"/>
            <a:ext cx="5568589" cy="7775011"/>
          </a:xfrm>
          <a:custGeom>
            <a:avLst/>
            <a:gdLst/>
            <a:ahLst/>
            <a:cxnLst/>
            <a:rect r="r" b="b" t="t" l="l"/>
            <a:pathLst>
              <a:path h="7775011" w="5568589">
                <a:moveTo>
                  <a:pt x="0" y="0"/>
                </a:moveTo>
                <a:lnTo>
                  <a:pt x="5568589" y="0"/>
                </a:lnTo>
                <a:lnTo>
                  <a:pt x="5568589" y="7775012"/>
                </a:lnTo>
                <a:lnTo>
                  <a:pt x="0" y="777501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7522293" y="2901342"/>
            <a:ext cx="4368032" cy="6356958"/>
          </a:xfrm>
          <a:custGeom>
            <a:avLst/>
            <a:gdLst/>
            <a:ahLst/>
            <a:cxnLst/>
            <a:rect r="r" b="b" t="t" l="l"/>
            <a:pathLst>
              <a:path h="6356958" w="4368032">
                <a:moveTo>
                  <a:pt x="0" y="0"/>
                </a:moveTo>
                <a:lnTo>
                  <a:pt x="4368032" y="0"/>
                </a:lnTo>
                <a:lnTo>
                  <a:pt x="4368032" y="6356958"/>
                </a:lnTo>
                <a:lnTo>
                  <a:pt x="0" y="6356958"/>
                </a:lnTo>
                <a:lnTo>
                  <a:pt x="0" y="0"/>
                </a:lnTo>
                <a:close/>
              </a:path>
            </a:pathLst>
          </a:custGeom>
          <a:blipFill>
            <a:blip r:embed="rId7"/>
            <a:stretch>
              <a:fillRect l="0" t="0" r="-15335" b="0"/>
            </a:stretch>
          </a:blipFill>
        </p:spPr>
      </p:sp>
      <p:sp>
        <p:nvSpPr>
          <p:cNvPr name="TextBox 8" id="8"/>
          <p:cNvSpPr txBox="true"/>
          <p:nvPr/>
        </p:nvSpPr>
        <p:spPr>
          <a:xfrm rot="0">
            <a:off x="3091542" y="1971264"/>
            <a:ext cx="11699089" cy="546009"/>
          </a:xfrm>
          <a:prstGeom prst="rect">
            <a:avLst/>
          </a:prstGeom>
        </p:spPr>
        <p:txBody>
          <a:bodyPr anchor="t" rtlCol="false" tIns="0" lIns="0" bIns="0" rIns="0">
            <a:spAutoFit/>
          </a:bodyPr>
          <a:lstStyle/>
          <a:p>
            <a:pPr algn="ctr">
              <a:lnSpc>
                <a:spcPts val="4555"/>
              </a:lnSpc>
            </a:pPr>
            <a:r>
              <a:rPr lang="en-US" sz="3253">
                <a:solidFill>
                  <a:srgbClr val="002B58"/>
                </a:solidFill>
                <a:latin typeface="Monda"/>
                <a:ea typeface="Monda"/>
                <a:cs typeface="Monda"/>
                <a:sym typeface="Monda"/>
              </a:rPr>
              <a:t>Berikut beberapa tampilan dari gesture lab</a:t>
            </a:r>
          </a:p>
        </p:txBody>
      </p:sp>
      <p:sp>
        <p:nvSpPr>
          <p:cNvPr name="TextBox 9" id="9"/>
          <p:cNvSpPr txBox="true"/>
          <p:nvPr/>
        </p:nvSpPr>
        <p:spPr>
          <a:xfrm rot="0">
            <a:off x="4275318" y="503808"/>
            <a:ext cx="11179410" cy="1371231"/>
          </a:xfrm>
          <a:prstGeom prst="rect">
            <a:avLst/>
          </a:prstGeom>
        </p:spPr>
        <p:txBody>
          <a:bodyPr anchor="t" rtlCol="false" tIns="0" lIns="0" bIns="0" rIns="0">
            <a:spAutoFit/>
          </a:bodyPr>
          <a:lstStyle/>
          <a:p>
            <a:pPr algn="ctr">
              <a:lnSpc>
                <a:spcPts val="11248"/>
              </a:lnSpc>
            </a:pPr>
            <a:r>
              <a:rPr lang="en-US" b="true" sz="8034">
                <a:solidFill>
                  <a:srgbClr val="002B58"/>
                </a:solidFill>
                <a:latin typeface="Monda Bold"/>
                <a:ea typeface="Monda Bold"/>
                <a:cs typeface="Monda Bold"/>
                <a:sym typeface="Monda Bold"/>
              </a:rPr>
              <a:t>TUGAS GESTURE LAB</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777" r="0" b="-777"/>
            </a:stretch>
          </a:blipFill>
        </p:spPr>
      </p:sp>
      <p:sp>
        <p:nvSpPr>
          <p:cNvPr name="Freeform 3" id="3"/>
          <p:cNvSpPr/>
          <p:nvPr/>
        </p:nvSpPr>
        <p:spPr>
          <a:xfrm flipH="true" flipV="false" rot="0">
            <a:off x="10273278" y="5039691"/>
            <a:ext cx="9295205" cy="5948931"/>
          </a:xfrm>
          <a:custGeom>
            <a:avLst/>
            <a:gdLst/>
            <a:ahLst/>
            <a:cxnLst/>
            <a:rect r="r" b="b" t="t" l="l"/>
            <a:pathLst>
              <a:path h="5948931" w="9295205">
                <a:moveTo>
                  <a:pt x="9295205" y="0"/>
                </a:moveTo>
                <a:lnTo>
                  <a:pt x="0" y="0"/>
                </a:lnTo>
                <a:lnTo>
                  <a:pt x="0" y="5948932"/>
                </a:lnTo>
                <a:lnTo>
                  <a:pt x="9295205" y="5948932"/>
                </a:lnTo>
                <a:lnTo>
                  <a:pt x="9295205"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true" rot="0">
            <a:off x="-1280483" y="-701623"/>
            <a:ext cx="9295205" cy="5948931"/>
          </a:xfrm>
          <a:custGeom>
            <a:avLst/>
            <a:gdLst/>
            <a:ahLst/>
            <a:cxnLst/>
            <a:rect r="r" b="b" t="t" l="l"/>
            <a:pathLst>
              <a:path h="5948931" w="9295205">
                <a:moveTo>
                  <a:pt x="0" y="5948932"/>
                </a:moveTo>
                <a:lnTo>
                  <a:pt x="9295205" y="5948932"/>
                </a:lnTo>
                <a:lnTo>
                  <a:pt x="9295205" y="0"/>
                </a:lnTo>
                <a:lnTo>
                  <a:pt x="0" y="0"/>
                </a:lnTo>
                <a:lnTo>
                  <a:pt x="0" y="5948932"/>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4790631" y="-3420266"/>
            <a:ext cx="5568589" cy="7775011"/>
          </a:xfrm>
          <a:custGeom>
            <a:avLst/>
            <a:gdLst/>
            <a:ahLst/>
            <a:cxnLst/>
            <a:rect r="r" b="b" t="t" l="l"/>
            <a:pathLst>
              <a:path h="7775011" w="5568589">
                <a:moveTo>
                  <a:pt x="0" y="0"/>
                </a:moveTo>
                <a:lnTo>
                  <a:pt x="5568589" y="0"/>
                </a:lnTo>
                <a:lnTo>
                  <a:pt x="5568589" y="7775011"/>
                </a:lnTo>
                <a:lnTo>
                  <a:pt x="0" y="777501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646086" y="6399494"/>
            <a:ext cx="5568589" cy="7775011"/>
          </a:xfrm>
          <a:custGeom>
            <a:avLst/>
            <a:gdLst/>
            <a:ahLst/>
            <a:cxnLst/>
            <a:rect r="r" b="b" t="t" l="l"/>
            <a:pathLst>
              <a:path h="7775011" w="5568589">
                <a:moveTo>
                  <a:pt x="0" y="0"/>
                </a:moveTo>
                <a:lnTo>
                  <a:pt x="5568589" y="0"/>
                </a:lnTo>
                <a:lnTo>
                  <a:pt x="5568589" y="7775012"/>
                </a:lnTo>
                <a:lnTo>
                  <a:pt x="0" y="777501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3678787" y="1104206"/>
            <a:ext cx="11418645" cy="1371231"/>
          </a:xfrm>
          <a:prstGeom prst="rect">
            <a:avLst/>
          </a:prstGeom>
        </p:spPr>
        <p:txBody>
          <a:bodyPr anchor="t" rtlCol="false" tIns="0" lIns="0" bIns="0" rIns="0">
            <a:spAutoFit/>
          </a:bodyPr>
          <a:lstStyle/>
          <a:p>
            <a:pPr algn="ctr">
              <a:lnSpc>
                <a:spcPts val="11248"/>
              </a:lnSpc>
            </a:pPr>
            <a:r>
              <a:rPr lang="en-US" b="true" sz="8034">
                <a:solidFill>
                  <a:srgbClr val="002B58"/>
                </a:solidFill>
                <a:latin typeface="Monda Bold"/>
                <a:ea typeface="Monda Bold"/>
                <a:cs typeface="Monda Bold"/>
                <a:sym typeface="Monda Bold"/>
              </a:rPr>
              <a:t>TAP INTERACTION</a:t>
            </a:r>
          </a:p>
        </p:txBody>
      </p:sp>
      <p:sp>
        <p:nvSpPr>
          <p:cNvPr name="TextBox 8" id="8"/>
          <p:cNvSpPr txBox="true"/>
          <p:nvPr/>
        </p:nvSpPr>
        <p:spPr>
          <a:xfrm rot="0">
            <a:off x="2401538" y="2945216"/>
            <a:ext cx="14647071" cy="4122276"/>
          </a:xfrm>
          <a:prstGeom prst="rect">
            <a:avLst/>
          </a:prstGeom>
        </p:spPr>
        <p:txBody>
          <a:bodyPr anchor="t" rtlCol="false" tIns="0" lIns="0" bIns="0" rIns="0">
            <a:spAutoFit/>
          </a:bodyPr>
          <a:lstStyle/>
          <a:p>
            <a:pPr algn="ctr">
              <a:lnSpc>
                <a:spcPts val="4718"/>
              </a:lnSpc>
              <a:spcBef>
                <a:spcPct val="0"/>
              </a:spcBef>
            </a:pPr>
            <a:r>
              <a:rPr lang="en-US" b="true" sz="3370">
                <a:solidFill>
                  <a:srgbClr val="002B58"/>
                </a:solidFill>
                <a:latin typeface="Monda Bold"/>
                <a:ea typeface="Monda Bold"/>
                <a:cs typeface="Monda Bold"/>
                <a:sym typeface="Monda Bold"/>
              </a:rPr>
              <a:t>TAP INTERCTION ADALAH KEMAMPUAN UNTUK KEMAMPUAN UNTUK MENDETEKSI DAN MERESPONS SENTUHAN SINGKAT (TAP) PENGGUNA PADA LAYAR APLIKASI FLUTTER. INTERAKSI INI MERUPAKAN SALAH SATU GESTURE PALING DASAR DAN PALING SERING DIGUNAKAN DALAM PENGEMBANGAN APLIKASI MOBILE. PADA CONTOH INI MEMBUAT INTERAKSI BERUPA TAP MEMPEBESAR DAN MEMPERKECIL DAN MERUBAH WARNA </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777" r="0" b="-777"/>
            </a:stretch>
          </a:blipFill>
        </p:spPr>
      </p:sp>
      <p:sp>
        <p:nvSpPr>
          <p:cNvPr name="Freeform 3" id="3"/>
          <p:cNvSpPr/>
          <p:nvPr/>
        </p:nvSpPr>
        <p:spPr>
          <a:xfrm flipH="true" flipV="false" rot="0">
            <a:off x="10273278" y="5039691"/>
            <a:ext cx="9295205" cy="5948931"/>
          </a:xfrm>
          <a:custGeom>
            <a:avLst/>
            <a:gdLst/>
            <a:ahLst/>
            <a:cxnLst/>
            <a:rect r="r" b="b" t="t" l="l"/>
            <a:pathLst>
              <a:path h="5948931" w="9295205">
                <a:moveTo>
                  <a:pt x="9295205" y="0"/>
                </a:moveTo>
                <a:lnTo>
                  <a:pt x="0" y="0"/>
                </a:lnTo>
                <a:lnTo>
                  <a:pt x="0" y="5948932"/>
                </a:lnTo>
                <a:lnTo>
                  <a:pt x="9295205" y="5948932"/>
                </a:lnTo>
                <a:lnTo>
                  <a:pt x="9295205"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true" rot="0">
            <a:off x="-1280483" y="-701623"/>
            <a:ext cx="9295205" cy="5948931"/>
          </a:xfrm>
          <a:custGeom>
            <a:avLst/>
            <a:gdLst/>
            <a:ahLst/>
            <a:cxnLst/>
            <a:rect r="r" b="b" t="t" l="l"/>
            <a:pathLst>
              <a:path h="5948931" w="9295205">
                <a:moveTo>
                  <a:pt x="0" y="5948932"/>
                </a:moveTo>
                <a:lnTo>
                  <a:pt x="9295205" y="5948932"/>
                </a:lnTo>
                <a:lnTo>
                  <a:pt x="9295205" y="0"/>
                </a:lnTo>
                <a:lnTo>
                  <a:pt x="0" y="0"/>
                </a:lnTo>
                <a:lnTo>
                  <a:pt x="0" y="5948932"/>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4790631" y="-3420266"/>
            <a:ext cx="5568589" cy="7775011"/>
          </a:xfrm>
          <a:custGeom>
            <a:avLst/>
            <a:gdLst/>
            <a:ahLst/>
            <a:cxnLst/>
            <a:rect r="r" b="b" t="t" l="l"/>
            <a:pathLst>
              <a:path h="7775011" w="5568589">
                <a:moveTo>
                  <a:pt x="0" y="0"/>
                </a:moveTo>
                <a:lnTo>
                  <a:pt x="5568589" y="0"/>
                </a:lnTo>
                <a:lnTo>
                  <a:pt x="5568589" y="7775011"/>
                </a:lnTo>
                <a:lnTo>
                  <a:pt x="0" y="777501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646086" y="6399494"/>
            <a:ext cx="5568589" cy="7775011"/>
          </a:xfrm>
          <a:custGeom>
            <a:avLst/>
            <a:gdLst/>
            <a:ahLst/>
            <a:cxnLst/>
            <a:rect r="r" b="b" t="t" l="l"/>
            <a:pathLst>
              <a:path h="7775011" w="5568589">
                <a:moveTo>
                  <a:pt x="0" y="0"/>
                </a:moveTo>
                <a:lnTo>
                  <a:pt x="5568589" y="0"/>
                </a:lnTo>
                <a:lnTo>
                  <a:pt x="5568589" y="7775012"/>
                </a:lnTo>
                <a:lnTo>
                  <a:pt x="0" y="777501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288342" y="2695825"/>
            <a:ext cx="4203539" cy="6356958"/>
          </a:xfrm>
          <a:custGeom>
            <a:avLst/>
            <a:gdLst/>
            <a:ahLst/>
            <a:cxnLst/>
            <a:rect r="r" b="b" t="t" l="l"/>
            <a:pathLst>
              <a:path h="6356958" w="4203539">
                <a:moveTo>
                  <a:pt x="0" y="0"/>
                </a:moveTo>
                <a:lnTo>
                  <a:pt x="4203539" y="0"/>
                </a:lnTo>
                <a:lnTo>
                  <a:pt x="4203539" y="6356958"/>
                </a:lnTo>
                <a:lnTo>
                  <a:pt x="0" y="6356958"/>
                </a:lnTo>
                <a:lnTo>
                  <a:pt x="0" y="0"/>
                </a:lnTo>
                <a:close/>
              </a:path>
            </a:pathLst>
          </a:custGeom>
          <a:blipFill>
            <a:blip r:embed="rId7"/>
            <a:stretch>
              <a:fillRect l="0" t="0" r="0" b="0"/>
            </a:stretch>
          </a:blipFill>
        </p:spPr>
      </p:sp>
      <p:sp>
        <p:nvSpPr>
          <p:cNvPr name="Freeform 8" id="8"/>
          <p:cNvSpPr/>
          <p:nvPr/>
        </p:nvSpPr>
        <p:spPr>
          <a:xfrm flipH="false" flipV="false" rot="0">
            <a:off x="3175732" y="3579032"/>
            <a:ext cx="4306839" cy="6356958"/>
          </a:xfrm>
          <a:custGeom>
            <a:avLst/>
            <a:gdLst/>
            <a:ahLst/>
            <a:cxnLst/>
            <a:rect r="r" b="b" t="t" l="l"/>
            <a:pathLst>
              <a:path h="6356958" w="4306839">
                <a:moveTo>
                  <a:pt x="0" y="0"/>
                </a:moveTo>
                <a:lnTo>
                  <a:pt x="4306839" y="0"/>
                </a:lnTo>
                <a:lnTo>
                  <a:pt x="4306839" y="6356958"/>
                </a:lnTo>
                <a:lnTo>
                  <a:pt x="0" y="6356958"/>
                </a:lnTo>
                <a:lnTo>
                  <a:pt x="0" y="0"/>
                </a:lnTo>
                <a:close/>
              </a:path>
            </a:pathLst>
          </a:custGeom>
          <a:blipFill>
            <a:blip r:embed="rId8"/>
            <a:stretch>
              <a:fillRect l="0" t="0" r="0" b="0"/>
            </a:stretch>
          </a:blipFill>
        </p:spPr>
      </p:sp>
      <p:sp>
        <p:nvSpPr>
          <p:cNvPr name="TextBox 9" id="9"/>
          <p:cNvSpPr txBox="true"/>
          <p:nvPr/>
        </p:nvSpPr>
        <p:spPr>
          <a:xfrm rot="0">
            <a:off x="3544002" y="616434"/>
            <a:ext cx="13715298" cy="1371231"/>
          </a:xfrm>
          <a:prstGeom prst="rect">
            <a:avLst/>
          </a:prstGeom>
        </p:spPr>
        <p:txBody>
          <a:bodyPr anchor="t" rtlCol="false" tIns="0" lIns="0" bIns="0" rIns="0">
            <a:spAutoFit/>
          </a:bodyPr>
          <a:lstStyle/>
          <a:p>
            <a:pPr algn="ctr">
              <a:lnSpc>
                <a:spcPts val="11248"/>
              </a:lnSpc>
            </a:pPr>
            <a:r>
              <a:rPr lang="en-US" b="true" sz="8034">
                <a:solidFill>
                  <a:srgbClr val="002B58"/>
                </a:solidFill>
                <a:latin typeface="Monda Bold"/>
                <a:ea typeface="Monda Bold"/>
                <a:cs typeface="Monda Bold"/>
                <a:sym typeface="Monda Bold"/>
              </a:rPr>
              <a:t>HASIL TAP INTERACTION</a:t>
            </a:r>
          </a:p>
        </p:txBody>
      </p:sp>
      <p:sp>
        <p:nvSpPr>
          <p:cNvPr name="TextBox 10" id="10"/>
          <p:cNvSpPr txBox="true"/>
          <p:nvPr/>
        </p:nvSpPr>
        <p:spPr>
          <a:xfrm rot="0">
            <a:off x="7706914" y="2638675"/>
            <a:ext cx="8964278" cy="5230069"/>
          </a:xfrm>
          <a:prstGeom prst="rect">
            <a:avLst/>
          </a:prstGeom>
        </p:spPr>
        <p:txBody>
          <a:bodyPr anchor="t" rtlCol="false" tIns="0" lIns="0" bIns="0" rIns="0">
            <a:spAutoFit/>
          </a:bodyPr>
          <a:lstStyle/>
          <a:p>
            <a:pPr algn="ctr">
              <a:lnSpc>
                <a:spcPts val="3819"/>
              </a:lnSpc>
              <a:spcBef>
                <a:spcPct val="0"/>
              </a:spcBef>
            </a:pPr>
            <a:r>
              <a:rPr lang="en-US" b="true" sz="2727">
                <a:solidFill>
                  <a:srgbClr val="002B58"/>
                </a:solidFill>
                <a:latin typeface="Monda Bold"/>
                <a:ea typeface="Monda Bold"/>
                <a:cs typeface="Monda Bold"/>
                <a:sym typeface="Monda Bold"/>
              </a:rPr>
              <a:t>PADA TAMPILAN INI MEMBUAT OBJEK INTERAKTIF DI FLUTTER YANG MERESPONS BERBAGAI JENIS SENTUHAN. VARIABEL SIZE MENGATUR UKURAN DAN COLOR MENGATUR WARNA OBJEK. MELALUI GESTUREDETECTOR, TAP AKAN MEMANGGIL FUNGSI RANDOMIZE() UNTUK MENGGANTI UKURAN DAN WARNA SECARA BERGANTIAN, DOUBLE TAP MENGUBAH WARNA SEHINGGA AKAN MEMBENTUK ANIMASI BERUPA MERUBAH WARAN MEMEPEBESAR DAN MEMPERKECIL WARNA </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777" r="0" b="-777"/>
            </a:stretch>
          </a:blipFill>
        </p:spPr>
      </p:sp>
      <p:sp>
        <p:nvSpPr>
          <p:cNvPr name="Freeform 3" id="3"/>
          <p:cNvSpPr/>
          <p:nvPr/>
        </p:nvSpPr>
        <p:spPr>
          <a:xfrm flipH="true" flipV="false" rot="0">
            <a:off x="10273278" y="5039691"/>
            <a:ext cx="9295205" cy="5948931"/>
          </a:xfrm>
          <a:custGeom>
            <a:avLst/>
            <a:gdLst/>
            <a:ahLst/>
            <a:cxnLst/>
            <a:rect r="r" b="b" t="t" l="l"/>
            <a:pathLst>
              <a:path h="5948931" w="9295205">
                <a:moveTo>
                  <a:pt x="9295205" y="0"/>
                </a:moveTo>
                <a:lnTo>
                  <a:pt x="0" y="0"/>
                </a:lnTo>
                <a:lnTo>
                  <a:pt x="0" y="5948932"/>
                </a:lnTo>
                <a:lnTo>
                  <a:pt x="9295205" y="5948932"/>
                </a:lnTo>
                <a:lnTo>
                  <a:pt x="9295205"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true" rot="0">
            <a:off x="-1280483" y="-701623"/>
            <a:ext cx="9295205" cy="5948931"/>
          </a:xfrm>
          <a:custGeom>
            <a:avLst/>
            <a:gdLst/>
            <a:ahLst/>
            <a:cxnLst/>
            <a:rect r="r" b="b" t="t" l="l"/>
            <a:pathLst>
              <a:path h="5948931" w="9295205">
                <a:moveTo>
                  <a:pt x="0" y="5948932"/>
                </a:moveTo>
                <a:lnTo>
                  <a:pt x="9295205" y="5948932"/>
                </a:lnTo>
                <a:lnTo>
                  <a:pt x="9295205" y="0"/>
                </a:lnTo>
                <a:lnTo>
                  <a:pt x="0" y="0"/>
                </a:lnTo>
                <a:lnTo>
                  <a:pt x="0" y="5948932"/>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4790631" y="-3420266"/>
            <a:ext cx="5568589" cy="7775011"/>
          </a:xfrm>
          <a:custGeom>
            <a:avLst/>
            <a:gdLst/>
            <a:ahLst/>
            <a:cxnLst/>
            <a:rect r="r" b="b" t="t" l="l"/>
            <a:pathLst>
              <a:path h="7775011" w="5568589">
                <a:moveTo>
                  <a:pt x="0" y="0"/>
                </a:moveTo>
                <a:lnTo>
                  <a:pt x="5568589" y="0"/>
                </a:lnTo>
                <a:lnTo>
                  <a:pt x="5568589" y="7775011"/>
                </a:lnTo>
                <a:lnTo>
                  <a:pt x="0" y="777501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646086" y="6399494"/>
            <a:ext cx="5568589" cy="7775011"/>
          </a:xfrm>
          <a:custGeom>
            <a:avLst/>
            <a:gdLst/>
            <a:ahLst/>
            <a:cxnLst/>
            <a:rect r="r" b="b" t="t" l="l"/>
            <a:pathLst>
              <a:path h="7775011" w="5568589">
                <a:moveTo>
                  <a:pt x="0" y="0"/>
                </a:moveTo>
                <a:lnTo>
                  <a:pt x="5568589" y="0"/>
                </a:lnTo>
                <a:lnTo>
                  <a:pt x="5568589" y="7775012"/>
                </a:lnTo>
                <a:lnTo>
                  <a:pt x="0" y="777501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4307884" y="386021"/>
            <a:ext cx="9672231" cy="1371231"/>
          </a:xfrm>
          <a:prstGeom prst="rect">
            <a:avLst/>
          </a:prstGeom>
        </p:spPr>
        <p:txBody>
          <a:bodyPr anchor="t" rtlCol="false" tIns="0" lIns="0" bIns="0" rIns="0">
            <a:spAutoFit/>
          </a:bodyPr>
          <a:lstStyle/>
          <a:p>
            <a:pPr algn="ctr">
              <a:lnSpc>
                <a:spcPts val="11248"/>
              </a:lnSpc>
            </a:pPr>
            <a:r>
              <a:rPr lang="en-US" b="true" sz="8034">
                <a:solidFill>
                  <a:srgbClr val="002B58"/>
                </a:solidFill>
                <a:latin typeface="Monda Bold"/>
                <a:ea typeface="Monda Bold"/>
                <a:cs typeface="Monda Bold"/>
                <a:sym typeface="Monda Bold"/>
              </a:rPr>
              <a:t>DRAG MOVEMENT </a:t>
            </a:r>
          </a:p>
        </p:txBody>
      </p:sp>
      <p:sp>
        <p:nvSpPr>
          <p:cNvPr name="TextBox 8" id="8"/>
          <p:cNvSpPr txBox="true"/>
          <p:nvPr/>
        </p:nvSpPr>
        <p:spPr>
          <a:xfrm rot="0">
            <a:off x="3816927" y="2215693"/>
            <a:ext cx="12137402" cy="4546509"/>
          </a:xfrm>
          <a:prstGeom prst="rect">
            <a:avLst/>
          </a:prstGeom>
        </p:spPr>
        <p:txBody>
          <a:bodyPr anchor="t" rtlCol="false" tIns="0" lIns="0" bIns="0" rIns="0">
            <a:spAutoFit/>
          </a:bodyPr>
          <a:lstStyle/>
          <a:p>
            <a:pPr algn="l">
              <a:lnSpc>
                <a:spcPts val="4555"/>
              </a:lnSpc>
            </a:pPr>
            <a:r>
              <a:rPr lang="en-US" sz="3253">
                <a:solidFill>
                  <a:srgbClr val="002B58"/>
                </a:solidFill>
                <a:latin typeface="Monda"/>
                <a:ea typeface="Monda"/>
                <a:cs typeface="Monda"/>
                <a:sym typeface="Monda"/>
              </a:rPr>
              <a:t>Drag Movement merupakan kemampuan untuk mendeteksi  pergerakan jari pengguna saat menggerakan jari di layar aplikasi Flutter. Berbeda dengan tap yang hanya mendeteksi sentuhan singkat, drag movement melacak pergerakan jari, memungkinkan widget untuk berpindah posisi mengikuti arah dan jarak pergerakan jari tersebut. Sehingga dapat memindahakan suatu obyek di fluttet</a:t>
            </a:r>
          </a:p>
          <a:p>
            <a:pPr algn="l">
              <a:lnSpc>
                <a:spcPts val="4555"/>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777" r="0" b="-777"/>
            </a:stretch>
          </a:blipFill>
        </p:spPr>
      </p:sp>
      <p:sp>
        <p:nvSpPr>
          <p:cNvPr name="Freeform 3" id="3"/>
          <p:cNvSpPr/>
          <p:nvPr/>
        </p:nvSpPr>
        <p:spPr>
          <a:xfrm flipH="true" flipV="false" rot="0">
            <a:off x="10273278" y="5039691"/>
            <a:ext cx="9295205" cy="5948931"/>
          </a:xfrm>
          <a:custGeom>
            <a:avLst/>
            <a:gdLst/>
            <a:ahLst/>
            <a:cxnLst/>
            <a:rect r="r" b="b" t="t" l="l"/>
            <a:pathLst>
              <a:path h="5948931" w="9295205">
                <a:moveTo>
                  <a:pt x="9295205" y="0"/>
                </a:moveTo>
                <a:lnTo>
                  <a:pt x="0" y="0"/>
                </a:lnTo>
                <a:lnTo>
                  <a:pt x="0" y="5948932"/>
                </a:lnTo>
                <a:lnTo>
                  <a:pt x="9295205" y="5948932"/>
                </a:lnTo>
                <a:lnTo>
                  <a:pt x="9295205"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true" rot="0">
            <a:off x="-1280483" y="-701623"/>
            <a:ext cx="9295205" cy="5948931"/>
          </a:xfrm>
          <a:custGeom>
            <a:avLst/>
            <a:gdLst/>
            <a:ahLst/>
            <a:cxnLst/>
            <a:rect r="r" b="b" t="t" l="l"/>
            <a:pathLst>
              <a:path h="5948931" w="9295205">
                <a:moveTo>
                  <a:pt x="0" y="5948932"/>
                </a:moveTo>
                <a:lnTo>
                  <a:pt x="9295205" y="5948932"/>
                </a:lnTo>
                <a:lnTo>
                  <a:pt x="9295205" y="0"/>
                </a:lnTo>
                <a:lnTo>
                  <a:pt x="0" y="0"/>
                </a:lnTo>
                <a:lnTo>
                  <a:pt x="0" y="5948932"/>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4790631" y="-3420266"/>
            <a:ext cx="5568589" cy="7775011"/>
          </a:xfrm>
          <a:custGeom>
            <a:avLst/>
            <a:gdLst/>
            <a:ahLst/>
            <a:cxnLst/>
            <a:rect r="r" b="b" t="t" l="l"/>
            <a:pathLst>
              <a:path h="7775011" w="5568589">
                <a:moveTo>
                  <a:pt x="0" y="0"/>
                </a:moveTo>
                <a:lnTo>
                  <a:pt x="5568589" y="0"/>
                </a:lnTo>
                <a:lnTo>
                  <a:pt x="5568589" y="7775011"/>
                </a:lnTo>
                <a:lnTo>
                  <a:pt x="0" y="777501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646086" y="6399494"/>
            <a:ext cx="5568589" cy="7775011"/>
          </a:xfrm>
          <a:custGeom>
            <a:avLst/>
            <a:gdLst/>
            <a:ahLst/>
            <a:cxnLst/>
            <a:rect r="r" b="b" t="t" l="l"/>
            <a:pathLst>
              <a:path h="7775011" w="5568589">
                <a:moveTo>
                  <a:pt x="0" y="0"/>
                </a:moveTo>
                <a:lnTo>
                  <a:pt x="5568589" y="0"/>
                </a:lnTo>
                <a:lnTo>
                  <a:pt x="5568589" y="7775012"/>
                </a:lnTo>
                <a:lnTo>
                  <a:pt x="0" y="777501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631557" y="1861212"/>
            <a:ext cx="4290947" cy="6356958"/>
          </a:xfrm>
          <a:custGeom>
            <a:avLst/>
            <a:gdLst/>
            <a:ahLst/>
            <a:cxnLst/>
            <a:rect r="r" b="b" t="t" l="l"/>
            <a:pathLst>
              <a:path h="6356958" w="4290947">
                <a:moveTo>
                  <a:pt x="0" y="0"/>
                </a:moveTo>
                <a:lnTo>
                  <a:pt x="4290946" y="0"/>
                </a:lnTo>
                <a:lnTo>
                  <a:pt x="4290946" y="6356958"/>
                </a:lnTo>
                <a:lnTo>
                  <a:pt x="0" y="6356958"/>
                </a:lnTo>
                <a:lnTo>
                  <a:pt x="0" y="0"/>
                </a:lnTo>
                <a:close/>
              </a:path>
            </a:pathLst>
          </a:custGeom>
          <a:blipFill>
            <a:blip r:embed="rId7"/>
            <a:stretch>
              <a:fillRect l="0" t="0" r="0" b="0"/>
            </a:stretch>
          </a:blipFill>
        </p:spPr>
      </p:sp>
      <p:sp>
        <p:nvSpPr>
          <p:cNvPr name="Freeform 8" id="8"/>
          <p:cNvSpPr/>
          <p:nvPr/>
        </p:nvSpPr>
        <p:spPr>
          <a:xfrm flipH="false" flipV="false" rot="0">
            <a:off x="2138209" y="3735358"/>
            <a:ext cx="4259162" cy="6356958"/>
          </a:xfrm>
          <a:custGeom>
            <a:avLst/>
            <a:gdLst/>
            <a:ahLst/>
            <a:cxnLst/>
            <a:rect r="r" b="b" t="t" l="l"/>
            <a:pathLst>
              <a:path h="6356958" w="4259162">
                <a:moveTo>
                  <a:pt x="0" y="0"/>
                </a:moveTo>
                <a:lnTo>
                  <a:pt x="4259162" y="0"/>
                </a:lnTo>
                <a:lnTo>
                  <a:pt x="4259162" y="6356958"/>
                </a:lnTo>
                <a:lnTo>
                  <a:pt x="0" y="6356958"/>
                </a:lnTo>
                <a:lnTo>
                  <a:pt x="0" y="0"/>
                </a:lnTo>
                <a:close/>
              </a:path>
            </a:pathLst>
          </a:custGeom>
          <a:blipFill>
            <a:blip r:embed="rId8"/>
            <a:stretch>
              <a:fillRect l="0" t="0" r="0" b="0"/>
            </a:stretch>
          </a:blipFill>
        </p:spPr>
      </p:sp>
      <p:sp>
        <p:nvSpPr>
          <p:cNvPr name="TextBox 9" id="9"/>
          <p:cNvSpPr txBox="true"/>
          <p:nvPr/>
        </p:nvSpPr>
        <p:spPr>
          <a:xfrm rot="0">
            <a:off x="3835704" y="324364"/>
            <a:ext cx="13739222" cy="1301494"/>
          </a:xfrm>
          <a:prstGeom prst="rect">
            <a:avLst/>
          </a:prstGeom>
        </p:spPr>
        <p:txBody>
          <a:bodyPr anchor="t" rtlCol="false" tIns="0" lIns="0" bIns="0" rIns="0">
            <a:spAutoFit/>
          </a:bodyPr>
          <a:lstStyle/>
          <a:p>
            <a:pPr algn="ctr">
              <a:lnSpc>
                <a:spcPts val="10689"/>
              </a:lnSpc>
            </a:pPr>
            <a:r>
              <a:rPr lang="en-US" b="true" sz="7635">
                <a:solidFill>
                  <a:srgbClr val="002B58"/>
                </a:solidFill>
                <a:latin typeface="Monda Bold"/>
                <a:ea typeface="Monda Bold"/>
                <a:cs typeface="Monda Bold"/>
                <a:sym typeface="Monda Bold"/>
              </a:rPr>
              <a:t>HASIL DRAG MOVEMENT</a:t>
            </a:r>
          </a:p>
        </p:txBody>
      </p:sp>
      <p:sp>
        <p:nvSpPr>
          <p:cNvPr name="TextBox 10" id="10"/>
          <p:cNvSpPr txBox="true"/>
          <p:nvPr/>
        </p:nvSpPr>
        <p:spPr>
          <a:xfrm rot="0">
            <a:off x="7340230" y="2071590"/>
            <a:ext cx="7981268" cy="3975009"/>
          </a:xfrm>
          <a:prstGeom prst="rect">
            <a:avLst/>
          </a:prstGeom>
        </p:spPr>
        <p:txBody>
          <a:bodyPr anchor="t" rtlCol="false" tIns="0" lIns="0" bIns="0" rIns="0">
            <a:spAutoFit/>
          </a:bodyPr>
          <a:lstStyle/>
          <a:p>
            <a:pPr algn="l">
              <a:lnSpc>
                <a:spcPts val="4555"/>
              </a:lnSpc>
            </a:pPr>
            <a:r>
              <a:rPr lang="en-US" sz="3253">
                <a:solidFill>
                  <a:srgbClr val="002B58"/>
                </a:solidFill>
                <a:latin typeface="Monda"/>
                <a:ea typeface="Monda"/>
                <a:cs typeface="Monda"/>
                <a:sym typeface="Monda"/>
              </a:rPr>
              <a:t>Pada hasil ini memindahkan suatu objek dengan sentuhan langsung dari jari. sehingga mendeteksi gerakan pengguna, digunakan GestureDetector dengan event onPanUpdate, yang akan memperbarui nilai posisi berdasarkan pergerakan jari (</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777" r="0" b="-777"/>
            </a:stretch>
          </a:blipFill>
        </p:spPr>
      </p:sp>
      <p:sp>
        <p:nvSpPr>
          <p:cNvPr name="Freeform 3" id="3"/>
          <p:cNvSpPr/>
          <p:nvPr/>
        </p:nvSpPr>
        <p:spPr>
          <a:xfrm flipH="true" flipV="false" rot="0">
            <a:off x="10273278" y="5039691"/>
            <a:ext cx="9295205" cy="5948931"/>
          </a:xfrm>
          <a:custGeom>
            <a:avLst/>
            <a:gdLst/>
            <a:ahLst/>
            <a:cxnLst/>
            <a:rect r="r" b="b" t="t" l="l"/>
            <a:pathLst>
              <a:path h="5948931" w="9295205">
                <a:moveTo>
                  <a:pt x="9295205" y="0"/>
                </a:moveTo>
                <a:lnTo>
                  <a:pt x="0" y="0"/>
                </a:lnTo>
                <a:lnTo>
                  <a:pt x="0" y="5948932"/>
                </a:lnTo>
                <a:lnTo>
                  <a:pt x="9295205" y="5948932"/>
                </a:lnTo>
                <a:lnTo>
                  <a:pt x="9295205"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true" rot="0">
            <a:off x="-1280483" y="-701623"/>
            <a:ext cx="9295205" cy="5948931"/>
          </a:xfrm>
          <a:custGeom>
            <a:avLst/>
            <a:gdLst/>
            <a:ahLst/>
            <a:cxnLst/>
            <a:rect r="r" b="b" t="t" l="l"/>
            <a:pathLst>
              <a:path h="5948931" w="9295205">
                <a:moveTo>
                  <a:pt x="0" y="5948932"/>
                </a:moveTo>
                <a:lnTo>
                  <a:pt x="9295205" y="5948932"/>
                </a:lnTo>
                <a:lnTo>
                  <a:pt x="9295205" y="0"/>
                </a:lnTo>
                <a:lnTo>
                  <a:pt x="0" y="0"/>
                </a:lnTo>
                <a:lnTo>
                  <a:pt x="0" y="5948932"/>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4790631" y="-3420266"/>
            <a:ext cx="5568589" cy="7775011"/>
          </a:xfrm>
          <a:custGeom>
            <a:avLst/>
            <a:gdLst/>
            <a:ahLst/>
            <a:cxnLst/>
            <a:rect r="r" b="b" t="t" l="l"/>
            <a:pathLst>
              <a:path h="7775011" w="5568589">
                <a:moveTo>
                  <a:pt x="0" y="0"/>
                </a:moveTo>
                <a:lnTo>
                  <a:pt x="5568589" y="0"/>
                </a:lnTo>
                <a:lnTo>
                  <a:pt x="5568589" y="7775011"/>
                </a:lnTo>
                <a:lnTo>
                  <a:pt x="0" y="777501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646086" y="6399494"/>
            <a:ext cx="5568589" cy="7775011"/>
          </a:xfrm>
          <a:custGeom>
            <a:avLst/>
            <a:gdLst/>
            <a:ahLst/>
            <a:cxnLst/>
            <a:rect r="r" b="b" t="t" l="l"/>
            <a:pathLst>
              <a:path h="7775011" w="5568589">
                <a:moveTo>
                  <a:pt x="0" y="0"/>
                </a:moveTo>
                <a:lnTo>
                  <a:pt x="5568589" y="0"/>
                </a:lnTo>
                <a:lnTo>
                  <a:pt x="5568589" y="7775012"/>
                </a:lnTo>
                <a:lnTo>
                  <a:pt x="0" y="777501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3127885" y="2528011"/>
            <a:ext cx="12988527" cy="3916062"/>
          </a:xfrm>
          <a:prstGeom prst="rect">
            <a:avLst/>
          </a:prstGeom>
        </p:spPr>
        <p:txBody>
          <a:bodyPr anchor="t" rtlCol="false" tIns="0" lIns="0" bIns="0" rIns="0">
            <a:spAutoFit/>
          </a:bodyPr>
          <a:lstStyle/>
          <a:p>
            <a:pPr algn="just">
              <a:lnSpc>
                <a:spcPts val="5179"/>
              </a:lnSpc>
            </a:pPr>
            <a:r>
              <a:rPr lang="en-US" sz="3699">
                <a:solidFill>
                  <a:srgbClr val="002B58"/>
                </a:solidFill>
                <a:latin typeface="Monda"/>
                <a:ea typeface="Monda"/>
                <a:cs typeface="Monda"/>
                <a:sym typeface="Monda"/>
              </a:rPr>
              <a:t>Scale &amp; Zoom adalah kemampuan untuk mendeteksi dan merespons geraka pada layar, yang memungkinkan pengguna untuk memperbesar atau memperkecil ukuran suatu widget secara interaktif.  sehingga dapat memprmudah gerakan jari zaat mempebesar suatu obyek atau pun memperkecil suatu obyek dengan mudah </a:t>
            </a:r>
          </a:p>
        </p:txBody>
      </p:sp>
      <p:sp>
        <p:nvSpPr>
          <p:cNvPr name="TextBox 8" id="8"/>
          <p:cNvSpPr txBox="true"/>
          <p:nvPr/>
        </p:nvSpPr>
        <p:spPr>
          <a:xfrm rot="0">
            <a:off x="4523196" y="266884"/>
            <a:ext cx="9672231" cy="1371231"/>
          </a:xfrm>
          <a:prstGeom prst="rect">
            <a:avLst/>
          </a:prstGeom>
        </p:spPr>
        <p:txBody>
          <a:bodyPr anchor="t" rtlCol="false" tIns="0" lIns="0" bIns="0" rIns="0">
            <a:spAutoFit/>
          </a:bodyPr>
          <a:lstStyle/>
          <a:p>
            <a:pPr algn="ctr">
              <a:lnSpc>
                <a:spcPts val="11248"/>
              </a:lnSpc>
            </a:pPr>
            <a:r>
              <a:rPr lang="en-US" b="true" sz="8034">
                <a:solidFill>
                  <a:srgbClr val="002B58"/>
                </a:solidFill>
                <a:latin typeface="Monda Bold"/>
                <a:ea typeface="Monda Bold"/>
                <a:cs typeface="Monda Bold"/>
                <a:sym typeface="Monda Bold"/>
              </a:rPr>
              <a:t>SCALE &amp; ZOOM</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777" r="0" b="-777"/>
            </a:stretch>
          </a:blipFill>
        </p:spPr>
      </p:sp>
      <p:sp>
        <p:nvSpPr>
          <p:cNvPr name="Freeform 3" id="3"/>
          <p:cNvSpPr/>
          <p:nvPr/>
        </p:nvSpPr>
        <p:spPr>
          <a:xfrm flipH="true" flipV="false" rot="0">
            <a:off x="10273278" y="5039691"/>
            <a:ext cx="9295205" cy="5948931"/>
          </a:xfrm>
          <a:custGeom>
            <a:avLst/>
            <a:gdLst/>
            <a:ahLst/>
            <a:cxnLst/>
            <a:rect r="r" b="b" t="t" l="l"/>
            <a:pathLst>
              <a:path h="5948931" w="9295205">
                <a:moveTo>
                  <a:pt x="9295205" y="0"/>
                </a:moveTo>
                <a:lnTo>
                  <a:pt x="0" y="0"/>
                </a:lnTo>
                <a:lnTo>
                  <a:pt x="0" y="5948932"/>
                </a:lnTo>
                <a:lnTo>
                  <a:pt x="9295205" y="5948932"/>
                </a:lnTo>
                <a:lnTo>
                  <a:pt x="9295205"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true" rot="0">
            <a:off x="-1280483" y="-701623"/>
            <a:ext cx="9295205" cy="5948931"/>
          </a:xfrm>
          <a:custGeom>
            <a:avLst/>
            <a:gdLst/>
            <a:ahLst/>
            <a:cxnLst/>
            <a:rect r="r" b="b" t="t" l="l"/>
            <a:pathLst>
              <a:path h="5948931" w="9295205">
                <a:moveTo>
                  <a:pt x="0" y="5948932"/>
                </a:moveTo>
                <a:lnTo>
                  <a:pt x="9295205" y="5948932"/>
                </a:lnTo>
                <a:lnTo>
                  <a:pt x="9295205" y="0"/>
                </a:lnTo>
                <a:lnTo>
                  <a:pt x="0" y="0"/>
                </a:lnTo>
                <a:lnTo>
                  <a:pt x="0" y="5948932"/>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4790631" y="-3420266"/>
            <a:ext cx="5568589" cy="7775011"/>
          </a:xfrm>
          <a:custGeom>
            <a:avLst/>
            <a:gdLst/>
            <a:ahLst/>
            <a:cxnLst/>
            <a:rect r="r" b="b" t="t" l="l"/>
            <a:pathLst>
              <a:path h="7775011" w="5568589">
                <a:moveTo>
                  <a:pt x="0" y="0"/>
                </a:moveTo>
                <a:lnTo>
                  <a:pt x="5568589" y="0"/>
                </a:lnTo>
                <a:lnTo>
                  <a:pt x="5568589" y="7775011"/>
                </a:lnTo>
                <a:lnTo>
                  <a:pt x="0" y="777501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646086" y="6399494"/>
            <a:ext cx="5568589" cy="7775011"/>
          </a:xfrm>
          <a:custGeom>
            <a:avLst/>
            <a:gdLst/>
            <a:ahLst/>
            <a:cxnLst/>
            <a:rect r="r" b="b" t="t" l="l"/>
            <a:pathLst>
              <a:path h="7775011" w="5568589">
                <a:moveTo>
                  <a:pt x="0" y="0"/>
                </a:moveTo>
                <a:lnTo>
                  <a:pt x="5568589" y="0"/>
                </a:lnTo>
                <a:lnTo>
                  <a:pt x="5568589" y="7775012"/>
                </a:lnTo>
                <a:lnTo>
                  <a:pt x="0" y="777501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650351" y="2272843"/>
            <a:ext cx="4020776" cy="6356958"/>
          </a:xfrm>
          <a:custGeom>
            <a:avLst/>
            <a:gdLst/>
            <a:ahLst/>
            <a:cxnLst/>
            <a:rect r="r" b="b" t="t" l="l"/>
            <a:pathLst>
              <a:path h="6356958" w="4020776">
                <a:moveTo>
                  <a:pt x="0" y="0"/>
                </a:moveTo>
                <a:lnTo>
                  <a:pt x="4020776" y="0"/>
                </a:lnTo>
                <a:lnTo>
                  <a:pt x="4020776" y="6356958"/>
                </a:lnTo>
                <a:lnTo>
                  <a:pt x="0" y="6356958"/>
                </a:lnTo>
                <a:lnTo>
                  <a:pt x="0" y="0"/>
                </a:lnTo>
                <a:close/>
              </a:path>
            </a:pathLst>
          </a:custGeom>
          <a:blipFill>
            <a:blip r:embed="rId7"/>
            <a:stretch>
              <a:fillRect l="0" t="0" r="0" b="0"/>
            </a:stretch>
          </a:blipFill>
        </p:spPr>
      </p:sp>
      <p:sp>
        <p:nvSpPr>
          <p:cNvPr name="TextBox 8" id="8"/>
          <p:cNvSpPr txBox="true"/>
          <p:nvPr/>
        </p:nvSpPr>
        <p:spPr>
          <a:xfrm rot="0">
            <a:off x="5257554" y="3090644"/>
            <a:ext cx="12001746" cy="4076364"/>
          </a:xfrm>
          <a:prstGeom prst="rect">
            <a:avLst/>
          </a:prstGeom>
        </p:spPr>
        <p:txBody>
          <a:bodyPr anchor="t" rtlCol="false" tIns="0" lIns="0" bIns="0" rIns="0">
            <a:spAutoFit/>
          </a:bodyPr>
          <a:lstStyle/>
          <a:p>
            <a:pPr algn="just">
              <a:lnSpc>
                <a:spcPts val="4672"/>
              </a:lnSpc>
            </a:pPr>
            <a:r>
              <a:rPr lang="en-US" sz="3337">
                <a:solidFill>
                  <a:srgbClr val="002B58"/>
                </a:solidFill>
                <a:latin typeface="Monda"/>
                <a:ea typeface="Monda"/>
                <a:cs typeface="Monda"/>
                <a:sym typeface="Monda"/>
              </a:rPr>
              <a:t>Pada tampilan ini membuat fitur zoom dan drag interaktif pada sebuah objek di Flutter. Nilai scale digunakan untuk mengatur ukuran (zoom), sedangkan position untuk menggeser posisi objek. Pengguna bisa melakukan pinch (dua jari) untuk zoom dan drag sekaligus melalui GestureDetector. Sehingga dapat mempebesar suatu obyek ataupun memperkecil suatu obyek dengan mudah</a:t>
            </a:r>
          </a:p>
        </p:txBody>
      </p:sp>
      <p:sp>
        <p:nvSpPr>
          <p:cNvPr name="TextBox 9" id="9"/>
          <p:cNvSpPr txBox="true"/>
          <p:nvPr/>
        </p:nvSpPr>
        <p:spPr>
          <a:xfrm rot="0">
            <a:off x="3294456" y="314839"/>
            <a:ext cx="12495201" cy="1371231"/>
          </a:xfrm>
          <a:prstGeom prst="rect">
            <a:avLst/>
          </a:prstGeom>
        </p:spPr>
        <p:txBody>
          <a:bodyPr anchor="t" rtlCol="false" tIns="0" lIns="0" bIns="0" rIns="0">
            <a:spAutoFit/>
          </a:bodyPr>
          <a:lstStyle/>
          <a:p>
            <a:pPr algn="ctr">
              <a:lnSpc>
                <a:spcPts val="11248"/>
              </a:lnSpc>
            </a:pPr>
            <a:r>
              <a:rPr lang="en-US" b="true" sz="8034">
                <a:solidFill>
                  <a:srgbClr val="002B58"/>
                </a:solidFill>
                <a:latin typeface="Monda Bold"/>
                <a:ea typeface="Monda Bold"/>
                <a:cs typeface="Monda Bold"/>
                <a:sym typeface="Monda Bold"/>
              </a:rPr>
              <a:t>HASIL SCALE &amp; ZOOM</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777" r="0" b="-777"/>
            </a:stretch>
          </a:blipFill>
        </p:spPr>
      </p:sp>
      <p:sp>
        <p:nvSpPr>
          <p:cNvPr name="Freeform 3" id="3"/>
          <p:cNvSpPr/>
          <p:nvPr/>
        </p:nvSpPr>
        <p:spPr>
          <a:xfrm flipH="true" flipV="false" rot="0">
            <a:off x="10273278" y="5039691"/>
            <a:ext cx="9295205" cy="5948931"/>
          </a:xfrm>
          <a:custGeom>
            <a:avLst/>
            <a:gdLst/>
            <a:ahLst/>
            <a:cxnLst/>
            <a:rect r="r" b="b" t="t" l="l"/>
            <a:pathLst>
              <a:path h="5948931" w="9295205">
                <a:moveTo>
                  <a:pt x="9295205" y="0"/>
                </a:moveTo>
                <a:lnTo>
                  <a:pt x="0" y="0"/>
                </a:lnTo>
                <a:lnTo>
                  <a:pt x="0" y="5948932"/>
                </a:lnTo>
                <a:lnTo>
                  <a:pt x="9295205" y="5948932"/>
                </a:lnTo>
                <a:lnTo>
                  <a:pt x="9295205"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true" rot="0">
            <a:off x="-1280483" y="-701623"/>
            <a:ext cx="9295205" cy="5948931"/>
          </a:xfrm>
          <a:custGeom>
            <a:avLst/>
            <a:gdLst/>
            <a:ahLst/>
            <a:cxnLst/>
            <a:rect r="r" b="b" t="t" l="l"/>
            <a:pathLst>
              <a:path h="5948931" w="9295205">
                <a:moveTo>
                  <a:pt x="0" y="5948932"/>
                </a:moveTo>
                <a:lnTo>
                  <a:pt x="9295205" y="5948932"/>
                </a:lnTo>
                <a:lnTo>
                  <a:pt x="9295205" y="0"/>
                </a:lnTo>
                <a:lnTo>
                  <a:pt x="0" y="0"/>
                </a:lnTo>
                <a:lnTo>
                  <a:pt x="0" y="5948932"/>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4790631" y="-3420266"/>
            <a:ext cx="5568589" cy="7775011"/>
          </a:xfrm>
          <a:custGeom>
            <a:avLst/>
            <a:gdLst/>
            <a:ahLst/>
            <a:cxnLst/>
            <a:rect r="r" b="b" t="t" l="l"/>
            <a:pathLst>
              <a:path h="7775011" w="5568589">
                <a:moveTo>
                  <a:pt x="0" y="0"/>
                </a:moveTo>
                <a:lnTo>
                  <a:pt x="5568589" y="0"/>
                </a:lnTo>
                <a:lnTo>
                  <a:pt x="5568589" y="7775011"/>
                </a:lnTo>
                <a:lnTo>
                  <a:pt x="0" y="777501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646086" y="6399494"/>
            <a:ext cx="5568589" cy="7775011"/>
          </a:xfrm>
          <a:custGeom>
            <a:avLst/>
            <a:gdLst/>
            <a:ahLst/>
            <a:cxnLst/>
            <a:rect r="r" b="b" t="t" l="l"/>
            <a:pathLst>
              <a:path h="7775011" w="5568589">
                <a:moveTo>
                  <a:pt x="0" y="0"/>
                </a:moveTo>
                <a:lnTo>
                  <a:pt x="5568589" y="0"/>
                </a:lnTo>
                <a:lnTo>
                  <a:pt x="5568589" y="7775012"/>
                </a:lnTo>
                <a:lnTo>
                  <a:pt x="0" y="777501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3853338" y="2022821"/>
            <a:ext cx="11699089" cy="5689509"/>
          </a:xfrm>
          <a:prstGeom prst="rect">
            <a:avLst/>
          </a:prstGeom>
        </p:spPr>
        <p:txBody>
          <a:bodyPr anchor="t" rtlCol="false" tIns="0" lIns="0" bIns="0" rIns="0">
            <a:spAutoFit/>
          </a:bodyPr>
          <a:lstStyle/>
          <a:p>
            <a:pPr algn="just">
              <a:lnSpc>
                <a:spcPts val="4555"/>
              </a:lnSpc>
            </a:pPr>
            <a:r>
              <a:rPr lang="en-US" sz="3253">
                <a:solidFill>
                  <a:srgbClr val="002B58"/>
                </a:solidFill>
                <a:latin typeface="Monda"/>
                <a:ea typeface="Monda"/>
                <a:cs typeface="Monda"/>
                <a:sym typeface="Monda"/>
              </a:rPr>
              <a:t>Gesture Playground adalah sebuah halaman atau area interaktif dalam aplikasi Flutter yang dirancang tempat eksperimen dan pembelajaran berbagai jenis gesture secara bersamaan. Konsep ini memungkinkan pengembang atau pengguna untuk menguji, membandingkan, dan memahami bagaimana berbagai gesture seperti tap, drag, scale, long press, dan double tap berinteraksi serta merespons dalam satu lingkungan terpadu. Sehingga dapat merubah warna, mempebesar memperkecil dan memindah warna.</a:t>
            </a:r>
          </a:p>
        </p:txBody>
      </p:sp>
      <p:sp>
        <p:nvSpPr>
          <p:cNvPr name="TextBox 8" id="8"/>
          <p:cNvSpPr txBox="true"/>
          <p:nvPr/>
        </p:nvSpPr>
        <p:spPr>
          <a:xfrm rot="0">
            <a:off x="4331808" y="314839"/>
            <a:ext cx="12590895" cy="1371231"/>
          </a:xfrm>
          <a:prstGeom prst="rect">
            <a:avLst/>
          </a:prstGeom>
        </p:spPr>
        <p:txBody>
          <a:bodyPr anchor="t" rtlCol="false" tIns="0" lIns="0" bIns="0" rIns="0">
            <a:spAutoFit/>
          </a:bodyPr>
          <a:lstStyle/>
          <a:p>
            <a:pPr algn="ctr">
              <a:lnSpc>
                <a:spcPts val="11248"/>
              </a:lnSpc>
            </a:pPr>
            <a:r>
              <a:rPr lang="en-US" b="true" sz="8034">
                <a:solidFill>
                  <a:srgbClr val="002B58"/>
                </a:solidFill>
                <a:latin typeface="Monda Bold"/>
                <a:ea typeface="Monda Bold"/>
                <a:cs typeface="Monda Bold"/>
                <a:sym typeface="Monda Bold"/>
              </a:rPr>
              <a:t>GESTURE PLAYGROUND</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777" r="0" b="-777"/>
            </a:stretch>
          </a:blipFill>
        </p:spPr>
      </p:sp>
      <p:sp>
        <p:nvSpPr>
          <p:cNvPr name="Freeform 3" id="3"/>
          <p:cNvSpPr/>
          <p:nvPr/>
        </p:nvSpPr>
        <p:spPr>
          <a:xfrm flipH="true" flipV="false" rot="0">
            <a:off x="10273278" y="5039691"/>
            <a:ext cx="9295205" cy="5948931"/>
          </a:xfrm>
          <a:custGeom>
            <a:avLst/>
            <a:gdLst/>
            <a:ahLst/>
            <a:cxnLst/>
            <a:rect r="r" b="b" t="t" l="l"/>
            <a:pathLst>
              <a:path h="5948931" w="9295205">
                <a:moveTo>
                  <a:pt x="9295205" y="0"/>
                </a:moveTo>
                <a:lnTo>
                  <a:pt x="0" y="0"/>
                </a:lnTo>
                <a:lnTo>
                  <a:pt x="0" y="5948932"/>
                </a:lnTo>
                <a:lnTo>
                  <a:pt x="9295205" y="5948932"/>
                </a:lnTo>
                <a:lnTo>
                  <a:pt x="9295205"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true" rot="0">
            <a:off x="-1280483" y="-701623"/>
            <a:ext cx="9295205" cy="5948931"/>
          </a:xfrm>
          <a:custGeom>
            <a:avLst/>
            <a:gdLst/>
            <a:ahLst/>
            <a:cxnLst/>
            <a:rect r="r" b="b" t="t" l="l"/>
            <a:pathLst>
              <a:path h="5948931" w="9295205">
                <a:moveTo>
                  <a:pt x="0" y="5948932"/>
                </a:moveTo>
                <a:lnTo>
                  <a:pt x="9295205" y="5948932"/>
                </a:lnTo>
                <a:lnTo>
                  <a:pt x="9295205" y="0"/>
                </a:lnTo>
                <a:lnTo>
                  <a:pt x="0" y="0"/>
                </a:lnTo>
                <a:lnTo>
                  <a:pt x="0" y="5948932"/>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4790631" y="-3420266"/>
            <a:ext cx="5568589" cy="7775011"/>
          </a:xfrm>
          <a:custGeom>
            <a:avLst/>
            <a:gdLst/>
            <a:ahLst/>
            <a:cxnLst/>
            <a:rect r="r" b="b" t="t" l="l"/>
            <a:pathLst>
              <a:path h="7775011" w="5568589">
                <a:moveTo>
                  <a:pt x="0" y="0"/>
                </a:moveTo>
                <a:lnTo>
                  <a:pt x="5568589" y="0"/>
                </a:lnTo>
                <a:lnTo>
                  <a:pt x="5568589" y="7775011"/>
                </a:lnTo>
                <a:lnTo>
                  <a:pt x="0" y="777501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646086" y="6399494"/>
            <a:ext cx="5568589" cy="7775011"/>
          </a:xfrm>
          <a:custGeom>
            <a:avLst/>
            <a:gdLst/>
            <a:ahLst/>
            <a:cxnLst/>
            <a:rect r="r" b="b" t="t" l="l"/>
            <a:pathLst>
              <a:path h="7775011" w="5568589">
                <a:moveTo>
                  <a:pt x="0" y="0"/>
                </a:moveTo>
                <a:lnTo>
                  <a:pt x="5568589" y="0"/>
                </a:lnTo>
                <a:lnTo>
                  <a:pt x="5568589" y="7775012"/>
                </a:lnTo>
                <a:lnTo>
                  <a:pt x="0" y="777501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271888" y="1176266"/>
            <a:ext cx="4203539" cy="6356958"/>
          </a:xfrm>
          <a:custGeom>
            <a:avLst/>
            <a:gdLst/>
            <a:ahLst/>
            <a:cxnLst/>
            <a:rect r="r" b="b" t="t" l="l"/>
            <a:pathLst>
              <a:path h="6356958" w="4203539">
                <a:moveTo>
                  <a:pt x="0" y="0"/>
                </a:moveTo>
                <a:lnTo>
                  <a:pt x="4203538" y="0"/>
                </a:lnTo>
                <a:lnTo>
                  <a:pt x="4203538" y="6356958"/>
                </a:lnTo>
                <a:lnTo>
                  <a:pt x="0" y="6356958"/>
                </a:lnTo>
                <a:lnTo>
                  <a:pt x="0" y="0"/>
                </a:lnTo>
                <a:close/>
              </a:path>
            </a:pathLst>
          </a:custGeom>
          <a:blipFill>
            <a:blip r:embed="rId7"/>
            <a:stretch>
              <a:fillRect l="0" t="0" r="0" b="0"/>
            </a:stretch>
          </a:blipFill>
        </p:spPr>
      </p:sp>
      <p:sp>
        <p:nvSpPr>
          <p:cNvPr name="Freeform 8" id="8"/>
          <p:cNvSpPr/>
          <p:nvPr/>
        </p:nvSpPr>
        <p:spPr>
          <a:xfrm flipH="false" flipV="false" rot="0">
            <a:off x="303673" y="4078402"/>
            <a:ext cx="4171754" cy="6356958"/>
          </a:xfrm>
          <a:custGeom>
            <a:avLst/>
            <a:gdLst/>
            <a:ahLst/>
            <a:cxnLst/>
            <a:rect r="r" b="b" t="t" l="l"/>
            <a:pathLst>
              <a:path h="6356958" w="4171754">
                <a:moveTo>
                  <a:pt x="0" y="0"/>
                </a:moveTo>
                <a:lnTo>
                  <a:pt x="4171753" y="0"/>
                </a:lnTo>
                <a:lnTo>
                  <a:pt x="4171753" y="6356958"/>
                </a:lnTo>
                <a:lnTo>
                  <a:pt x="0" y="6356958"/>
                </a:lnTo>
                <a:lnTo>
                  <a:pt x="0" y="0"/>
                </a:lnTo>
                <a:close/>
              </a:path>
            </a:pathLst>
          </a:custGeom>
          <a:blipFill>
            <a:blip r:embed="rId8"/>
            <a:stretch>
              <a:fillRect l="0" t="0" r="0" b="0"/>
            </a:stretch>
          </a:blipFill>
        </p:spPr>
      </p:sp>
      <p:sp>
        <p:nvSpPr>
          <p:cNvPr name="Freeform 9" id="9"/>
          <p:cNvSpPr/>
          <p:nvPr/>
        </p:nvSpPr>
        <p:spPr>
          <a:xfrm flipH="false" flipV="false" rot="0">
            <a:off x="2389549" y="1485457"/>
            <a:ext cx="4219431" cy="6356958"/>
          </a:xfrm>
          <a:custGeom>
            <a:avLst/>
            <a:gdLst/>
            <a:ahLst/>
            <a:cxnLst/>
            <a:rect r="r" b="b" t="t" l="l"/>
            <a:pathLst>
              <a:path h="6356958" w="4219431">
                <a:moveTo>
                  <a:pt x="0" y="0"/>
                </a:moveTo>
                <a:lnTo>
                  <a:pt x="4219431" y="0"/>
                </a:lnTo>
                <a:lnTo>
                  <a:pt x="4219431" y="6356958"/>
                </a:lnTo>
                <a:lnTo>
                  <a:pt x="0" y="6356958"/>
                </a:lnTo>
                <a:lnTo>
                  <a:pt x="0" y="0"/>
                </a:lnTo>
                <a:close/>
              </a:path>
            </a:pathLst>
          </a:custGeom>
          <a:blipFill>
            <a:blip r:embed="rId9"/>
            <a:stretch>
              <a:fillRect l="0" t="0" r="0" b="0"/>
            </a:stretch>
          </a:blipFill>
        </p:spPr>
      </p:sp>
      <p:sp>
        <p:nvSpPr>
          <p:cNvPr name="TextBox 10" id="10"/>
          <p:cNvSpPr txBox="true"/>
          <p:nvPr/>
        </p:nvSpPr>
        <p:spPr>
          <a:xfrm rot="0">
            <a:off x="3078409" y="457643"/>
            <a:ext cx="12801040" cy="1027813"/>
          </a:xfrm>
          <a:prstGeom prst="rect">
            <a:avLst/>
          </a:prstGeom>
        </p:spPr>
        <p:txBody>
          <a:bodyPr anchor="t" rtlCol="false" tIns="0" lIns="0" bIns="0" rIns="0">
            <a:spAutoFit/>
          </a:bodyPr>
          <a:lstStyle/>
          <a:p>
            <a:pPr algn="ctr">
              <a:lnSpc>
                <a:spcPts val="8448"/>
              </a:lnSpc>
            </a:pPr>
            <a:r>
              <a:rPr lang="en-US" b="true" sz="6034">
                <a:solidFill>
                  <a:srgbClr val="002B58"/>
                </a:solidFill>
                <a:latin typeface="Monda Bold"/>
                <a:ea typeface="Monda Bold"/>
                <a:cs typeface="Monda Bold"/>
                <a:sym typeface="Monda Bold"/>
              </a:rPr>
              <a:t>HASIL GESTURE PLAYGROUND</a:t>
            </a:r>
          </a:p>
        </p:txBody>
      </p:sp>
      <p:sp>
        <p:nvSpPr>
          <p:cNvPr name="TextBox 11" id="11"/>
          <p:cNvSpPr txBox="true"/>
          <p:nvPr/>
        </p:nvSpPr>
        <p:spPr>
          <a:xfrm rot="0">
            <a:off x="6866037" y="1676543"/>
            <a:ext cx="10393263" cy="4820054"/>
          </a:xfrm>
          <a:prstGeom prst="rect">
            <a:avLst/>
          </a:prstGeom>
        </p:spPr>
        <p:txBody>
          <a:bodyPr anchor="t" rtlCol="false" tIns="0" lIns="0" bIns="0" rIns="0">
            <a:spAutoFit/>
          </a:bodyPr>
          <a:lstStyle/>
          <a:p>
            <a:pPr algn="l">
              <a:lnSpc>
                <a:spcPts val="4297"/>
              </a:lnSpc>
              <a:spcBef>
                <a:spcPct val="0"/>
              </a:spcBef>
            </a:pPr>
            <a:r>
              <a:rPr lang="en-US" b="true" sz="3069">
                <a:solidFill>
                  <a:srgbClr val="002B58"/>
                </a:solidFill>
                <a:latin typeface="Monda Bold"/>
                <a:ea typeface="Monda Bold"/>
                <a:cs typeface="Monda Bold"/>
                <a:sym typeface="Monda Bold"/>
              </a:rPr>
              <a:t>PADA TAMPILAN INI MENAMPILKAN SEBUAH OBJEK INTERAKTIF DI FLUTTER YANG BISA DIPINDAH (DRAG), DIPERBESAR (ZOOM), DAN DIUBAH WARNA MENGGUNAKAN BERBAGAI GESTURE. POSISI DIATUR DENGAN X DAN Y, UKURAN DENGAN SCALE, SERTA WARNA DENGAN COLOR. SEHINGGA DAPAT MEMPEBESAR MEMPERKECIL MERUBAH WARNA MEMINDAHKAN GERAK DENGAN SENTUHAN JARI </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777" r="0" b="-777"/>
            </a:stretch>
          </a:blipFill>
        </p:spPr>
      </p:sp>
      <p:sp>
        <p:nvSpPr>
          <p:cNvPr name="Freeform 3" id="3"/>
          <p:cNvSpPr/>
          <p:nvPr/>
        </p:nvSpPr>
        <p:spPr>
          <a:xfrm flipH="true" flipV="false" rot="0">
            <a:off x="10273278" y="5039691"/>
            <a:ext cx="9295205" cy="5948931"/>
          </a:xfrm>
          <a:custGeom>
            <a:avLst/>
            <a:gdLst/>
            <a:ahLst/>
            <a:cxnLst/>
            <a:rect r="r" b="b" t="t" l="l"/>
            <a:pathLst>
              <a:path h="5948931" w="9295205">
                <a:moveTo>
                  <a:pt x="9295205" y="0"/>
                </a:moveTo>
                <a:lnTo>
                  <a:pt x="0" y="0"/>
                </a:lnTo>
                <a:lnTo>
                  <a:pt x="0" y="5948932"/>
                </a:lnTo>
                <a:lnTo>
                  <a:pt x="9295205" y="5948932"/>
                </a:lnTo>
                <a:lnTo>
                  <a:pt x="9295205"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true" rot="0">
            <a:off x="-1280483" y="-701623"/>
            <a:ext cx="9295205" cy="5948931"/>
          </a:xfrm>
          <a:custGeom>
            <a:avLst/>
            <a:gdLst/>
            <a:ahLst/>
            <a:cxnLst/>
            <a:rect r="r" b="b" t="t" l="l"/>
            <a:pathLst>
              <a:path h="5948931" w="9295205">
                <a:moveTo>
                  <a:pt x="0" y="5948932"/>
                </a:moveTo>
                <a:lnTo>
                  <a:pt x="9295205" y="5948932"/>
                </a:lnTo>
                <a:lnTo>
                  <a:pt x="9295205" y="0"/>
                </a:lnTo>
                <a:lnTo>
                  <a:pt x="0" y="0"/>
                </a:lnTo>
                <a:lnTo>
                  <a:pt x="0" y="5948932"/>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4790631" y="-3420266"/>
            <a:ext cx="5568589" cy="7775011"/>
          </a:xfrm>
          <a:custGeom>
            <a:avLst/>
            <a:gdLst/>
            <a:ahLst/>
            <a:cxnLst/>
            <a:rect r="r" b="b" t="t" l="l"/>
            <a:pathLst>
              <a:path h="7775011" w="5568589">
                <a:moveTo>
                  <a:pt x="0" y="0"/>
                </a:moveTo>
                <a:lnTo>
                  <a:pt x="5568589" y="0"/>
                </a:lnTo>
                <a:lnTo>
                  <a:pt x="5568589" y="7775011"/>
                </a:lnTo>
                <a:lnTo>
                  <a:pt x="0" y="777501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646086" y="6399494"/>
            <a:ext cx="5568589" cy="7775011"/>
          </a:xfrm>
          <a:custGeom>
            <a:avLst/>
            <a:gdLst/>
            <a:ahLst/>
            <a:cxnLst/>
            <a:rect r="r" b="b" t="t" l="l"/>
            <a:pathLst>
              <a:path h="7775011" w="5568589">
                <a:moveTo>
                  <a:pt x="0" y="0"/>
                </a:moveTo>
                <a:lnTo>
                  <a:pt x="5568589" y="0"/>
                </a:lnTo>
                <a:lnTo>
                  <a:pt x="5568589" y="7775012"/>
                </a:lnTo>
                <a:lnTo>
                  <a:pt x="0" y="777501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7" id="7"/>
          <p:cNvSpPr txBox="true"/>
          <p:nvPr/>
        </p:nvSpPr>
        <p:spPr>
          <a:xfrm rot="0">
            <a:off x="2743480" y="4135553"/>
            <a:ext cx="12801040" cy="1815869"/>
          </a:xfrm>
          <a:prstGeom prst="rect">
            <a:avLst/>
          </a:prstGeom>
        </p:spPr>
        <p:txBody>
          <a:bodyPr anchor="t" rtlCol="false" tIns="0" lIns="0" bIns="0" rIns="0">
            <a:spAutoFit/>
          </a:bodyPr>
          <a:lstStyle/>
          <a:p>
            <a:pPr algn="ctr">
              <a:lnSpc>
                <a:spcPts val="14887"/>
              </a:lnSpc>
            </a:pPr>
            <a:r>
              <a:rPr lang="en-US" b="true" sz="10634">
                <a:solidFill>
                  <a:srgbClr val="002B58"/>
                </a:solidFill>
                <a:latin typeface="Monda Bold"/>
                <a:ea typeface="Monda Bold"/>
                <a:cs typeface="Monda Bold"/>
                <a:sym typeface="Monda Bold"/>
              </a:rPr>
              <a:t>TERIMA KASIH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DAHFnSeGNzc</dc:identifier>
  <dcterms:modified xsi:type="dcterms:W3CDTF">2011-08-01T06:04:30Z</dcterms:modified>
  <cp:revision>1</cp:revision>
  <dc:title>Blue Modern Elegant Presentation</dc:title>
</cp:coreProperties>
</file>