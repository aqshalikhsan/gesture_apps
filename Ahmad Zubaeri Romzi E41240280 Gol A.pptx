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Montserrat Bold" charset="1" panose="00000800000000000000"/>
      <p:regular r:id="rId13"/>
    </p:embeddedFont>
    <p:embeddedFont>
      <p:font typeface="Arimo" charset="1" panose="020B06040202020202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0">
            <a:off x="-3650207" y="-6198905"/>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42025" y="695962"/>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9914375" y="7103681"/>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729465">
            <a:off x="15063957" y="5202025"/>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0729465">
            <a:off x="840898" y="8321561"/>
            <a:ext cx="3423422" cy="3423422"/>
          </a:xfrm>
          <a:custGeom>
            <a:avLst/>
            <a:gdLst/>
            <a:ahLst/>
            <a:cxnLst/>
            <a:rect r="r" b="b" t="t" l="l"/>
            <a:pathLst>
              <a:path h="3423422" w="3423422">
                <a:moveTo>
                  <a:pt x="0" y="0"/>
                </a:moveTo>
                <a:lnTo>
                  <a:pt x="3423421" y="0"/>
                </a:lnTo>
                <a:lnTo>
                  <a:pt x="3423421" y="3423422"/>
                </a:lnTo>
                <a:lnTo>
                  <a:pt x="0" y="3423422"/>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0729465">
            <a:off x="14552153" y="-773523"/>
            <a:ext cx="2168023" cy="2168023"/>
          </a:xfrm>
          <a:custGeom>
            <a:avLst/>
            <a:gdLst/>
            <a:ahLst/>
            <a:cxnLst/>
            <a:rect r="r" b="b" t="t" l="l"/>
            <a:pathLst>
              <a:path h="2168023" w="2168023">
                <a:moveTo>
                  <a:pt x="0" y="0"/>
                </a:moveTo>
                <a:lnTo>
                  <a:pt x="2168023" y="0"/>
                </a:lnTo>
                <a:lnTo>
                  <a:pt x="2168023" y="2168023"/>
                </a:lnTo>
                <a:lnTo>
                  <a:pt x="0" y="216802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480202" y="4459035"/>
            <a:ext cx="14376487" cy="4163819"/>
          </a:xfrm>
          <a:prstGeom prst="rect">
            <a:avLst/>
          </a:prstGeom>
        </p:spPr>
        <p:txBody>
          <a:bodyPr anchor="t" rtlCol="false" tIns="0" lIns="0" bIns="0" rIns="0">
            <a:spAutoFit/>
          </a:bodyPr>
          <a:lstStyle/>
          <a:p>
            <a:pPr algn="ctr">
              <a:lnSpc>
                <a:spcPts val="6160"/>
              </a:lnSpc>
            </a:pPr>
            <a:r>
              <a:rPr lang="en-US" b="true" sz="5600">
                <a:solidFill>
                  <a:srgbClr val="153969"/>
                </a:solidFill>
                <a:latin typeface="Montserrat Bold"/>
                <a:ea typeface="Montserrat Bold"/>
                <a:cs typeface="Montserrat Bold"/>
                <a:sym typeface="Montserrat Bold"/>
              </a:rPr>
              <a:t>WORKSHOP MOBILE APPLICATIONS FRAMEWORK</a:t>
            </a:r>
          </a:p>
          <a:p>
            <a:pPr algn="ctr">
              <a:lnSpc>
                <a:spcPts val="6160"/>
              </a:lnSpc>
            </a:pPr>
            <a:r>
              <a:rPr lang="en-US" b="true" sz="5600">
                <a:solidFill>
                  <a:srgbClr val="153969"/>
                </a:solidFill>
                <a:latin typeface="Montserrat Bold"/>
                <a:ea typeface="Montserrat Bold"/>
                <a:cs typeface="Montserrat Bold"/>
                <a:sym typeface="Montserrat Bold"/>
              </a:rPr>
              <a:t>LAPORAN GESTURE LAB</a:t>
            </a:r>
          </a:p>
          <a:p>
            <a:pPr algn="ctr">
              <a:lnSpc>
                <a:spcPts val="13881"/>
              </a:lnSpc>
            </a:pPr>
          </a:p>
        </p:txBody>
      </p:sp>
      <p:sp>
        <p:nvSpPr>
          <p:cNvPr name="TextBox 9" id="9"/>
          <p:cNvSpPr txBox="true"/>
          <p:nvPr/>
        </p:nvSpPr>
        <p:spPr>
          <a:xfrm rot="0">
            <a:off x="5836278" y="6651180"/>
            <a:ext cx="5664334" cy="1971675"/>
          </a:xfrm>
          <a:prstGeom prst="rect">
            <a:avLst/>
          </a:prstGeom>
        </p:spPr>
        <p:txBody>
          <a:bodyPr anchor="t" rtlCol="false" tIns="0" lIns="0" bIns="0" rIns="0">
            <a:spAutoFit/>
          </a:bodyPr>
          <a:lstStyle/>
          <a:p>
            <a:pPr algn="ctr">
              <a:lnSpc>
                <a:spcPts val="3840"/>
              </a:lnSpc>
            </a:pPr>
          </a:p>
          <a:p>
            <a:pPr algn="ctr">
              <a:lnSpc>
                <a:spcPts val="3840"/>
              </a:lnSpc>
            </a:pPr>
            <a:r>
              <a:rPr lang="en-US" sz="3200">
                <a:solidFill>
                  <a:srgbClr val="153969"/>
                </a:solidFill>
                <a:latin typeface="Arimo"/>
                <a:ea typeface="Arimo"/>
                <a:cs typeface="Arimo"/>
                <a:sym typeface="Arimo"/>
              </a:rPr>
              <a:t>Ahmad Zubaeri Romzi</a:t>
            </a:r>
          </a:p>
          <a:p>
            <a:pPr algn="ctr">
              <a:lnSpc>
                <a:spcPts val="3840"/>
              </a:lnSpc>
            </a:pPr>
            <a:r>
              <a:rPr lang="en-US" sz="3200">
                <a:solidFill>
                  <a:srgbClr val="153969"/>
                </a:solidFill>
                <a:latin typeface="Arimo"/>
                <a:ea typeface="Arimo"/>
                <a:cs typeface="Arimo"/>
                <a:sym typeface="Arimo"/>
              </a:rPr>
              <a:t>Nim E41240280</a:t>
            </a:r>
          </a:p>
          <a:p>
            <a:pPr algn="ctr">
              <a:lnSpc>
                <a:spcPts val="3840"/>
              </a:lnSpc>
            </a:pPr>
            <a:r>
              <a:rPr lang="en-US" sz="3200">
                <a:solidFill>
                  <a:srgbClr val="153969"/>
                </a:solidFill>
                <a:latin typeface="Arimo"/>
                <a:ea typeface="Arimo"/>
                <a:cs typeface="Arimo"/>
                <a:sym typeface="Arimo"/>
              </a:rPr>
              <a:t>Gol 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729465">
            <a:off x="10555461"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9914375" y="7103681"/>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5063957" y="5202025"/>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27999" y="1965021"/>
            <a:ext cx="4910750" cy="6674024"/>
          </a:xfrm>
          <a:custGeom>
            <a:avLst/>
            <a:gdLst/>
            <a:ahLst/>
            <a:cxnLst/>
            <a:rect r="r" b="b" t="t" l="l"/>
            <a:pathLst>
              <a:path h="6674024" w="4910750">
                <a:moveTo>
                  <a:pt x="0" y="0"/>
                </a:moveTo>
                <a:lnTo>
                  <a:pt x="4910750" y="0"/>
                </a:lnTo>
                <a:lnTo>
                  <a:pt x="4910750" y="6674024"/>
                </a:lnTo>
                <a:lnTo>
                  <a:pt x="0" y="6674024"/>
                </a:lnTo>
                <a:lnTo>
                  <a:pt x="0" y="0"/>
                </a:lnTo>
                <a:close/>
              </a:path>
            </a:pathLst>
          </a:custGeom>
          <a:blipFill>
            <a:blip r:embed="rId6"/>
            <a:stretch>
              <a:fillRect l="-2493" t="0" r="-2493" b="0"/>
            </a:stretch>
          </a:blipFill>
        </p:spPr>
      </p:sp>
      <p:sp>
        <p:nvSpPr>
          <p:cNvPr name="Freeform 6" id="6"/>
          <p:cNvSpPr/>
          <p:nvPr/>
        </p:nvSpPr>
        <p:spPr>
          <a:xfrm flipH="false" flipV="false" rot="0">
            <a:off x="5433268" y="1977170"/>
            <a:ext cx="5082845" cy="669346"/>
          </a:xfrm>
          <a:custGeom>
            <a:avLst/>
            <a:gdLst/>
            <a:ahLst/>
            <a:cxnLst/>
            <a:rect r="r" b="b" t="t" l="l"/>
            <a:pathLst>
              <a:path h="669346" w="5082845">
                <a:moveTo>
                  <a:pt x="0" y="0"/>
                </a:moveTo>
                <a:lnTo>
                  <a:pt x="5082844" y="0"/>
                </a:lnTo>
                <a:lnTo>
                  <a:pt x="5082844" y="669346"/>
                </a:lnTo>
                <a:lnTo>
                  <a:pt x="0" y="669346"/>
                </a:lnTo>
                <a:lnTo>
                  <a:pt x="0" y="0"/>
                </a:lnTo>
                <a:close/>
              </a:path>
            </a:pathLst>
          </a:custGeom>
          <a:blipFill>
            <a:blip r:embed="rId7"/>
            <a:stretch>
              <a:fillRect l="0" t="0" r="0" b="0"/>
            </a:stretch>
          </a:blipFill>
        </p:spPr>
      </p:sp>
      <p:sp>
        <p:nvSpPr>
          <p:cNvPr name="Freeform 7" id="7"/>
          <p:cNvSpPr/>
          <p:nvPr/>
        </p:nvSpPr>
        <p:spPr>
          <a:xfrm flipH="false" flipV="false" rot="0">
            <a:off x="5433942" y="2819152"/>
            <a:ext cx="5082170" cy="4002116"/>
          </a:xfrm>
          <a:custGeom>
            <a:avLst/>
            <a:gdLst/>
            <a:ahLst/>
            <a:cxnLst/>
            <a:rect r="r" b="b" t="t" l="l"/>
            <a:pathLst>
              <a:path h="4002116" w="5082170">
                <a:moveTo>
                  <a:pt x="0" y="0"/>
                </a:moveTo>
                <a:lnTo>
                  <a:pt x="5082170" y="0"/>
                </a:lnTo>
                <a:lnTo>
                  <a:pt x="5082170" y="4002116"/>
                </a:lnTo>
                <a:lnTo>
                  <a:pt x="0" y="4002116"/>
                </a:lnTo>
                <a:lnTo>
                  <a:pt x="0" y="0"/>
                </a:lnTo>
                <a:close/>
              </a:path>
            </a:pathLst>
          </a:custGeom>
          <a:blipFill>
            <a:blip r:embed="rId8"/>
            <a:stretch>
              <a:fillRect l="0" t="0" r="0" b="0"/>
            </a:stretch>
          </a:blipFill>
        </p:spPr>
      </p:sp>
      <p:sp>
        <p:nvSpPr>
          <p:cNvPr name="Freeform 8" id="8"/>
          <p:cNvSpPr/>
          <p:nvPr/>
        </p:nvSpPr>
        <p:spPr>
          <a:xfrm flipH="false" flipV="false" rot="0">
            <a:off x="5433942" y="6993905"/>
            <a:ext cx="5082170" cy="1645140"/>
          </a:xfrm>
          <a:custGeom>
            <a:avLst/>
            <a:gdLst/>
            <a:ahLst/>
            <a:cxnLst/>
            <a:rect r="r" b="b" t="t" l="l"/>
            <a:pathLst>
              <a:path h="1645140" w="5082170">
                <a:moveTo>
                  <a:pt x="0" y="0"/>
                </a:moveTo>
                <a:lnTo>
                  <a:pt x="5082170" y="0"/>
                </a:lnTo>
                <a:lnTo>
                  <a:pt x="5082170" y="1645140"/>
                </a:lnTo>
                <a:lnTo>
                  <a:pt x="0" y="1645140"/>
                </a:lnTo>
                <a:lnTo>
                  <a:pt x="0" y="0"/>
                </a:lnTo>
                <a:close/>
              </a:path>
            </a:pathLst>
          </a:custGeom>
          <a:blipFill>
            <a:blip r:embed="rId9"/>
            <a:stretch>
              <a:fillRect l="0" t="0" r="0" b="0"/>
            </a:stretch>
          </a:blipFill>
        </p:spPr>
      </p:sp>
      <p:sp>
        <p:nvSpPr>
          <p:cNvPr name="TextBox 9" id="9"/>
          <p:cNvSpPr txBox="true"/>
          <p:nvPr/>
        </p:nvSpPr>
        <p:spPr>
          <a:xfrm rot="0">
            <a:off x="427999" y="602394"/>
            <a:ext cx="3204071" cy="1374777"/>
          </a:xfrm>
          <a:prstGeom prst="rect">
            <a:avLst/>
          </a:prstGeom>
        </p:spPr>
        <p:txBody>
          <a:bodyPr anchor="t" rtlCol="false" tIns="0" lIns="0" bIns="0" rIns="0">
            <a:spAutoFit/>
          </a:bodyPr>
          <a:lstStyle/>
          <a:p>
            <a:pPr algn="ctr">
              <a:lnSpc>
                <a:spcPts val="5599"/>
              </a:lnSpc>
              <a:spcBef>
                <a:spcPct val="0"/>
              </a:spcBef>
            </a:pPr>
            <a:r>
              <a:rPr lang="en-US" b="true" sz="3999">
                <a:solidFill>
                  <a:srgbClr val="153969"/>
                </a:solidFill>
                <a:latin typeface="Montserrat Bold"/>
                <a:ea typeface="Montserrat Bold"/>
                <a:cs typeface="Montserrat Bold"/>
                <a:sym typeface="Montserrat Bold"/>
              </a:rPr>
              <a:t>G</a:t>
            </a:r>
            <a:r>
              <a:rPr lang="en-US" b="true" sz="3999">
                <a:solidFill>
                  <a:srgbClr val="153969"/>
                </a:solidFill>
                <a:latin typeface="Montserrat Bold"/>
                <a:ea typeface="Montserrat Bold"/>
                <a:cs typeface="Montserrat Bold"/>
                <a:sym typeface="Montserrat Bold"/>
              </a:rPr>
              <a:t>esture Lab</a:t>
            </a:r>
          </a:p>
          <a:p>
            <a:pPr algn="ctr">
              <a:lnSpc>
                <a:spcPts val="559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729465">
            <a:off x="10555461"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9914375" y="7103681"/>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5063957" y="5202025"/>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29817" y="1977170"/>
            <a:ext cx="3180121" cy="4156975"/>
          </a:xfrm>
          <a:custGeom>
            <a:avLst/>
            <a:gdLst/>
            <a:ahLst/>
            <a:cxnLst/>
            <a:rect r="r" b="b" t="t" l="l"/>
            <a:pathLst>
              <a:path h="4156975" w="3180121">
                <a:moveTo>
                  <a:pt x="0" y="0"/>
                </a:moveTo>
                <a:lnTo>
                  <a:pt x="3180121" y="0"/>
                </a:lnTo>
                <a:lnTo>
                  <a:pt x="3180121" y="4156975"/>
                </a:lnTo>
                <a:lnTo>
                  <a:pt x="0" y="4156975"/>
                </a:lnTo>
                <a:lnTo>
                  <a:pt x="0" y="0"/>
                </a:lnTo>
                <a:close/>
              </a:path>
            </a:pathLst>
          </a:custGeom>
          <a:blipFill>
            <a:blip r:embed="rId6"/>
            <a:stretch>
              <a:fillRect l="0" t="0" r="0" b="0"/>
            </a:stretch>
          </a:blipFill>
        </p:spPr>
      </p:sp>
      <p:sp>
        <p:nvSpPr>
          <p:cNvPr name="Freeform 6" id="6"/>
          <p:cNvSpPr/>
          <p:nvPr/>
        </p:nvSpPr>
        <p:spPr>
          <a:xfrm flipH="false" flipV="false" rot="0">
            <a:off x="4653138" y="1977170"/>
            <a:ext cx="3208642" cy="4156975"/>
          </a:xfrm>
          <a:custGeom>
            <a:avLst/>
            <a:gdLst/>
            <a:ahLst/>
            <a:cxnLst/>
            <a:rect r="r" b="b" t="t" l="l"/>
            <a:pathLst>
              <a:path h="4156975" w="3208642">
                <a:moveTo>
                  <a:pt x="0" y="0"/>
                </a:moveTo>
                <a:lnTo>
                  <a:pt x="3208642" y="0"/>
                </a:lnTo>
                <a:lnTo>
                  <a:pt x="3208642" y="4156975"/>
                </a:lnTo>
                <a:lnTo>
                  <a:pt x="0" y="4156975"/>
                </a:lnTo>
                <a:lnTo>
                  <a:pt x="0" y="0"/>
                </a:lnTo>
                <a:close/>
              </a:path>
            </a:pathLst>
          </a:custGeom>
          <a:blipFill>
            <a:blip r:embed="rId7"/>
            <a:stretch>
              <a:fillRect l="0" t="0" r="0" b="0"/>
            </a:stretch>
          </a:blipFill>
        </p:spPr>
      </p:sp>
      <p:sp>
        <p:nvSpPr>
          <p:cNvPr name="Freeform 7" id="7"/>
          <p:cNvSpPr/>
          <p:nvPr/>
        </p:nvSpPr>
        <p:spPr>
          <a:xfrm flipH="false" flipV="false" rot="0">
            <a:off x="8755298" y="1977170"/>
            <a:ext cx="3215773" cy="4156975"/>
          </a:xfrm>
          <a:custGeom>
            <a:avLst/>
            <a:gdLst/>
            <a:ahLst/>
            <a:cxnLst/>
            <a:rect r="r" b="b" t="t" l="l"/>
            <a:pathLst>
              <a:path h="4156975" w="3215773">
                <a:moveTo>
                  <a:pt x="0" y="0"/>
                </a:moveTo>
                <a:lnTo>
                  <a:pt x="3215772" y="0"/>
                </a:lnTo>
                <a:lnTo>
                  <a:pt x="3215772" y="4156975"/>
                </a:lnTo>
                <a:lnTo>
                  <a:pt x="0" y="4156975"/>
                </a:lnTo>
                <a:lnTo>
                  <a:pt x="0" y="0"/>
                </a:lnTo>
                <a:close/>
              </a:path>
            </a:pathLst>
          </a:custGeom>
          <a:blipFill>
            <a:blip r:embed="rId8"/>
            <a:stretch>
              <a:fillRect l="0" t="0" r="0" b="0"/>
            </a:stretch>
          </a:blipFill>
        </p:spPr>
      </p:sp>
      <p:sp>
        <p:nvSpPr>
          <p:cNvPr name="TextBox 8" id="8"/>
          <p:cNvSpPr txBox="true"/>
          <p:nvPr/>
        </p:nvSpPr>
        <p:spPr>
          <a:xfrm rot="0">
            <a:off x="629817" y="602394"/>
            <a:ext cx="4051895" cy="1374777"/>
          </a:xfrm>
          <a:prstGeom prst="rect">
            <a:avLst/>
          </a:prstGeom>
        </p:spPr>
        <p:txBody>
          <a:bodyPr anchor="t" rtlCol="false" tIns="0" lIns="0" bIns="0" rIns="0">
            <a:spAutoFit/>
          </a:bodyPr>
          <a:lstStyle/>
          <a:p>
            <a:pPr algn="ctr">
              <a:lnSpc>
                <a:spcPts val="5599"/>
              </a:lnSpc>
              <a:spcBef>
                <a:spcPct val="0"/>
              </a:spcBef>
            </a:pPr>
            <a:r>
              <a:rPr lang="en-US" b="true" sz="3999">
                <a:solidFill>
                  <a:srgbClr val="153969"/>
                </a:solidFill>
                <a:latin typeface="Montserrat Bold"/>
                <a:ea typeface="Montserrat Bold"/>
                <a:cs typeface="Montserrat Bold"/>
                <a:sym typeface="Montserrat Bold"/>
              </a:rPr>
              <a:t>Tap In</a:t>
            </a:r>
            <a:r>
              <a:rPr lang="en-US" b="true" sz="3999">
                <a:solidFill>
                  <a:srgbClr val="153969"/>
                </a:solidFill>
                <a:latin typeface="Montserrat Bold"/>
                <a:ea typeface="Montserrat Bold"/>
                <a:cs typeface="Montserrat Bold"/>
                <a:sym typeface="Montserrat Bold"/>
              </a:rPr>
              <a:t>teraction</a:t>
            </a:r>
          </a:p>
          <a:p>
            <a:pPr algn="ctr">
              <a:lnSpc>
                <a:spcPts val="5599"/>
              </a:lnSpc>
              <a:spcBef>
                <a:spcPct val="0"/>
              </a:spcBef>
            </a:pPr>
          </a:p>
        </p:txBody>
      </p:sp>
      <p:sp>
        <p:nvSpPr>
          <p:cNvPr name="TextBox 9" id="9"/>
          <p:cNvSpPr txBox="true"/>
          <p:nvPr/>
        </p:nvSpPr>
        <p:spPr>
          <a:xfrm rot="0">
            <a:off x="1256811" y="6311279"/>
            <a:ext cx="1926134" cy="682626"/>
          </a:xfrm>
          <a:prstGeom prst="rect">
            <a:avLst/>
          </a:prstGeom>
        </p:spPr>
        <p:txBody>
          <a:bodyPr anchor="t" rtlCol="false" tIns="0" lIns="0" bIns="0" rIns="0">
            <a:spAutoFit/>
          </a:bodyPr>
          <a:lstStyle/>
          <a:p>
            <a:pPr algn="ctr">
              <a:lnSpc>
                <a:spcPts val="2799"/>
              </a:lnSpc>
              <a:spcBef>
                <a:spcPct val="0"/>
              </a:spcBef>
            </a:pPr>
            <a:r>
              <a:rPr lang="en-US" b="true" sz="1999">
                <a:solidFill>
                  <a:srgbClr val="153969"/>
                </a:solidFill>
                <a:latin typeface="Montserrat Bold"/>
                <a:ea typeface="Montserrat Bold"/>
                <a:cs typeface="Montserrat Bold"/>
                <a:sym typeface="Montserrat Bold"/>
              </a:rPr>
              <a:t>Tampilan awal</a:t>
            </a:r>
          </a:p>
          <a:p>
            <a:pPr algn="ctr">
              <a:lnSpc>
                <a:spcPts val="2799"/>
              </a:lnSpc>
              <a:spcBef>
                <a:spcPct val="0"/>
              </a:spcBef>
            </a:pPr>
          </a:p>
        </p:txBody>
      </p:sp>
      <p:sp>
        <p:nvSpPr>
          <p:cNvPr name="TextBox 10" id="10"/>
          <p:cNvSpPr txBox="true"/>
          <p:nvPr/>
        </p:nvSpPr>
        <p:spPr>
          <a:xfrm rot="0">
            <a:off x="4747151" y="6301755"/>
            <a:ext cx="3020616"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153969"/>
                </a:solidFill>
                <a:latin typeface="Montserrat Bold"/>
                <a:ea typeface="Montserrat Bold"/>
                <a:cs typeface="Montserrat Bold"/>
                <a:sym typeface="Montserrat Bold"/>
              </a:rPr>
              <a:t>Tampilan ketika di klik</a:t>
            </a:r>
          </a:p>
          <a:p>
            <a:pPr algn="ctr">
              <a:lnSpc>
                <a:spcPts val="2800"/>
              </a:lnSpc>
              <a:spcBef>
                <a:spcPct val="0"/>
              </a:spcBef>
            </a:pPr>
          </a:p>
        </p:txBody>
      </p:sp>
      <p:sp>
        <p:nvSpPr>
          <p:cNvPr name="TextBox 11" id="11"/>
          <p:cNvSpPr txBox="true"/>
          <p:nvPr/>
        </p:nvSpPr>
        <p:spPr>
          <a:xfrm rot="0">
            <a:off x="8709505" y="6301755"/>
            <a:ext cx="3307358"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153969"/>
                </a:solidFill>
                <a:latin typeface="Montserrat Bold"/>
                <a:ea typeface="Montserrat Bold"/>
                <a:cs typeface="Montserrat Bold"/>
                <a:sym typeface="Montserrat Bold"/>
              </a:rPr>
              <a:t>Tampilan ketika di tahan</a:t>
            </a:r>
          </a:p>
          <a:p>
            <a:pPr algn="ctr">
              <a:lnSpc>
                <a:spcPts val="2800"/>
              </a:lnSpc>
              <a:spcBef>
                <a:spcPct val="0"/>
              </a:spcBef>
            </a:pPr>
          </a:p>
        </p:txBody>
      </p:sp>
      <p:sp>
        <p:nvSpPr>
          <p:cNvPr name="TextBox 12" id="12"/>
          <p:cNvSpPr txBox="true"/>
          <p:nvPr/>
        </p:nvSpPr>
        <p:spPr>
          <a:xfrm rot="0">
            <a:off x="629817" y="7382420"/>
            <a:ext cx="10679124" cy="1749425"/>
          </a:xfrm>
          <a:prstGeom prst="rect">
            <a:avLst/>
          </a:prstGeom>
        </p:spPr>
        <p:txBody>
          <a:bodyPr anchor="t" rtlCol="false" tIns="0" lIns="0" bIns="0" rIns="0">
            <a:spAutoFit/>
          </a:bodyPr>
          <a:lstStyle/>
          <a:p>
            <a:pPr algn="l">
              <a:lnSpc>
                <a:spcPts val="2800"/>
              </a:lnSpc>
              <a:spcBef>
                <a:spcPct val="0"/>
              </a:spcBef>
            </a:pPr>
            <a:r>
              <a:rPr lang="en-US" b="true" sz="2000">
                <a:solidFill>
                  <a:srgbClr val="153969"/>
                </a:solidFill>
                <a:latin typeface="Montserrat Bold"/>
                <a:ea typeface="Montserrat Bold"/>
                <a:cs typeface="Montserrat Bold"/>
                <a:sym typeface="Montserrat Bold"/>
              </a:rPr>
              <a:t>Kode ini bikin objek yang bisa interaksi dengan sentuhan. Ukuran diatur lewat variabel size, warna lewat color. Pakai GestureDetector, kalau di-tap bakal panggil fungsi randomiz</a:t>
            </a:r>
            <a:r>
              <a:rPr lang="en-US" b="true" sz="2000">
                <a:solidFill>
                  <a:srgbClr val="153969"/>
                </a:solidFill>
                <a:latin typeface="Montserrat Bold"/>
                <a:ea typeface="Montserrat Bold"/>
                <a:cs typeface="Montserrat Bold"/>
                <a:sym typeface="Montserrat Bold"/>
              </a:rPr>
              <a:t>e() buat ganti ukuran dan warna secara acak, double tap bikin warna jadi hijau, long press bikin ukuran membesar. Perubahannya pake AnimatedContainer biar animasinya halus.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729465">
            <a:off x="10555461"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9914375" y="7103681"/>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5063957" y="5202025"/>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02867" y="1802889"/>
            <a:ext cx="3207224" cy="4187409"/>
          </a:xfrm>
          <a:custGeom>
            <a:avLst/>
            <a:gdLst/>
            <a:ahLst/>
            <a:cxnLst/>
            <a:rect r="r" b="b" t="t" l="l"/>
            <a:pathLst>
              <a:path h="4187409" w="3207224">
                <a:moveTo>
                  <a:pt x="0" y="0"/>
                </a:moveTo>
                <a:lnTo>
                  <a:pt x="3207224" y="0"/>
                </a:lnTo>
                <a:lnTo>
                  <a:pt x="3207224" y="4187410"/>
                </a:lnTo>
                <a:lnTo>
                  <a:pt x="0" y="4187410"/>
                </a:lnTo>
                <a:lnTo>
                  <a:pt x="0" y="0"/>
                </a:lnTo>
                <a:close/>
              </a:path>
            </a:pathLst>
          </a:custGeom>
          <a:blipFill>
            <a:blip r:embed="rId6"/>
            <a:stretch>
              <a:fillRect l="0" t="0" r="0" b="0"/>
            </a:stretch>
          </a:blipFill>
        </p:spPr>
      </p:sp>
      <p:sp>
        <p:nvSpPr>
          <p:cNvPr name="Freeform 6" id="6"/>
          <p:cNvSpPr/>
          <p:nvPr/>
        </p:nvSpPr>
        <p:spPr>
          <a:xfrm flipH="false" flipV="false" rot="0">
            <a:off x="5266820" y="1802889"/>
            <a:ext cx="3193787" cy="4187409"/>
          </a:xfrm>
          <a:custGeom>
            <a:avLst/>
            <a:gdLst/>
            <a:ahLst/>
            <a:cxnLst/>
            <a:rect r="r" b="b" t="t" l="l"/>
            <a:pathLst>
              <a:path h="4187409" w="3193787">
                <a:moveTo>
                  <a:pt x="0" y="0"/>
                </a:moveTo>
                <a:lnTo>
                  <a:pt x="3193787" y="0"/>
                </a:lnTo>
                <a:lnTo>
                  <a:pt x="3193787" y="4187410"/>
                </a:lnTo>
                <a:lnTo>
                  <a:pt x="0" y="4187410"/>
                </a:lnTo>
                <a:lnTo>
                  <a:pt x="0" y="0"/>
                </a:lnTo>
                <a:close/>
              </a:path>
            </a:pathLst>
          </a:custGeom>
          <a:blipFill>
            <a:blip r:embed="rId7"/>
            <a:stretch>
              <a:fillRect l="0" t="0" r="0" b="0"/>
            </a:stretch>
          </a:blipFill>
        </p:spPr>
      </p:sp>
      <p:sp>
        <p:nvSpPr>
          <p:cNvPr name="TextBox 7" id="7"/>
          <p:cNvSpPr txBox="true"/>
          <p:nvPr/>
        </p:nvSpPr>
        <p:spPr>
          <a:xfrm rot="0">
            <a:off x="502867" y="602394"/>
            <a:ext cx="4305796" cy="1374777"/>
          </a:xfrm>
          <a:prstGeom prst="rect">
            <a:avLst/>
          </a:prstGeom>
        </p:spPr>
        <p:txBody>
          <a:bodyPr anchor="t" rtlCol="false" tIns="0" lIns="0" bIns="0" rIns="0">
            <a:spAutoFit/>
          </a:bodyPr>
          <a:lstStyle/>
          <a:p>
            <a:pPr algn="ctr">
              <a:lnSpc>
                <a:spcPts val="5599"/>
              </a:lnSpc>
              <a:spcBef>
                <a:spcPct val="0"/>
              </a:spcBef>
            </a:pPr>
            <a:r>
              <a:rPr lang="en-US" b="true" sz="3999">
                <a:solidFill>
                  <a:srgbClr val="153969"/>
                </a:solidFill>
                <a:latin typeface="Montserrat Bold"/>
                <a:ea typeface="Montserrat Bold"/>
                <a:cs typeface="Montserrat Bold"/>
                <a:sym typeface="Montserrat Bold"/>
              </a:rPr>
              <a:t>D</a:t>
            </a:r>
            <a:r>
              <a:rPr lang="en-US" b="true" sz="3999">
                <a:solidFill>
                  <a:srgbClr val="153969"/>
                </a:solidFill>
                <a:latin typeface="Montserrat Bold"/>
                <a:ea typeface="Montserrat Bold"/>
                <a:cs typeface="Montserrat Bold"/>
                <a:sym typeface="Montserrat Bold"/>
              </a:rPr>
              <a:t>rag Movement</a:t>
            </a:r>
          </a:p>
          <a:p>
            <a:pPr algn="ctr">
              <a:lnSpc>
                <a:spcPts val="5599"/>
              </a:lnSpc>
              <a:spcBef>
                <a:spcPct val="0"/>
              </a:spcBef>
            </a:pPr>
          </a:p>
        </p:txBody>
      </p:sp>
      <p:sp>
        <p:nvSpPr>
          <p:cNvPr name="TextBox 8" id="8"/>
          <p:cNvSpPr txBox="true"/>
          <p:nvPr/>
        </p:nvSpPr>
        <p:spPr>
          <a:xfrm rot="0">
            <a:off x="5266820" y="6130322"/>
            <a:ext cx="3203277"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153969"/>
                </a:solidFill>
                <a:latin typeface="Montserrat Bold"/>
                <a:ea typeface="Montserrat Bold"/>
                <a:cs typeface="Montserrat Bold"/>
                <a:sym typeface="Montserrat Bold"/>
              </a:rPr>
              <a:t>Tampilan ketika digeser</a:t>
            </a:r>
          </a:p>
          <a:p>
            <a:pPr algn="ctr">
              <a:lnSpc>
                <a:spcPts val="2800"/>
              </a:lnSpc>
              <a:spcBef>
                <a:spcPct val="0"/>
              </a:spcBef>
            </a:pPr>
          </a:p>
        </p:txBody>
      </p:sp>
      <p:sp>
        <p:nvSpPr>
          <p:cNvPr name="TextBox 9" id="9"/>
          <p:cNvSpPr txBox="true"/>
          <p:nvPr/>
        </p:nvSpPr>
        <p:spPr>
          <a:xfrm rot="0">
            <a:off x="1143263" y="6130322"/>
            <a:ext cx="1926431"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153969"/>
                </a:solidFill>
                <a:latin typeface="Montserrat Bold"/>
                <a:ea typeface="Montserrat Bold"/>
                <a:cs typeface="Montserrat Bold"/>
                <a:sym typeface="Montserrat Bold"/>
              </a:rPr>
              <a:t>Tampilan awal</a:t>
            </a:r>
          </a:p>
          <a:p>
            <a:pPr algn="ctr">
              <a:lnSpc>
                <a:spcPts val="2800"/>
              </a:lnSpc>
              <a:spcBef>
                <a:spcPct val="0"/>
              </a:spcBef>
            </a:pPr>
          </a:p>
        </p:txBody>
      </p:sp>
      <p:sp>
        <p:nvSpPr>
          <p:cNvPr name="TextBox 10" id="10"/>
          <p:cNvSpPr txBox="true"/>
          <p:nvPr/>
        </p:nvSpPr>
        <p:spPr>
          <a:xfrm rot="0">
            <a:off x="8860336" y="1952022"/>
            <a:ext cx="8398964" cy="4568825"/>
          </a:xfrm>
          <a:prstGeom prst="rect">
            <a:avLst/>
          </a:prstGeom>
        </p:spPr>
        <p:txBody>
          <a:bodyPr anchor="t" rtlCol="false" tIns="0" lIns="0" bIns="0" rIns="0">
            <a:spAutoFit/>
          </a:bodyPr>
          <a:lstStyle/>
          <a:p>
            <a:pPr algn="just">
              <a:lnSpc>
                <a:spcPts val="2800"/>
              </a:lnSpc>
              <a:spcBef>
                <a:spcPct val="0"/>
              </a:spcBef>
            </a:pPr>
            <a:r>
              <a:rPr lang="en-US" b="true" sz="2000">
                <a:solidFill>
                  <a:srgbClr val="153969"/>
                </a:solidFill>
                <a:latin typeface="Montserrat Bold"/>
                <a:ea typeface="Montserrat Bold"/>
                <a:cs typeface="Montserrat Bold"/>
                <a:sym typeface="Montserrat Bold"/>
              </a:rPr>
              <a:t>Kod</a:t>
            </a:r>
            <a:r>
              <a:rPr lang="en-US" b="true" sz="2000">
                <a:solidFill>
                  <a:srgbClr val="153969"/>
                </a:solidFill>
                <a:latin typeface="Montserrat Bold"/>
                <a:ea typeface="Montserrat Bold"/>
                <a:cs typeface="Montserrat Bold"/>
                <a:sym typeface="Montserrat Bold"/>
              </a:rPr>
              <a:t>e ini bikin fitur drag atau geser pada objek di Flutter. Pakai StatefulWidget biar posisi objek bisa berubah. Posisi disimpan di variabel x (horizontal) dan y (vertikal). Struktur pakenya Scaffold sebagai kerangka, AppBar buat judul, dan Stack biar widget bisa ditaruh bebas. Objek ditampilkan pakai Positioned yang posisinya ngikutin nilai x dan y.</a:t>
            </a:r>
          </a:p>
          <a:p>
            <a:pPr algn="just">
              <a:lnSpc>
                <a:spcPts val="2800"/>
              </a:lnSpc>
              <a:spcBef>
                <a:spcPct val="0"/>
              </a:spcBef>
            </a:pPr>
          </a:p>
          <a:p>
            <a:pPr algn="just">
              <a:lnSpc>
                <a:spcPts val="2800"/>
              </a:lnSpc>
              <a:spcBef>
                <a:spcPct val="0"/>
              </a:spcBef>
            </a:pPr>
            <a:r>
              <a:rPr lang="en-US" b="true" sz="2000">
                <a:solidFill>
                  <a:srgbClr val="153969"/>
                </a:solidFill>
                <a:latin typeface="Montserrat Bold"/>
                <a:ea typeface="Montserrat Bold"/>
                <a:cs typeface="Montserrat Bold"/>
                <a:sym typeface="Montserrat Bold"/>
              </a:rPr>
              <a:t>Buat deteksi gerakan, pake GestureDetector dengan event onPanUpdate. Waktu jari digeser, nilai posisi diupdate berdasarkan delta.dx dan delta.dy. Perubahan dibungkus setState() biar UI langsung update. Objeknya pake AnimatedContainer biar gerakannya halus pake animasi.</a:t>
            </a:r>
          </a:p>
          <a:p>
            <a:pPr algn="just">
              <a:lnSpc>
                <a:spcPts val="280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729465">
            <a:off x="10555461"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9914375" y="7103681"/>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5063957" y="5202025"/>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53853" y="1977170"/>
            <a:ext cx="3603824" cy="4692227"/>
          </a:xfrm>
          <a:custGeom>
            <a:avLst/>
            <a:gdLst/>
            <a:ahLst/>
            <a:cxnLst/>
            <a:rect r="r" b="b" t="t" l="l"/>
            <a:pathLst>
              <a:path h="4692227" w="3603824">
                <a:moveTo>
                  <a:pt x="0" y="0"/>
                </a:moveTo>
                <a:lnTo>
                  <a:pt x="3603824" y="0"/>
                </a:lnTo>
                <a:lnTo>
                  <a:pt x="3603824" y="4692227"/>
                </a:lnTo>
                <a:lnTo>
                  <a:pt x="0" y="4692227"/>
                </a:lnTo>
                <a:lnTo>
                  <a:pt x="0" y="0"/>
                </a:lnTo>
                <a:close/>
              </a:path>
            </a:pathLst>
          </a:custGeom>
          <a:blipFill>
            <a:blip r:embed="rId6"/>
            <a:stretch>
              <a:fillRect l="0" t="0" r="0" b="0"/>
            </a:stretch>
          </a:blipFill>
        </p:spPr>
      </p:sp>
      <p:sp>
        <p:nvSpPr>
          <p:cNvPr name="TextBox 6" id="6"/>
          <p:cNvSpPr txBox="true"/>
          <p:nvPr/>
        </p:nvSpPr>
        <p:spPr>
          <a:xfrm rot="0">
            <a:off x="853853" y="602394"/>
            <a:ext cx="3603824" cy="1374777"/>
          </a:xfrm>
          <a:prstGeom prst="rect">
            <a:avLst/>
          </a:prstGeom>
        </p:spPr>
        <p:txBody>
          <a:bodyPr anchor="t" rtlCol="false" tIns="0" lIns="0" bIns="0" rIns="0">
            <a:spAutoFit/>
          </a:bodyPr>
          <a:lstStyle/>
          <a:p>
            <a:pPr algn="ctr">
              <a:lnSpc>
                <a:spcPts val="5599"/>
              </a:lnSpc>
              <a:spcBef>
                <a:spcPct val="0"/>
              </a:spcBef>
            </a:pPr>
            <a:r>
              <a:rPr lang="en-US" b="true" sz="3999">
                <a:solidFill>
                  <a:srgbClr val="153969"/>
                </a:solidFill>
                <a:latin typeface="Montserrat Bold"/>
                <a:ea typeface="Montserrat Bold"/>
                <a:cs typeface="Montserrat Bold"/>
                <a:sym typeface="Montserrat Bold"/>
              </a:rPr>
              <a:t>Sc</a:t>
            </a:r>
            <a:r>
              <a:rPr lang="en-US" b="true" sz="3999">
                <a:solidFill>
                  <a:srgbClr val="153969"/>
                </a:solidFill>
                <a:latin typeface="Montserrat Bold"/>
                <a:ea typeface="Montserrat Bold"/>
                <a:cs typeface="Montserrat Bold"/>
                <a:sym typeface="Montserrat Bold"/>
              </a:rPr>
              <a:t>ale &amp; Zoom</a:t>
            </a:r>
          </a:p>
          <a:p>
            <a:pPr algn="ctr">
              <a:lnSpc>
                <a:spcPts val="5599"/>
              </a:lnSpc>
              <a:spcBef>
                <a:spcPct val="0"/>
              </a:spcBef>
            </a:pPr>
          </a:p>
        </p:txBody>
      </p:sp>
      <p:sp>
        <p:nvSpPr>
          <p:cNvPr name="TextBox 7" id="7"/>
          <p:cNvSpPr txBox="true"/>
          <p:nvPr/>
        </p:nvSpPr>
        <p:spPr>
          <a:xfrm rot="0">
            <a:off x="1692549" y="6781719"/>
            <a:ext cx="1926431"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153969"/>
                </a:solidFill>
                <a:latin typeface="Montserrat Bold"/>
                <a:ea typeface="Montserrat Bold"/>
                <a:cs typeface="Montserrat Bold"/>
                <a:sym typeface="Montserrat Bold"/>
              </a:rPr>
              <a:t>Tampilan awal</a:t>
            </a:r>
          </a:p>
          <a:p>
            <a:pPr algn="ctr">
              <a:lnSpc>
                <a:spcPts val="2800"/>
              </a:lnSpc>
              <a:spcBef>
                <a:spcPct val="0"/>
              </a:spcBef>
            </a:pPr>
          </a:p>
        </p:txBody>
      </p:sp>
      <p:sp>
        <p:nvSpPr>
          <p:cNvPr name="TextBox 8" id="8"/>
          <p:cNvSpPr txBox="true"/>
          <p:nvPr/>
        </p:nvSpPr>
        <p:spPr>
          <a:xfrm rot="0">
            <a:off x="5030868" y="2336800"/>
            <a:ext cx="10289702" cy="2806700"/>
          </a:xfrm>
          <a:prstGeom prst="rect">
            <a:avLst/>
          </a:prstGeom>
        </p:spPr>
        <p:txBody>
          <a:bodyPr anchor="t" rtlCol="false" tIns="0" lIns="0" bIns="0" rIns="0">
            <a:spAutoFit/>
          </a:bodyPr>
          <a:lstStyle/>
          <a:p>
            <a:pPr algn="just">
              <a:lnSpc>
                <a:spcPts val="2800"/>
              </a:lnSpc>
              <a:spcBef>
                <a:spcPct val="0"/>
              </a:spcBef>
            </a:pPr>
            <a:r>
              <a:rPr lang="en-US" b="true" sz="2000">
                <a:solidFill>
                  <a:srgbClr val="153969"/>
                </a:solidFill>
                <a:latin typeface="Montserrat Bold"/>
                <a:ea typeface="Montserrat Bold"/>
                <a:cs typeface="Montserrat Bold"/>
                <a:sym typeface="Montserrat Bold"/>
              </a:rPr>
              <a:t>Variabel scal</a:t>
            </a:r>
            <a:r>
              <a:rPr lang="en-US" b="true" sz="2000">
                <a:solidFill>
                  <a:srgbClr val="153969"/>
                </a:solidFill>
                <a:latin typeface="Montserrat Bold"/>
                <a:ea typeface="Montserrat Bold"/>
                <a:cs typeface="Montserrat Bold"/>
                <a:sym typeface="Montserrat Bold"/>
              </a:rPr>
              <a:t>e digunakan untuk mengatur ukuran (zoom), sementara variabel position untuk mengatur posisi objek. Zoom dilakukan dengan pinch (dua jari) dan drag untuk menggeser, keduanya dideteksi lewat GestureDetector dengan event onScaleStart dan onScaleUpdate. Fitur ini hanya bisa digunakan di HP karena membutuhkan sentuhan dua jari. Tampilan diperhalus pakai AnimatedContainer, Transform.scale, dan Transform.translate. Objeknya didesain menarik dengan gradient dan bayangan, plus ada tombol reset buat balikin ukuran dan posisi ke awal.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729465">
            <a:off x="10555461"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9914375" y="7103681"/>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5063957" y="5202025"/>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53853" y="1977170"/>
            <a:ext cx="3603824" cy="4669855"/>
          </a:xfrm>
          <a:custGeom>
            <a:avLst/>
            <a:gdLst/>
            <a:ahLst/>
            <a:cxnLst/>
            <a:rect r="r" b="b" t="t" l="l"/>
            <a:pathLst>
              <a:path h="4669855" w="3603824">
                <a:moveTo>
                  <a:pt x="0" y="0"/>
                </a:moveTo>
                <a:lnTo>
                  <a:pt x="3603824" y="0"/>
                </a:lnTo>
                <a:lnTo>
                  <a:pt x="3603824" y="4669856"/>
                </a:lnTo>
                <a:lnTo>
                  <a:pt x="0" y="4669856"/>
                </a:lnTo>
                <a:lnTo>
                  <a:pt x="0" y="0"/>
                </a:lnTo>
                <a:close/>
              </a:path>
            </a:pathLst>
          </a:custGeom>
          <a:blipFill>
            <a:blip r:embed="rId6"/>
            <a:stretch>
              <a:fillRect l="0" t="0" r="0" b="0"/>
            </a:stretch>
          </a:blipFill>
        </p:spPr>
      </p:sp>
      <p:sp>
        <p:nvSpPr>
          <p:cNvPr name="Freeform 6" id="6"/>
          <p:cNvSpPr/>
          <p:nvPr/>
        </p:nvSpPr>
        <p:spPr>
          <a:xfrm flipH="false" flipV="false" rot="0">
            <a:off x="5194967" y="1962314"/>
            <a:ext cx="3604231" cy="4684712"/>
          </a:xfrm>
          <a:custGeom>
            <a:avLst/>
            <a:gdLst/>
            <a:ahLst/>
            <a:cxnLst/>
            <a:rect r="r" b="b" t="t" l="l"/>
            <a:pathLst>
              <a:path h="4684712" w="3604231">
                <a:moveTo>
                  <a:pt x="0" y="0"/>
                </a:moveTo>
                <a:lnTo>
                  <a:pt x="3604231" y="0"/>
                </a:lnTo>
                <a:lnTo>
                  <a:pt x="3604231" y="4684712"/>
                </a:lnTo>
                <a:lnTo>
                  <a:pt x="0" y="4684712"/>
                </a:lnTo>
                <a:lnTo>
                  <a:pt x="0" y="0"/>
                </a:lnTo>
                <a:close/>
              </a:path>
            </a:pathLst>
          </a:custGeom>
          <a:blipFill>
            <a:blip r:embed="rId7"/>
            <a:stretch>
              <a:fillRect l="0" t="0" r="0" b="0"/>
            </a:stretch>
          </a:blipFill>
        </p:spPr>
      </p:sp>
      <p:sp>
        <p:nvSpPr>
          <p:cNvPr name="Freeform 7" id="7"/>
          <p:cNvSpPr/>
          <p:nvPr/>
        </p:nvSpPr>
        <p:spPr>
          <a:xfrm flipH="false" flipV="false" rot="0">
            <a:off x="9532623" y="1962314"/>
            <a:ext cx="3588458" cy="4684712"/>
          </a:xfrm>
          <a:custGeom>
            <a:avLst/>
            <a:gdLst/>
            <a:ahLst/>
            <a:cxnLst/>
            <a:rect r="r" b="b" t="t" l="l"/>
            <a:pathLst>
              <a:path h="4684712" w="3588458">
                <a:moveTo>
                  <a:pt x="0" y="0"/>
                </a:moveTo>
                <a:lnTo>
                  <a:pt x="3588458" y="0"/>
                </a:lnTo>
                <a:lnTo>
                  <a:pt x="3588458" y="4684712"/>
                </a:lnTo>
                <a:lnTo>
                  <a:pt x="0" y="4684712"/>
                </a:lnTo>
                <a:lnTo>
                  <a:pt x="0" y="0"/>
                </a:lnTo>
                <a:close/>
              </a:path>
            </a:pathLst>
          </a:custGeom>
          <a:blipFill>
            <a:blip r:embed="rId8"/>
            <a:stretch>
              <a:fillRect l="0" t="0" r="0" b="0"/>
            </a:stretch>
          </a:blipFill>
        </p:spPr>
      </p:sp>
      <p:sp>
        <p:nvSpPr>
          <p:cNvPr name="Freeform 8" id="8"/>
          <p:cNvSpPr/>
          <p:nvPr/>
        </p:nvSpPr>
        <p:spPr>
          <a:xfrm flipH="false" flipV="false" rot="0">
            <a:off x="13854506" y="1962314"/>
            <a:ext cx="3675212" cy="4684712"/>
          </a:xfrm>
          <a:custGeom>
            <a:avLst/>
            <a:gdLst/>
            <a:ahLst/>
            <a:cxnLst/>
            <a:rect r="r" b="b" t="t" l="l"/>
            <a:pathLst>
              <a:path h="4684712" w="3675212">
                <a:moveTo>
                  <a:pt x="0" y="0"/>
                </a:moveTo>
                <a:lnTo>
                  <a:pt x="3675211" y="0"/>
                </a:lnTo>
                <a:lnTo>
                  <a:pt x="3675211" y="4684712"/>
                </a:lnTo>
                <a:lnTo>
                  <a:pt x="0" y="4684712"/>
                </a:lnTo>
                <a:lnTo>
                  <a:pt x="0" y="0"/>
                </a:lnTo>
                <a:close/>
              </a:path>
            </a:pathLst>
          </a:custGeom>
          <a:blipFill>
            <a:blip r:embed="rId9"/>
            <a:stretch>
              <a:fillRect l="0" t="0" r="0" b="0"/>
            </a:stretch>
          </a:blipFill>
        </p:spPr>
      </p:sp>
      <p:sp>
        <p:nvSpPr>
          <p:cNvPr name="TextBox 9" id="9"/>
          <p:cNvSpPr txBox="true"/>
          <p:nvPr/>
        </p:nvSpPr>
        <p:spPr>
          <a:xfrm rot="0">
            <a:off x="853853" y="602394"/>
            <a:ext cx="3603824" cy="1374777"/>
          </a:xfrm>
          <a:prstGeom prst="rect">
            <a:avLst/>
          </a:prstGeom>
        </p:spPr>
        <p:txBody>
          <a:bodyPr anchor="t" rtlCol="false" tIns="0" lIns="0" bIns="0" rIns="0">
            <a:spAutoFit/>
          </a:bodyPr>
          <a:lstStyle/>
          <a:p>
            <a:pPr algn="ctr">
              <a:lnSpc>
                <a:spcPts val="5599"/>
              </a:lnSpc>
              <a:spcBef>
                <a:spcPct val="0"/>
              </a:spcBef>
            </a:pPr>
            <a:r>
              <a:rPr lang="en-US" b="true" sz="3999">
                <a:solidFill>
                  <a:srgbClr val="153969"/>
                </a:solidFill>
                <a:latin typeface="Montserrat Bold"/>
                <a:ea typeface="Montserrat Bold"/>
                <a:cs typeface="Montserrat Bold"/>
                <a:sym typeface="Montserrat Bold"/>
              </a:rPr>
              <a:t>Sc</a:t>
            </a:r>
            <a:r>
              <a:rPr lang="en-US" b="true" sz="3999">
                <a:solidFill>
                  <a:srgbClr val="153969"/>
                </a:solidFill>
                <a:latin typeface="Montserrat Bold"/>
                <a:ea typeface="Montserrat Bold"/>
                <a:cs typeface="Montserrat Bold"/>
                <a:sym typeface="Montserrat Bold"/>
              </a:rPr>
              <a:t>ale &amp; Zoom</a:t>
            </a:r>
          </a:p>
          <a:p>
            <a:pPr algn="ctr">
              <a:lnSpc>
                <a:spcPts val="5599"/>
              </a:lnSpc>
              <a:spcBef>
                <a:spcPct val="0"/>
              </a:spcBef>
            </a:pPr>
          </a:p>
        </p:txBody>
      </p:sp>
      <p:sp>
        <p:nvSpPr>
          <p:cNvPr name="TextBox 10" id="10"/>
          <p:cNvSpPr txBox="true"/>
          <p:nvPr/>
        </p:nvSpPr>
        <p:spPr>
          <a:xfrm rot="0">
            <a:off x="818159" y="6743080"/>
            <a:ext cx="3675212"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153969"/>
                </a:solidFill>
                <a:latin typeface="Montserrat Bold"/>
                <a:ea typeface="Montserrat Bold"/>
                <a:cs typeface="Montserrat Bold"/>
                <a:sym typeface="Montserrat Bold"/>
              </a:rPr>
              <a:t>Tampilan awal</a:t>
            </a:r>
          </a:p>
          <a:p>
            <a:pPr algn="ctr">
              <a:lnSpc>
                <a:spcPts val="2800"/>
              </a:lnSpc>
              <a:spcBef>
                <a:spcPct val="0"/>
              </a:spcBef>
            </a:pPr>
          </a:p>
        </p:txBody>
      </p:sp>
      <p:sp>
        <p:nvSpPr>
          <p:cNvPr name="TextBox 11" id="11"/>
          <p:cNvSpPr txBox="true"/>
          <p:nvPr/>
        </p:nvSpPr>
        <p:spPr>
          <a:xfrm rot="0">
            <a:off x="5159476" y="6743080"/>
            <a:ext cx="3675212"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153969"/>
                </a:solidFill>
                <a:latin typeface="Montserrat Bold"/>
                <a:ea typeface="Montserrat Bold"/>
                <a:cs typeface="Montserrat Bold"/>
                <a:sym typeface="Montserrat Bold"/>
              </a:rPr>
              <a:t>Tampilan ketika di geser</a:t>
            </a:r>
          </a:p>
          <a:p>
            <a:pPr algn="ctr">
              <a:lnSpc>
                <a:spcPts val="2800"/>
              </a:lnSpc>
              <a:spcBef>
                <a:spcPct val="0"/>
              </a:spcBef>
            </a:pPr>
          </a:p>
        </p:txBody>
      </p:sp>
      <p:sp>
        <p:nvSpPr>
          <p:cNvPr name="TextBox 12" id="12"/>
          <p:cNvSpPr txBox="true"/>
          <p:nvPr/>
        </p:nvSpPr>
        <p:spPr>
          <a:xfrm rot="0">
            <a:off x="9816544" y="6743080"/>
            <a:ext cx="3020616"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153969"/>
                </a:solidFill>
                <a:latin typeface="Montserrat Bold"/>
                <a:ea typeface="Montserrat Bold"/>
                <a:cs typeface="Montserrat Bold"/>
                <a:sym typeface="Montserrat Bold"/>
              </a:rPr>
              <a:t>Tampilan ketika di klik</a:t>
            </a:r>
          </a:p>
          <a:p>
            <a:pPr algn="ctr">
              <a:lnSpc>
                <a:spcPts val="2800"/>
              </a:lnSpc>
              <a:spcBef>
                <a:spcPct val="0"/>
              </a:spcBef>
            </a:pPr>
          </a:p>
        </p:txBody>
      </p:sp>
      <p:sp>
        <p:nvSpPr>
          <p:cNvPr name="TextBox 13" id="13"/>
          <p:cNvSpPr txBox="true"/>
          <p:nvPr/>
        </p:nvSpPr>
        <p:spPr>
          <a:xfrm rot="0">
            <a:off x="13756307" y="6743080"/>
            <a:ext cx="3871608"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153969"/>
                </a:solidFill>
                <a:latin typeface="Montserrat Bold"/>
                <a:ea typeface="Montserrat Bold"/>
                <a:cs typeface="Montserrat Bold"/>
                <a:sym typeface="Montserrat Bold"/>
              </a:rPr>
              <a:t>Tampilan ketika di tahan</a:t>
            </a:r>
          </a:p>
          <a:p>
            <a:pPr algn="ctr">
              <a:lnSpc>
                <a:spcPts val="2800"/>
              </a:lnSpc>
              <a:spcBef>
                <a:spcPct val="0"/>
              </a:spcBef>
            </a:pPr>
          </a:p>
        </p:txBody>
      </p:sp>
      <p:sp>
        <p:nvSpPr>
          <p:cNvPr name="TextBox 14" id="14"/>
          <p:cNvSpPr txBox="true"/>
          <p:nvPr/>
        </p:nvSpPr>
        <p:spPr>
          <a:xfrm rot="0">
            <a:off x="818159" y="7397129"/>
            <a:ext cx="11154679" cy="2806700"/>
          </a:xfrm>
          <a:prstGeom prst="rect">
            <a:avLst/>
          </a:prstGeom>
        </p:spPr>
        <p:txBody>
          <a:bodyPr anchor="t" rtlCol="false" tIns="0" lIns="0" bIns="0" rIns="0">
            <a:spAutoFit/>
          </a:bodyPr>
          <a:lstStyle/>
          <a:p>
            <a:pPr algn="just">
              <a:lnSpc>
                <a:spcPts val="2800"/>
              </a:lnSpc>
              <a:spcBef>
                <a:spcPct val="0"/>
              </a:spcBef>
            </a:pPr>
            <a:r>
              <a:rPr lang="en-US" b="true" sz="2000">
                <a:solidFill>
                  <a:srgbClr val="153969"/>
                </a:solidFill>
                <a:latin typeface="Montserrat Bold"/>
                <a:ea typeface="Montserrat Bold"/>
                <a:cs typeface="Montserrat Bold"/>
                <a:sym typeface="Montserrat Bold"/>
              </a:rPr>
              <a:t>Sebuah objek interaktif di Flutter ditampilkan d</a:t>
            </a:r>
            <a:r>
              <a:rPr lang="en-US" b="true" sz="2000">
                <a:solidFill>
                  <a:srgbClr val="153969"/>
                </a:solidFill>
                <a:latin typeface="Montserrat Bold"/>
                <a:ea typeface="Montserrat Bold"/>
                <a:cs typeface="Montserrat Bold"/>
                <a:sym typeface="Montserrat Bold"/>
              </a:rPr>
              <a:t>engan kode yang bisa dipindah (drag), diperbesar (zoom), dan diubah warna menggunakan berbagai gesture. Posisi diatur dengan x dan y, ukuran dengan scale, serta warna dengan color. GestureDetector digunakan untuk menangani tap, double tap, long press, dan pinch/drag, sementara Stack dan Positioned memungkinkan objek bergerak bebas di layar. Perubahan ditampilkan secara halus menggunakan AnimatedContainer dan Transform.scale. Terdapat juga tombol reset untuk mengembalikan semua ke kondisi awal.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949890" y="-3115172"/>
            <a:ext cx="9450374" cy="9450374"/>
          </a:xfrm>
          <a:custGeom>
            <a:avLst/>
            <a:gdLst/>
            <a:ahLst/>
            <a:cxnLst/>
            <a:rect r="r" b="b" t="t" l="l"/>
            <a:pathLst>
              <a:path h="9450374" w="9450374">
                <a:moveTo>
                  <a:pt x="0" y="0"/>
                </a:moveTo>
                <a:lnTo>
                  <a:pt x="9450374" y="0"/>
                </a:lnTo>
                <a:lnTo>
                  <a:pt x="9450374" y="9450374"/>
                </a:lnTo>
                <a:lnTo>
                  <a:pt x="0" y="94503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1901181" y="2090981"/>
            <a:ext cx="4797613" cy="4797613"/>
          </a:xfrm>
          <a:custGeom>
            <a:avLst/>
            <a:gdLst/>
            <a:ahLst/>
            <a:cxnLst/>
            <a:rect r="r" b="b" t="t" l="l"/>
            <a:pathLst>
              <a:path h="4797613" w="4797613">
                <a:moveTo>
                  <a:pt x="0" y="0"/>
                </a:moveTo>
                <a:lnTo>
                  <a:pt x="4797614" y="0"/>
                </a:lnTo>
                <a:lnTo>
                  <a:pt x="4797614" y="4797613"/>
                </a:lnTo>
                <a:lnTo>
                  <a:pt x="0" y="479761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4351368" y="7888193"/>
            <a:ext cx="4797613" cy="4797613"/>
          </a:xfrm>
          <a:custGeom>
            <a:avLst/>
            <a:gdLst/>
            <a:ahLst/>
            <a:cxnLst/>
            <a:rect r="r" b="b" t="t" l="l"/>
            <a:pathLst>
              <a:path h="4797613" w="4797613">
                <a:moveTo>
                  <a:pt x="0" y="0"/>
                </a:moveTo>
                <a:lnTo>
                  <a:pt x="4797613" y="0"/>
                </a:lnTo>
                <a:lnTo>
                  <a:pt x="4797613" y="4797614"/>
                </a:lnTo>
                <a:lnTo>
                  <a:pt x="0" y="479761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914095" y="3505200"/>
            <a:ext cx="8034678" cy="3390900"/>
          </a:xfrm>
          <a:prstGeom prst="rect">
            <a:avLst/>
          </a:prstGeom>
        </p:spPr>
        <p:txBody>
          <a:bodyPr anchor="t" rtlCol="false" tIns="0" lIns="0" bIns="0" rIns="0">
            <a:spAutoFit/>
          </a:bodyPr>
          <a:lstStyle/>
          <a:p>
            <a:pPr algn="ctr">
              <a:lnSpc>
                <a:spcPts val="13200"/>
              </a:lnSpc>
            </a:pPr>
            <a:r>
              <a:rPr lang="en-US" b="true" sz="12000">
                <a:solidFill>
                  <a:srgbClr val="153969"/>
                </a:solidFill>
                <a:latin typeface="Montserrat Bold"/>
                <a:ea typeface="Montserrat Bold"/>
                <a:cs typeface="Montserrat Bold"/>
                <a:sym typeface="Montserrat Bold"/>
              </a:rPr>
              <a:t>TERIMA KASIH</a:t>
            </a:r>
          </a:p>
        </p:txBody>
      </p:sp>
      <p:sp>
        <p:nvSpPr>
          <p:cNvPr name="Freeform 6" id="6"/>
          <p:cNvSpPr/>
          <p:nvPr/>
        </p:nvSpPr>
        <p:spPr>
          <a:xfrm flipH="false" flipV="false" rot="10729465">
            <a:off x="14677280" y="-3236308"/>
            <a:ext cx="4797613" cy="4797613"/>
          </a:xfrm>
          <a:custGeom>
            <a:avLst/>
            <a:gdLst/>
            <a:ahLst/>
            <a:cxnLst/>
            <a:rect r="r" b="b" t="t" l="l"/>
            <a:pathLst>
              <a:path h="4797613" w="4797613">
                <a:moveTo>
                  <a:pt x="0" y="0"/>
                </a:moveTo>
                <a:lnTo>
                  <a:pt x="4797614" y="0"/>
                </a:lnTo>
                <a:lnTo>
                  <a:pt x="4797614" y="4797614"/>
                </a:lnTo>
                <a:lnTo>
                  <a:pt x="0" y="479761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DAHFnE-lNlY</dc:identifier>
  <dcterms:modified xsi:type="dcterms:W3CDTF">2011-08-01T06:04:30Z</dcterms:modified>
  <cp:revision>1</cp:revision>
  <dc:title>Rafi Rajendranata Pidekso_E41240029_TIF GOL A_WMAF_20260401_190704_0000.pptx</dc:title>
</cp:coreProperties>
</file>