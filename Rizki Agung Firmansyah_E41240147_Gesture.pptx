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ublic Sans Bold" charset="1" panose="00000000000000000000"/>
      <p:regular r:id="rId15"/>
    </p:embeddedFont>
    <p:embeddedFont>
      <p:font typeface="Public Sans Italics" charset="1" panose="00000000000000000000"/>
      <p:regular r:id="rId16"/>
    </p:embeddedFont>
    <p:embeddedFont>
      <p:font typeface="Public Sans"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sp>
        <p:nvSpPr>
          <p:cNvPr name="Freeform 2" id="2"/>
          <p:cNvSpPr/>
          <p:nvPr/>
        </p:nvSpPr>
        <p:spPr>
          <a:xfrm flipH="false" flipV="false" rot="0">
            <a:off x="3008031" y="7925123"/>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48004" y="-155937"/>
            <a:ext cx="21184007" cy="10598873"/>
            <a:chOff x="0" y="0"/>
            <a:chExt cx="28245343" cy="14131831"/>
          </a:xfrm>
        </p:grpSpPr>
        <p:sp>
          <p:nvSpPr>
            <p:cNvPr name="Freeform 4" id="4"/>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4">
                <a:alphaModFix amt="8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4">
                <a:alphaModFix amt="8999"/>
                <a:extLst>
                  <a:ext uri="{96DAC541-7B7A-43D3-8B79-37D633B846F1}">
                    <asvg:svgBlip xmlns:asvg="http://schemas.microsoft.com/office/drawing/2016/SVG/main" r:embed="rId5"/>
                  </a:ext>
                </a:extLst>
              </a:blip>
              <a:stretch>
                <a:fillRect l="0" t="0" r="0" b="0"/>
              </a:stretch>
            </a:blipFill>
          </p:spPr>
        </p:sp>
      </p:grpSp>
      <p:grpSp>
        <p:nvGrpSpPr>
          <p:cNvPr name="Group 6" id="6"/>
          <p:cNvGrpSpPr/>
          <p:nvPr/>
        </p:nvGrpSpPr>
        <p:grpSpPr>
          <a:xfrm rot="0">
            <a:off x="1028700" y="5827963"/>
            <a:ext cx="7235908" cy="2564567"/>
            <a:chOff x="0" y="0"/>
            <a:chExt cx="1905754" cy="675441"/>
          </a:xfrm>
        </p:grpSpPr>
        <p:sp>
          <p:nvSpPr>
            <p:cNvPr name="Freeform 7" id="7"/>
            <p:cNvSpPr/>
            <p:nvPr/>
          </p:nvSpPr>
          <p:spPr>
            <a:xfrm flipH="false" flipV="false" rot="0">
              <a:off x="0" y="0"/>
              <a:ext cx="1905754" cy="675441"/>
            </a:xfrm>
            <a:custGeom>
              <a:avLst/>
              <a:gdLst/>
              <a:ahLst/>
              <a:cxnLst/>
              <a:rect r="r" b="b" t="t" l="l"/>
              <a:pathLst>
                <a:path h="675441" w="1905754">
                  <a:moveTo>
                    <a:pt x="54566" y="0"/>
                  </a:moveTo>
                  <a:lnTo>
                    <a:pt x="1851187" y="0"/>
                  </a:lnTo>
                  <a:cubicBezTo>
                    <a:pt x="1865659" y="0"/>
                    <a:pt x="1879538" y="5749"/>
                    <a:pt x="1889771" y="15982"/>
                  </a:cubicBezTo>
                  <a:cubicBezTo>
                    <a:pt x="1900005" y="26215"/>
                    <a:pt x="1905754" y="40095"/>
                    <a:pt x="1905754" y="54566"/>
                  </a:cubicBezTo>
                  <a:lnTo>
                    <a:pt x="1905754" y="620875"/>
                  </a:lnTo>
                  <a:cubicBezTo>
                    <a:pt x="1905754" y="635347"/>
                    <a:pt x="1900005" y="649226"/>
                    <a:pt x="1889771" y="659459"/>
                  </a:cubicBezTo>
                  <a:cubicBezTo>
                    <a:pt x="1879538" y="669692"/>
                    <a:pt x="1865659" y="675441"/>
                    <a:pt x="1851187" y="675441"/>
                  </a:cubicBezTo>
                  <a:lnTo>
                    <a:pt x="54566" y="675441"/>
                  </a:lnTo>
                  <a:cubicBezTo>
                    <a:pt x="40095" y="675441"/>
                    <a:pt x="26215" y="669692"/>
                    <a:pt x="15982" y="659459"/>
                  </a:cubicBezTo>
                  <a:cubicBezTo>
                    <a:pt x="5749" y="649226"/>
                    <a:pt x="0" y="635347"/>
                    <a:pt x="0" y="620875"/>
                  </a:cubicBezTo>
                  <a:lnTo>
                    <a:pt x="0" y="54566"/>
                  </a:lnTo>
                  <a:cubicBezTo>
                    <a:pt x="0" y="40095"/>
                    <a:pt x="5749" y="26215"/>
                    <a:pt x="15982" y="15982"/>
                  </a:cubicBezTo>
                  <a:cubicBezTo>
                    <a:pt x="26215" y="5749"/>
                    <a:pt x="40095" y="0"/>
                    <a:pt x="54566" y="0"/>
                  </a:cubicBezTo>
                  <a:close/>
                </a:path>
              </a:pathLst>
            </a:custGeom>
            <a:ln w="19050" cap="rnd">
              <a:solidFill>
                <a:srgbClr val="FFFFFF"/>
              </a:solidFill>
              <a:prstDash val="solid"/>
              <a:round/>
            </a:ln>
          </p:spPr>
        </p:sp>
        <p:sp>
          <p:nvSpPr>
            <p:cNvPr name="TextBox 8" id="8"/>
            <p:cNvSpPr txBox="true"/>
            <p:nvPr/>
          </p:nvSpPr>
          <p:spPr>
            <a:xfrm>
              <a:off x="0" y="-38100"/>
              <a:ext cx="1905754" cy="713541"/>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7422762" y="3768035"/>
            <a:ext cx="11822479" cy="10554250"/>
          </a:xfrm>
          <a:custGeom>
            <a:avLst/>
            <a:gdLst/>
            <a:ahLst/>
            <a:cxnLst/>
            <a:rect r="r" b="b" t="t" l="l"/>
            <a:pathLst>
              <a:path h="10554250" w="11822479">
                <a:moveTo>
                  <a:pt x="0" y="0"/>
                </a:moveTo>
                <a:lnTo>
                  <a:pt x="11822479" y="0"/>
                </a:lnTo>
                <a:lnTo>
                  <a:pt x="11822479" y="10554250"/>
                </a:lnTo>
                <a:lnTo>
                  <a:pt x="0" y="10554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3163284" y="-820170"/>
            <a:ext cx="4096016" cy="4588205"/>
          </a:xfrm>
          <a:custGeom>
            <a:avLst/>
            <a:gdLst/>
            <a:ahLst/>
            <a:cxnLst/>
            <a:rect r="r" b="b" t="t" l="l"/>
            <a:pathLst>
              <a:path h="4588205" w="4096016">
                <a:moveTo>
                  <a:pt x="0" y="0"/>
                </a:moveTo>
                <a:lnTo>
                  <a:pt x="4096016" y="0"/>
                </a:lnTo>
                <a:lnTo>
                  <a:pt x="4096016" y="4588205"/>
                </a:lnTo>
                <a:lnTo>
                  <a:pt x="0" y="4588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028700" y="1072745"/>
            <a:ext cx="11932584" cy="3665692"/>
          </a:xfrm>
          <a:prstGeom prst="rect">
            <a:avLst/>
          </a:prstGeom>
        </p:spPr>
        <p:txBody>
          <a:bodyPr anchor="t" rtlCol="false" tIns="0" lIns="0" bIns="0" rIns="0">
            <a:spAutoFit/>
          </a:bodyPr>
          <a:lstStyle/>
          <a:p>
            <a:pPr algn="l">
              <a:lnSpc>
                <a:spcPts val="9421"/>
              </a:lnSpc>
            </a:pPr>
            <a:r>
              <a:rPr lang="en-US" sz="9713" spc="-582" b="true">
                <a:solidFill>
                  <a:srgbClr val="FFFFFF"/>
                </a:solidFill>
                <a:latin typeface="Public Sans Bold"/>
                <a:ea typeface="Public Sans Bold"/>
                <a:cs typeface="Public Sans Bold"/>
                <a:sym typeface="Public Sans Bold"/>
              </a:rPr>
              <a:t>Gesture Lab - Aplikasi Pembelajaran Gesture Flutter</a:t>
            </a:r>
          </a:p>
        </p:txBody>
      </p:sp>
      <p:sp>
        <p:nvSpPr>
          <p:cNvPr name="TextBox 12" id="12"/>
          <p:cNvSpPr txBox="true"/>
          <p:nvPr/>
        </p:nvSpPr>
        <p:spPr>
          <a:xfrm rot="0">
            <a:off x="1078807" y="4795588"/>
            <a:ext cx="8065193" cy="450749"/>
          </a:xfrm>
          <a:prstGeom prst="rect">
            <a:avLst/>
          </a:prstGeom>
        </p:spPr>
        <p:txBody>
          <a:bodyPr anchor="t" rtlCol="false" tIns="0" lIns="0" bIns="0" rIns="0">
            <a:spAutoFit/>
          </a:bodyPr>
          <a:lstStyle/>
          <a:p>
            <a:pPr algn="l">
              <a:lnSpc>
                <a:spcPts val="3265"/>
              </a:lnSpc>
            </a:pPr>
            <a:r>
              <a:rPr lang="en-US" sz="3366" i="true" spc="-201">
                <a:solidFill>
                  <a:srgbClr val="FFFFFF"/>
                </a:solidFill>
                <a:latin typeface="Public Sans Italics"/>
                <a:ea typeface="Public Sans Italics"/>
                <a:cs typeface="Public Sans Italics"/>
                <a:sym typeface="Public Sans Italics"/>
              </a:rPr>
              <a:t>Eksplorasi Interaksi Sentuh dengan Flutter</a:t>
            </a:r>
          </a:p>
        </p:txBody>
      </p:sp>
      <p:sp>
        <p:nvSpPr>
          <p:cNvPr name="TextBox 13" id="13"/>
          <p:cNvSpPr txBox="true"/>
          <p:nvPr/>
        </p:nvSpPr>
        <p:spPr>
          <a:xfrm rot="0">
            <a:off x="1353055" y="6178181"/>
            <a:ext cx="7235908" cy="1930807"/>
          </a:xfrm>
          <a:prstGeom prst="rect">
            <a:avLst/>
          </a:prstGeom>
        </p:spPr>
        <p:txBody>
          <a:bodyPr anchor="t" rtlCol="false" tIns="0" lIns="0" bIns="0" rIns="0">
            <a:spAutoFit/>
          </a:bodyPr>
          <a:lstStyle/>
          <a:p>
            <a:pPr algn="l">
              <a:lnSpc>
                <a:spcPts val="3071"/>
              </a:lnSpc>
            </a:pPr>
            <a:r>
              <a:rPr lang="en-US" sz="3166" spc="-189">
                <a:solidFill>
                  <a:srgbClr val="FFFFFF"/>
                </a:solidFill>
                <a:latin typeface="Public Sans"/>
                <a:ea typeface="Public Sans"/>
                <a:cs typeface="Public Sans"/>
                <a:sym typeface="Public Sans"/>
              </a:rPr>
              <a:t>Nama: Rizki Agung Firmansyah</a:t>
            </a:r>
          </a:p>
          <a:p>
            <a:pPr algn="l">
              <a:lnSpc>
                <a:spcPts val="3071"/>
              </a:lnSpc>
            </a:pPr>
            <a:r>
              <a:rPr lang="en-US" sz="3166" spc="-189">
                <a:solidFill>
                  <a:srgbClr val="FFFFFF"/>
                </a:solidFill>
                <a:latin typeface="Public Sans"/>
                <a:ea typeface="Public Sans"/>
                <a:cs typeface="Public Sans"/>
                <a:sym typeface="Public Sans"/>
              </a:rPr>
              <a:t>NIM: E41240147</a:t>
            </a:r>
          </a:p>
          <a:p>
            <a:pPr algn="l">
              <a:lnSpc>
                <a:spcPts val="3071"/>
              </a:lnSpc>
            </a:pPr>
            <a:r>
              <a:rPr lang="en-US" sz="3166" spc="-189">
                <a:solidFill>
                  <a:srgbClr val="FFFFFF"/>
                </a:solidFill>
                <a:latin typeface="Public Sans"/>
                <a:ea typeface="Public Sans"/>
                <a:cs typeface="Public Sans"/>
                <a:sym typeface="Public Sans"/>
              </a:rPr>
              <a:t>Gol: A</a:t>
            </a:r>
          </a:p>
          <a:p>
            <a:pPr algn="l">
              <a:lnSpc>
                <a:spcPts val="3071"/>
              </a:lnSpc>
            </a:pPr>
            <a:r>
              <a:rPr lang="en-US" sz="3166" spc="-189">
                <a:solidFill>
                  <a:srgbClr val="FFFFFF"/>
                </a:solidFill>
                <a:latin typeface="Public Sans"/>
                <a:ea typeface="Public Sans"/>
                <a:cs typeface="Public Sans"/>
                <a:sym typeface="Public Sans"/>
              </a:rPr>
              <a:t>Mata Kuliah: Workshop Mobile Aplication Framework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703853" y="7886700"/>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1171575"/>
            <a:ext cx="4000500"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main.dart</a:t>
            </a:r>
          </a:p>
        </p:txBody>
      </p:sp>
      <p:sp>
        <p:nvSpPr>
          <p:cNvPr name="TextBox 7" id="7"/>
          <p:cNvSpPr txBox="true"/>
          <p:nvPr/>
        </p:nvSpPr>
        <p:spPr>
          <a:xfrm rot="0">
            <a:off x="8460792" y="2014599"/>
            <a:ext cx="7866672" cy="7587404"/>
          </a:xfrm>
          <a:prstGeom prst="rect">
            <a:avLst/>
          </a:prstGeom>
        </p:spPr>
        <p:txBody>
          <a:bodyPr anchor="t" rtlCol="false" tIns="0" lIns="0" bIns="0" rIns="0">
            <a:spAutoFit/>
          </a:bodyPr>
          <a:lstStyle/>
          <a:p>
            <a:pPr algn="l">
              <a:lnSpc>
                <a:spcPts val="4019"/>
              </a:lnSpc>
            </a:pPr>
            <a:r>
              <a:rPr lang="en-US" sz="3435" spc="-206">
                <a:solidFill>
                  <a:srgbClr val="FFFFFF"/>
                </a:solidFill>
                <a:latin typeface="Public Sans"/>
                <a:ea typeface="Public Sans"/>
                <a:cs typeface="Public Sans"/>
                <a:sym typeface="Public Sans"/>
              </a:rPr>
              <a:t>main.dart berfungsi sebagai entry point aplikasi. Fungsi main() memanggil runApp() untuk menjalankan widget GestureApp. Widget ini mengembalikan MaterialApp dengan konfigurasi:</a:t>
            </a:r>
          </a:p>
          <a:p>
            <a:pPr algn="l" marL="741666" indent="-370833" lvl="1">
              <a:lnSpc>
                <a:spcPts val="4019"/>
              </a:lnSpc>
              <a:buFont typeface="Arial"/>
              <a:buChar char="•"/>
            </a:pPr>
            <a:r>
              <a:rPr lang="en-US" sz="3435" spc="-206">
                <a:solidFill>
                  <a:srgbClr val="FFFFFF"/>
                </a:solidFill>
                <a:latin typeface="Public Sans"/>
                <a:ea typeface="Public Sans"/>
                <a:cs typeface="Public Sans"/>
                <a:sym typeface="Public Sans"/>
              </a:rPr>
              <a:t>title: "Gesture Lab" sebagai judul aplikasi</a:t>
            </a:r>
          </a:p>
          <a:p>
            <a:pPr algn="l" marL="741666" indent="-370833" lvl="1">
              <a:lnSpc>
                <a:spcPts val="4019"/>
              </a:lnSpc>
              <a:buFont typeface="Arial"/>
              <a:buChar char="•"/>
            </a:pPr>
            <a:r>
              <a:rPr lang="en-US" sz="3435" spc="-206">
                <a:solidFill>
                  <a:srgbClr val="FFFFFF"/>
                </a:solidFill>
                <a:latin typeface="Public Sans"/>
                <a:ea typeface="Public Sans"/>
                <a:cs typeface="Public Sans"/>
                <a:sym typeface="Public Sans"/>
              </a:rPr>
              <a:t>debugShowCheckedModeBanner: false → menyembunyikan banner DEBUG</a:t>
            </a:r>
          </a:p>
          <a:p>
            <a:pPr algn="l" marL="741666" indent="-370833" lvl="1">
              <a:lnSpc>
                <a:spcPts val="4019"/>
              </a:lnSpc>
              <a:buFont typeface="Arial"/>
              <a:buChar char="•"/>
            </a:pPr>
            <a:r>
              <a:rPr lang="en-US" sz="3435" spc="-206">
                <a:solidFill>
                  <a:srgbClr val="FFFFFF"/>
                </a:solidFill>
                <a:latin typeface="Public Sans"/>
                <a:ea typeface="Public Sans"/>
                <a:cs typeface="Public Sans"/>
                <a:sym typeface="Public Sans"/>
              </a:rPr>
              <a:t>theme: Material Design 3 dengan warna dasar biru</a:t>
            </a:r>
          </a:p>
          <a:p>
            <a:pPr algn="l" marL="741666" indent="-370833" lvl="1">
              <a:lnSpc>
                <a:spcPts val="4019"/>
              </a:lnSpc>
              <a:buFont typeface="Arial"/>
              <a:buChar char="•"/>
            </a:pPr>
            <a:r>
              <a:rPr lang="en-US" sz="3435" spc="-206">
                <a:solidFill>
                  <a:srgbClr val="FFFFFF"/>
                </a:solidFill>
                <a:latin typeface="Public Sans"/>
                <a:ea typeface="Public Sans"/>
                <a:cs typeface="Public Sans"/>
                <a:sym typeface="Public Sans"/>
              </a:rPr>
              <a:t>home: menampilkan HomePage() sebagai halaman pertama</a:t>
            </a:r>
          </a:p>
          <a:p>
            <a:pPr algn="l">
              <a:lnSpc>
                <a:spcPts val="4019"/>
              </a:lnSpc>
            </a:pPr>
          </a:p>
        </p:txBody>
      </p:sp>
      <p:sp>
        <p:nvSpPr>
          <p:cNvPr name="Freeform 8" id="8"/>
          <p:cNvSpPr/>
          <p:nvPr/>
        </p:nvSpPr>
        <p:spPr>
          <a:xfrm flipH="false" flipV="false" rot="0">
            <a:off x="1028700" y="2024124"/>
            <a:ext cx="6556925" cy="7577879"/>
          </a:xfrm>
          <a:custGeom>
            <a:avLst/>
            <a:gdLst/>
            <a:ahLst/>
            <a:cxnLst/>
            <a:rect r="r" b="b" t="t" l="l"/>
            <a:pathLst>
              <a:path h="7577879" w="6556925">
                <a:moveTo>
                  <a:pt x="0" y="0"/>
                </a:moveTo>
                <a:lnTo>
                  <a:pt x="6556925" y="0"/>
                </a:lnTo>
                <a:lnTo>
                  <a:pt x="6556925" y="7577879"/>
                </a:lnTo>
                <a:lnTo>
                  <a:pt x="0" y="7577879"/>
                </a:lnTo>
                <a:lnTo>
                  <a:pt x="0" y="0"/>
                </a:lnTo>
                <a:close/>
              </a:path>
            </a:pathLst>
          </a:custGeom>
          <a:blipFill>
            <a:blip r:embed="rId6"/>
            <a:stretch>
              <a:fillRect l="0" t="-14031" r="0" b="-231"/>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6866240"/>
            <a:ext cx="6726777" cy="4733205"/>
          </a:xfrm>
          <a:custGeom>
            <a:avLst/>
            <a:gdLst/>
            <a:ahLst/>
            <a:cxnLst/>
            <a:rect r="r" b="b" t="t" l="l"/>
            <a:pathLst>
              <a:path h="4733205" w="6726777">
                <a:moveTo>
                  <a:pt x="0" y="0"/>
                </a:moveTo>
                <a:lnTo>
                  <a:pt x="6726777" y="0"/>
                </a:lnTo>
                <a:lnTo>
                  <a:pt x="6726777" y="4733205"/>
                </a:lnTo>
                <a:lnTo>
                  <a:pt x="0" y="4733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205459" y="1028700"/>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2002835"/>
            <a:ext cx="8789223" cy="5111893"/>
          </a:xfrm>
          <a:custGeom>
            <a:avLst/>
            <a:gdLst/>
            <a:ahLst/>
            <a:cxnLst/>
            <a:rect r="r" b="b" t="t" l="l"/>
            <a:pathLst>
              <a:path h="5111893" w="8789223">
                <a:moveTo>
                  <a:pt x="0" y="0"/>
                </a:moveTo>
                <a:lnTo>
                  <a:pt x="8789223" y="0"/>
                </a:lnTo>
                <a:lnTo>
                  <a:pt x="8789223" y="5111894"/>
                </a:lnTo>
                <a:lnTo>
                  <a:pt x="0" y="5111894"/>
                </a:lnTo>
                <a:lnTo>
                  <a:pt x="0" y="0"/>
                </a:lnTo>
                <a:close/>
              </a:path>
            </a:pathLst>
          </a:custGeom>
          <a:blipFill>
            <a:blip r:embed="rId8"/>
            <a:stretch>
              <a:fillRect l="0" t="0" r="0" b="0"/>
            </a:stretch>
          </a:blipFill>
        </p:spPr>
      </p:sp>
      <p:sp>
        <p:nvSpPr>
          <p:cNvPr name="TextBox 8" id="8"/>
          <p:cNvSpPr txBox="true"/>
          <p:nvPr/>
        </p:nvSpPr>
        <p:spPr>
          <a:xfrm rot="0">
            <a:off x="1028700" y="1115486"/>
            <a:ext cx="4030994"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main.dart</a:t>
            </a:r>
          </a:p>
        </p:txBody>
      </p:sp>
      <p:sp>
        <p:nvSpPr>
          <p:cNvPr name="TextBox 9" id="9"/>
          <p:cNvSpPr txBox="true"/>
          <p:nvPr/>
        </p:nvSpPr>
        <p:spPr>
          <a:xfrm rot="0">
            <a:off x="10139477" y="1945685"/>
            <a:ext cx="7440822" cy="6123565"/>
          </a:xfrm>
          <a:prstGeom prst="rect">
            <a:avLst/>
          </a:prstGeom>
        </p:spPr>
        <p:txBody>
          <a:bodyPr anchor="t" rtlCol="false" tIns="0" lIns="0" bIns="0" rIns="0">
            <a:spAutoFit/>
          </a:bodyPr>
          <a:lstStyle/>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import 'package:flutter/material.dart' → Mengimpor library Material Design Flutter yang berisi semua widget dasar seperti MaterialApp, Scaffold, Text, dll.</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import 'home_page.dart' → Mengimpor file home_page.dart yang berisi halaman utama aplikasi.</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void main() → Fungsi utama yang pertama kali dijalankan saat aplikasi dimulai.</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runApp(GestureApp()) → Fungsi untuk menjalankan widget GestureApp sebagai root widget aplikasi. Seluruh widget lain akan menjadi child dari widget ini.</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class GestureApp extends StatelessWidget → Membuat class GestureApp yang merupakan StatelessWidget (widget yang tidak berubah state-nya)</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Widget build(BuildContext context) → Method untuk membangun UI aplikasi</a:t>
            </a:r>
          </a:p>
          <a:p>
            <a:pPr algn="l" marL="472280" indent="-236140" lvl="1">
              <a:lnSpc>
                <a:spcPts val="2559"/>
              </a:lnSpc>
              <a:buFont typeface="Arial"/>
              <a:buChar char="•"/>
            </a:pPr>
            <a:r>
              <a:rPr lang="en-US" sz="2187" spc="-131">
                <a:solidFill>
                  <a:srgbClr val="FFFFFF"/>
                </a:solidFill>
                <a:latin typeface="Public Sans"/>
                <a:ea typeface="Public Sans"/>
                <a:cs typeface="Public Sans"/>
                <a:sym typeface="Public Sans"/>
              </a:rPr>
              <a:t>MaterialApp → Widget root yang menyediakan konfigurasi Material Design untuk seluruh aplikasi</a:t>
            </a:r>
          </a:p>
          <a:p>
            <a:pPr algn="l">
              <a:lnSpc>
                <a:spcPts val="2559"/>
              </a:lnSpc>
            </a:pPr>
          </a:p>
          <a:p>
            <a:pPr algn="l">
              <a:lnSpc>
                <a:spcPts val="25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364116" y="6970499"/>
            <a:ext cx="1131038" cy="1116643"/>
          </a:xfrm>
          <a:custGeom>
            <a:avLst/>
            <a:gdLst/>
            <a:ahLst/>
            <a:cxnLst/>
            <a:rect r="r" b="b" t="t" l="l"/>
            <a:pathLst>
              <a:path h="1116643" w="1131038">
                <a:moveTo>
                  <a:pt x="0" y="0"/>
                </a:moveTo>
                <a:lnTo>
                  <a:pt x="1131039" y="0"/>
                </a:lnTo>
                <a:lnTo>
                  <a:pt x="1131039" y="1116644"/>
                </a:lnTo>
                <a:lnTo>
                  <a:pt x="0" y="11166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83340" y="1553337"/>
            <a:ext cx="6566738" cy="5264713"/>
          </a:xfrm>
          <a:custGeom>
            <a:avLst/>
            <a:gdLst/>
            <a:ahLst/>
            <a:cxnLst/>
            <a:rect r="r" b="b" t="t" l="l"/>
            <a:pathLst>
              <a:path h="5264713" w="6566738">
                <a:moveTo>
                  <a:pt x="0" y="0"/>
                </a:moveTo>
                <a:lnTo>
                  <a:pt x="6566739" y="0"/>
                </a:lnTo>
                <a:lnTo>
                  <a:pt x="6566739" y="5264713"/>
                </a:lnTo>
                <a:lnTo>
                  <a:pt x="0" y="5264713"/>
                </a:lnTo>
                <a:lnTo>
                  <a:pt x="0" y="0"/>
                </a:lnTo>
                <a:close/>
              </a:path>
            </a:pathLst>
          </a:custGeom>
          <a:blipFill>
            <a:blip r:embed="rId6"/>
            <a:stretch>
              <a:fillRect l="0" t="0" r="0" b="0"/>
            </a:stretch>
          </a:blipFill>
        </p:spPr>
      </p:sp>
      <p:sp>
        <p:nvSpPr>
          <p:cNvPr name="Freeform 7" id="7"/>
          <p:cNvSpPr/>
          <p:nvPr/>
        </p:nvSpPr>
        <p:spPr>
          <a:xfrm flipH="false" flipV="false" rot="0">
            <a:off x="8006843" y="1553337"/>
            <a:ext cx="7922792" cy="5264713"/>
          </a:xfrm>
          <a:custGeom>
            <a:avLst/>
            <a:gdLst/>
            <a:ahLst/>
            <a:cxnLst/>
            <a:rect r="r" b="b" t="t" l="l"/>
            <a:pathLst>
              <a:path h="5264713" w="7922792">
                <a:moveTo>
                  <a:pt x="0" y="0"/>
                </a:moveTo>
                <a:lnTo>
                  <a:pt x="7922793" y="0"/>
                </a:lnTo>
                <a:lnTo>
                  <a:pt x="7922793" y="5264713"/>
                </a:lnTo>
                <a:lnTo>
                  <a:pt x="0" y="5264713"/>
                </a:lnTo>
                <a:lnTo>
                  <a:pt x="0" y="0"/>
                </a:lnTo>
                <a:close/>
              </a:path>
            </a:pathLst>
          </a:custGeom>
          <a:blipFill>
            <a:blip r:embed="rId7"/>
            <a:stretch>
              <a:fillRect l="0" t="0" r="0" b="0"/>
            </a:stretch>
          </a:blipFill>
        </p:spPr>
      </p:sp>
      <p:sp>
        <p:nvSpPr>
          <p:cNvPr name="TextBox 8" id="8"/>
          <p:cNvSpPr txBox="true"/>
          <p:nvPr/>
        </p:nvSpPr>
        <p:spPr>
          <a:xfrm rot="0">
            <a:off x="1028700" y="646938"/>
            <a:ext cx="6154417"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home_page.dart</a:t>
            </a:r>
          </a:p>
        </p:txBody>
      </p:sp>
      <p:sp>
        <p:nvSpPr>
          <p:cNvPr name="TextBox 9" id="9"/>
          <p:cNvSpPr txBox="true"/>
          <p:nvPr/>
        </p:nvSpPr>
        <p:spPr>
          <a:xfrm rot="0">
            <a:off x="854765" y="6970499"/>
            <a:ext cx="17040176" cy="3316501"/>
          </a:xfrm>
          <a:prstGeom prst="rect">
            <a:avLst/>
          </a:prstGeom>
        </p:spPr>
        <p:txBody>
          <a:bodyPr anchor="t" rtlCol="false" tIns="0" lIns="0" bIns="0" rIns="0">
            <a:spAutoFit/>
          </a:bodyPr>
          <a:lstStyle/>
          <a:p>
            <a:pPr algn="just">
              <a:lnSpc>
                <a:spcPts val="3298"/>
              </a:lnSpc>
            </a:pPr>
            <a:r>
              <a:rPr lang="en-US" sz="2819" spc="-169">
                <a:solidFill>
                  <a:srgbClr val="FFFFFF"/>
                </a:solidFill>
                <a:latin typeface="Public Sans"/>
                <a:ea typeface="Public Sans"/>
                <a:cs typeface="Public Sans"/>
                <a:sym typeface="Public Sans"/>
              </a:rPr>
              <a:t>HomePage adalah halaman utama yang menampilkan 4 menu gesture dalam bentuk grid 2 kolom.</a:t>
            </a:r>
          </a:p>
          <a:p>
            <a:pPr algn="just" marL="608737" indent="-304369" lvl="1">
              <a:lnSpc>
                <a:spcPts val="3298"/>
              </a:lnSpc>
              <a:buFont typeface="Arial"/>
              <a:buChar char="•"/>
            </a:pPr>
            <a:r>
              <a:rPr lang="en-US" sz="2819" spc="-169">
                <a:solidFill>
                  <a:srgbClr val="FFFFFF"/>
                </a:solidFill>
                <a:latin typeface="Public Sans"/>
                <a:ea typeface="Public Sans"/>
                <a:cs typeface="Public Sans"/>
                <a:sym typeface="Public Sans"/>
              </a:rPr>
              <a:t>Data menu: disimpan dalam list menus berisi title dan page tujuan</a:t>
            </a:r>
          </a:p>
          <a:p>
            <a:pPr algn="just" marL="608737" indent="-304369" lvl="1">
              <a:lnSpc>
                <a:spcPts val="3298"/>
              </a:lnSpc>
              <a:buFont typeface="Arial"/>
              <a:buChar char="•"/>
            </a:pPr>
            <a:r>
              <a:rPr lang="en-US" sz="2819" spc="-169">
                <a:solidFill>
                  <a:srgbClr val="FFFFFF"/>
                </a:solidFill>
                <a:latin typeface="Public Sans"/>
                <a:ea typeface="Public Sans"/>
                <a:cs typeface="Public Sans"/>
                <a:sym typeface="Public Sans"/>
              </a:rPr>
              <a:t>GridView.builder: membuat grid dengan jarak antar item 16px</a:t>
            </a:r>
          </a:p>
          <a:p>
            <a:pPr algn="just" marL="608737" indent="-304369" lvl="1">
              <a:lnSpc>
                <a:spcPts val="3298"/>
              </a:lnSpc>
              <a:buFont typeface="Arial"/>
              <a:buChar char="•"/>
            </a:pPr>
            <a:r>
              <a:rPr lang="en-US" sz="2819" spc="-169">
                <a:solidFill>
                  <a:srgbClr val="FFFFFF"/>
                </a:solidFill>
                <a:latin typeface="Public Sans"/>
                <a:ea typeface="Public Sans"/>
                <a:cs typeface="Public Sans"/>
                <a:sym typeface="Public Sans"/>
              </a:rPr>
              <a:t>GestureDetector: mendeteksi tap pada menu, lalu melakukan navigasi ke halaman yang dipilih menggunakan Navigator.push</a:t>
            </a:r>
          </a:p>
          <a:p>
            <a:pPr algn="just" marL="608737" indent="-304369" lvl="1">
              <a:lnSpc>
                <a:spcPts val="3298"/>
              </a:lnSpc>
              <a:buFont typeface="Arial"/>
              <a:buChar char="•"/>
            </a:pPr>
            <a:r>
              <a:rPr lang="en-US" sz="2819" spc="-169">
                <a:solidFill>
                  <a:srgbClr val="FFFFFF"/>
                </a:solidFill>
                <a:latin typeface="Public Sans"/>
                <a:ea typeface="Public Sans"/>
                <a:cs typeface="Public Sans"/>
                <a:sym typeface="Public Sans"/>
              </a:rPr>
              <a:t>AnimatedContainer: card menu dengan animasi 300ms, sudut membulat 20px, dan gradien biru-ungu</a:t>
            </a:r>
          </a:p>
          <a:p>
            <a:pPr algn="just" marL="608737" indent="-304369" lvl="1">
              <a:lnSpc>
                <a:spcPts val="3298"/>
              </a:lnSpc>
              <a:buFont typeface="Arial"/>
              <a:buChar char="•"/>
            </a:pPr>
            <a:r>
              <a:rPr lang="en-US" sz="2819" spc="-169">
                <a:solidFill>
                  <a:srgbClr val="FFFFFF"/>
                </a:solidFill>
                <a:latin typeface="Public Sans"/>
                <a:ea typeface="Public Sans"/>
                <a:cs typeface="Public Sans"/>
                <a:sym typeface="Public Sans"/>
              </a:rPr>
              <a:t>Text: menampilkan judul menu dengan warna putih ukuran 16px</a:t>
            </a:r>
          </a:p>
          <a:p>
            <a:pPr algn="just">
              <a:lnSpc>
                <a:spcPts val="329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180311" y="7487085"/>
            <a:ext cx="2268950" cy="2240073"/>
          </a:xfrm>
          <a:custGeom>
            <a:avLst/>
            <a:gdLst/>
            <a:ahLst/>
            <a:cxnLst/>
            <a:rect r="r" b="b" t="t" l="l"/>
            <a:pathLst>
              <a:path h="2240073" w="2268950">
                <a:moveTo>
                  <a:pt x="0" y="0"/>
                </a:moveTo>
                <a:lnTo>
                  <a:pt x="2268950" y="0"/>
                </a:lnTo>
                <a:lnTo>
                  <a:pt x="2268950" y="2240072"/>
                </a:lnTo>
                <a:lnTo>
                  <a:pt x="0" y="2240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938630" y="7487085"/>
            <a:ext cx="4306780" cy="4189322"/>
          </a:xfrm>
          <a:custGeom>
            <a:avLst/>
            <a:gdLst/>
            <a:ahLst/>
            <a:cxnLst/>
            <a:rect r="r" b="b" t="t" l="l"/>
            <a:pathLst>
              <a:path h="4189322" w="4306780">
                <a:moveTo>
                  <a:pt x="0" y="0"/>
                </a:moveTo>
                <a:lnTo>
                  <a:pt x="4306780" y="0"/>
                </a:lnTo>
                <a:lnTo>
                  <a:pt x="4306780" y="4189322"/>
                </a:lnTo>
                <a:lnTo>
                  <a:pt x="0" y="4189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2151867"/>
            <a:ext cx="5163776" cy="5983266"/>
          </a:xfrm>
          <a:custGeom>
            <a:avLst/>
            <a:gdLst/>
            <a:ahLst/>
            <a:cxnLst/>
            <a:rect r="r" b="b" t="t" l="l"/>
            <a:pathLst>
              <a:path h="5983266" w="5163776">
                <a:moveTo>
                  <a:pt x="0" y="0"/>
                </a:moveTo>
                <a:lnTo>
                  <a:pt x="5163776" y="0"/>
                </a:lnTo>
                <a:lnTo>
                  <a:pt x="5163776" y="5983266"/>
                </a:lnTo>
                <a:lnTo>
                  <a:pt x="0" y="5983266"/>
                </a:lnTo>
                <a:lnTo>
                  <a:pt x="0" y="0"/>
                </a:lnTo>
                <a:close/>
              </a:path>
            </a:pathLst>
          </a:custGeom>
          <a:blipFill>
            <a:blip r:embed="rId8"/>
            <a:stretch>
              <a:fillRect l="0" t="0" r="0" b="0"/>
            </a:stretch>
          </a:blipFill>
        </p:spPr>
      </p:sp>
      <p:sp>
        <p:nvSpPr>
          <p:cNvPr name="TextBox 8" id="8"/>
          <p:cNvSpPr txBox="true"/>
          <p:nvPr/>
        </p:nvSpPr>
        <p:spPr>
          <a:xfrm rot="0">
            <a:off x="1028700" y="1171575"/>
            <a:ext cx="5903843"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Tap Interaction</a:t>
            </a:r>
          </a:p>
        </p:txBody>
      </p:sp>
      <p:sp>
        <p:nvSpPr>
          <p:cNvPr name="TextBox 9" id="9"/>
          <p:cNvSpPr txBox="true"/>
          <p:nvPr/>
        </p:nvSpPr>
        <p:spPr>
          <a:xfrm rot="0">
            <a:off x="6932543" y="2151867"/>
            <a:ext cx="10326757" cy="5335217"/>
          </a:xfrm>
          <a:prstGeom prst="rect">
            <a:avLst/>
          </a:prstGeom>
        </p:spPr>
        <p:txBody>
          <a:bodyPr anchor="t" rtlCol="false" tIns="0" lIns="0" bIns="0" rIns="0">
            <a:spAutoFit/>
          </a:bodyPr>
          <a:lstStyle/>
          <a:p>
            <a:pPr algn="l">
              <a:lnSpc>
                <a:spcPts val="3298"/>
              </a:lnSpc>
            </a:pPr>
            <a:r>
              <a:rPr lang="en-US" sz="2819" spc="-169">
                <a:solidFill>
                  <a:srgbClr val="FFFFFF"/>
                </a:solidFill>
                <a:latin typeface="Public Sans"/>
                <a:ea typeface="Public Sans"/>
                <a:cs typeface="Public Sans"/>
                <a:sym typeface="Public Sans"/>
              </a:rPr>
              <a:t>Tap interaction merupakan gesture paling dasar yang terjadi ketika pengguna menyentuh layar sebentar lalu mengangkat jari, mirip seperti klik pada mouse. Dalam aplikasi Gesture Lab, halaman ini menggunakan StatefulWidget dengan variabel _tapCount yang menyimpan jumlah tap yang telah dilakukan. Area berbentuk card dengan sudut membulat menjadi target tap yang dibungkus oleh GestureDetector dengan callback onTap. Setiap kali pengguna mengetuk area tersebut, fungsi setState() dipanggil untuk menambah nilai counter dan memperbarui tampilan secara real-time. Halaman ini juga dilengkapi dengan FloatingActionButton berikon refresh yang berfungsi untuk mereset counter kembali ke nol, memberikan pengalaman interaktif yang sederhana namun efektif dalam memahami konsep dasar gesture tap.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3625330" y="6163588"/>
            <a:ext cx="6362491" cy="6678187"/>
          </a:xfrm>
          <a:custGeom>
            <a:avLst/>
            <a:gdLst/>
            <a:ahLst/>
            <a:cxnLst/>
            <a:rect r="r" b="b" t="t" l="l"/>
            <a:pathLst>
              <a:path h="6678187" w="6362491">
                <a:moveTo>
                  <a:pt x="0" y="0"/>
                </a:moveTo>
                <a:lnTo>
                  <a:pt x="6362491" y="0"/>
                </a:lnTo>
                <a:lnTo>
                  <a:pt x="6362491" y="6678187"/>
                </a:lnTo>
                <a:lnTo>
                  <a:pt x="0" y="66781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071116" y="1445097"/>
            <a:ext cx="1038896" cy="1025673"/>
          </a:xfrm>
          <a:custGeom>
            <a:avLst/>
            <a:gdLst/>
            <a:ahLst/>
            <a:cxnLst/>
            <a:rect r="r" b="b" t="t" l="l"/>
            <a:pathLst>
              <a:path h="1025673" w="1038896">
                <a:moveTo>
                  <a:pt x="0" y="0"/>
                </a:moveTo>
                <a:lnTo>
                  <a:pt x="1038896" y="0"/>
                </a:lnTo>
                <a:lnTo>
                  <a:pt x="1038896" y="1025673"/>
                </a:lnTo>
                <a:lnTo>
                  <a:pt x="0" y="1025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2155012"/>
            <a:ext cx="5144363" cy="5976977"/>
          </a:xfrm>
          <a:custGeom>
            <a:avLst/>
            <a:gdLst/>
            <a:ahLst/>
            <a:cxnLst/>
            <a:rect r="r" b="b" t="t" l="l"/>
            <a:pathLst>
              <a:path h="5976977" w="5144363">
                <a:moveTo>
                  <a:pt x="0" y="0"/>
                </a:moveTo>
                <a:lnTo>
                  <a:pt x="5144363" y="0"/>
                </a:lnTo>
                <a:lnTo>
                  <a:pt x="5144363" y="5976976"/>
                </a:lnTo>
                <a:lnTo>
                  <a:pt x="0" y="5976976"/>
                </a:lnTo>
                <a:lnTo>
                  <a:pt x="0" y="0"/>
                </a:lnTo>
                <a:close/>
              </a:path>
            </a:pathLst>
          </a:custGeom>
          <a:blipFill>
            <a:blip r:embed="rId8"/>
            <a:stretch>
              <a:fillRect l="0" t="0" r="0" b="0"/>
            </a:stretch>
          </a:blipFill>
        </p:spPr>
      </p:sp>
      <p:sp>
        <p:nvSpPr>
          <p:cNvPr name="TextBox 8" id="8"/>
          <p:cNvSpPr txBox="true"/>
          <p:nvPr/>
        </p:nvSpPr>
        <p:spPr>
          <a:xfrm rot="0">
            <a:off x="1028700" y="1171575"/>
            <a:ext cx="7466977"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Drag Movement</a:t>
            </a:r>
          </a:p>
        </p:txBody>
      </p:sp>
      <p:sp>
        <p:nvSpPr>
          <p:cNvPr name="TextBox 9" id="9"/>
          <p:cNvSpPr txBox="true"/>
          <p:nvPr/>
        </p:nvSpPr>
        <p:spPr>
          <a:xfrm rot="0">
            <a:off x="6794492" y="2155012"/>
            <a:ext cx="10464808" cy="5744792"/>
          </a:xfrm>
          <a:prstGeom prst="rect">
            <a:avLst/>
          </a:prstGeom>
        </p:spPr>
        <p:txBody>
          <a:bodyPr anchor="t" rtlCol="false" tIns="0" lIns="0" bIns="0" rIns="0">
            <a:spAutoFit/>
          </a:bodyPr>
          <a:lstStyle/>
          <a:p>
            <a:pPr algn="l">
              <a:lnSpc>
                <a:spcPts val="3298"/>
              </a:lnSpc>
            </a:pPr>
            <a:r>
              <a:rPr lang="en-US" sz="2819" spc="-169">
                <a:solidFill>
                  <a:srgbClr val="FFFFFF"/>
                </a:solidFill>
                <a:latin typeface="Public Sans"/>
                <a:ea typeface="Public Sans"/>
                <a:cs typeface="Public Sans"/>
                <a:sym typeface="Public Sans"/>
              </a:rPr>
              <a:t>Drag movement adalah gesture di mana pengguna menyentuh layar lalu menggerakkan jari tanpa mengangkatnya, sehingga objek yang disentuh akan mengikuti pergerakan jari secara real-time. Implementasinya menggunakan Stack dan Positioned untuk memungkinkan objek ditempatkan secara absolut berdasarkan koordinat _x dan _y yang disimpan dalam state. GestureDetector memanfaatkan callback onPanUpdate yang memberikan informasi details.delta.dx dan details.delta.dy setiap kali jari bergerak, yang kemudian digunakan untuk memperbarui posisi objek melalui setState(). Pengguna dapat melihat objek berbentuk lingkaran berwarna oranye bergerak mengikuti seretan jari, sementara koordinat posisi saat ini ditampilkan di bagian bawah layar, memberikan pemahaman yang jelas tentang bagaimana gesture drag bekerja dalam aplikasi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1916373" y="5928562"/>
            <a:ext cx="7380449" cy="6078806"/>
          </a:xfrm>
          <a:custGeom>
            <a:avLst/>
            <a:gdLst/>
            <a:ahLst/>
            <a:cxnLst/>
            <a:rect r="r" b="b" t="t" l="l"/>
            <a:pathLst>
              <a:path h="6078806" w="7380449">
                <a:moveTo>
                  <a:pt x="0" y="0"/>
                </a:moveTo>
                <a:lnTo>
                  <a:pt x="7380449" y="0"/>
                </a:lnTo>
                <a:lnTo>
                  <a:pt x="7380449" y="6078806"/>
                </a:lnTo>
                <a:lnTo>
                  <a:pt x="0" y="6078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91181" y="8046927"/>
            <a:ext cx="2268950" cy="2240073"/>
          </a:xfrm>
          <a:custGeom>
            <a:avLst/>
            <a:gdLst/>
            <a:ahLst/>
            <a:cxnLst/>
            <a:rect r="r" b="b" t="t" l="l"/>
            <a:pathLst>
              <a:path h="2240073" w="2268950">
                <a:moveTo>
                  <a:pt x="0" y="0"/>
                </a:moveTo>
                <a:lnTo>
                  <a:pt x="2268951" y="0"/>
                </a:lnTo>
                <a:lnTo>
                  <a:pt x="2268951" y="2240073"/>
                </a:lnTo>
                <a:lnTo>
                  <a:pt x="0" y="2240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442410" y="2077974"/>
            <a:ext cx="5164187" cy="5976977"/>
          </a:xfrm>
          <a:custGeom>
            <a:avLst/>
            <a:gdLst/>
            <a:ahLst/>
            <a:cxnLst/>
            <a:rect r="r" b="b" t="t" l="l"/>
            <a:pathLst>
              <a:path h="5976977" w="5164187">
                <a:moveTo>
                  <a:pt x="0" y="0"/>
                </a:moveTo>
                <a:lnTo>
                  <a:pt x="5164187" y="0"/>
                </a:lnTo>
                <a:lnTo>
                  <a:pt x="5164187" y="5976977"/>
                </a:lnTo>
                <a:lnTo>
                  <a:pt x="0" y="5976977"/>
                </a:lnTo>
                <a:lnTo>
                  <a:pt x="0" y="0"/>
                </a:lnTo>
                <a:close/>
              </a:path>
            </a:pathLst>
          </a:custGeom>
          <a:blipFill>
            <a:blip r:embed="rId8"/>
            <a:stretch>
              <a:fillRect l="0" t="0" r="0" b="0"/>
            </a:stretch>
          </a:blipFill>
        </p:spPr>
      </p:sp>
      <p:sp>
        <p:nvSpPr>
          <p:cNvPr name="TextBox 8" id="8"/>
          <p:cNvSpPr txBox="true"/>
          <p:nvPr/>
        </p:nvSpPr>
        <p:spPr>
          <a:xfrm rot="0">
            <a:off x="1028700" y="1171575"/>
            <a:ext cx="6197194"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Scale and Zoom</a:t>
            </a:r>
          </a:p>
        </p:txBody>
      </p:sp>
      <p:sp>
        <p:nvSpPr>
          <p:cNvPr name="TextBox 9" id="9"/>
          <p:cNvSpPr txBox="true"/>
          <p:nvPr/>
        </p:nvSpPr>
        <p:spPr>
          <a:xfrm rot="0">
            <a:off x="1028700" y="2077974"/>
            <a:ext cx="9045954" cy="6154367"/>
          </a:xfrm>
          <a:prstGeom prst="rect">
            <a:avLst/>
          </a:prstGeom>
        </p:spPr>
        <p:txBody>
          <a:bodyPr anchor="t" rtlCol="false" tIns="0" lIns="0" bIns="0" rIns="0">
            <a:spAutoFit/>
          </a:bodyPr>
          <a:lstStyle/>
          <a:p>
            <a:pPr algn="l">
              <a:lnSpc>
                <a:spcPts val="3298"/>
              </a:lnSpc>
            </a:pPr>
            <a:r>
              <a:rPr lang="en-US" sz="2819" spc="-169">
                <a:solidFill>
                  <a:srgbClr val="FFFFFF"/>
                </a:solidFill>
                <a:latin typeface="Public Sans"/>
                <a:ea typeface="Public Sans"/>
                <a:cs typeface="Public Sans"/>
                <a:sym typeface="Public Sans"/>
              </a:rPr>
              <a:t>Scale &amp; zoom merupakan gesture yang menggunakan dua jari (pinch) untuk memperbesar atau memperkecil tampilan suatu objek, umumnya digunakan pada gambar atau peta. Halaman ini mengandalkan variabel state _scale yang menyimpan faktor zoom dengan nilai awal 1.0 (ukuran normal). GestureDetector menggunakan callback onScaleUpdate yang memberikan details.scale setiap kali pengguna melakukan gerakan pinch, kemudian nilai tersebut diperbarui melalui setState() dan diterapkan pada widget Transform.scale yang membungkus objek. Saat pengguna melakukan pinch out (menjauhkan dua jari), objek akan membesar; sebaliknya pinch in (mendekatkan dua jari) akan memperkecil objek. Persentase zoom ditampilkan di atas objek sehingga pengguna dapat melihat secara langsung perubahan ukuran yang terjadi.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4351097" y="5767137"/>
            <a:ext cx="4096016" cy="4588205"/>
          </a:xfrm>
          <a:custGeom>
            <a:avLst/>
            <a:gdLst/>
            <a:ahLst/>
            <a:cxnLst/>
            <a:rect r="r" b="b" t="t" l="l"/>
            <a:pathLst>
              <a:path h="4588205" w="4096016">
                <a:moveTo>
                  <a:pt x="0" y="0"/>
                </a:moveTo>
                <a:lnTo>
                  <a:pt x="4096015" y="0"/>
                </a:lnTo>
                <a:lnTo>
                  <a:pt x="4096015" y="4588205"/>
                </a:lnTo>
                <a:lnTo>
                  <a:pt x="0" y="4588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682451" y="1028700"/>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24993">
            <a:off x="-789754" y="7130982"/>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558169" y="2077974"/>
            <a:ext cx="5124282" cy="5983266"/>
          </a:xfrm>
          <a:custGeom>
            <a:avLst/>
            <a:gdLst/>
            <a:ahLst/>
            <a:cxnLst/>
            <a:rect r="r" b="b" t="t" l="l"/>
            <a:pathLst>
              <a:path h="5983266" w="5124282">
                <a:moveTo>
                  <a:pt x="0" y="0"/>
                </a:moveTo>
                <a:lnTo>
                  <a:pt x="5124282" y="0"/>
                </a:lnTo>
                <a:lnTo>
                  <a:pt x="5124282" y="5983266"/>
                </a:lnTo>
                <a:lnTo>
                  <a:pt x="0" y="5983266"/>
                </a:lnTo>
                <a:lnTo>
                  <a:pt x="0" y="0"/>
                </a:lnTo>
                <a:close/>
              </a:path>
            </a:pathLst>
          </a:custGeom>
          <a:blipFill>
            <a:blip r:embed="rId8"/>
            <a:stretch>
              <a:fillRect l="0" t="0" r="0" b="0"/>
            </a:stretch>
          </a:blipFill>
        </p:spPr>
      </p:sp>
      <p:sp>
        <p:nvSpPr>
          <p:cNvPr name="TextBox 9" id="9"/>
          <p:cNvSpPr txBox="true"/>
          <p:nvPr/>
        </p:nvSpPr>
        <p:spPr>
          <a:xfrm rot="0">
            <a:off x="1028700" y="1171575"/>
            <a:ext cx="7675331" cy="906399"/>
          </a:xfrm>
          <a:prstGeom prst="rect">
            <a:avLst/>
          </a:prstGeom>
        </p:spPr>
        <p:txBody>
          <a:bodyPr anchor="t" rtlCol="false" tIns="0" lIns="0" bIns="0" rIns="0">
            <a:spAutoFit/>
          </a:bodyPr>
          <a:lstStyle/>
          <a:p>
            <a:pPr algn="l">
              <a:lnSpc>
                <a:spcPts val="6692"/>
              </a:lnSpc>
            </a:pPr>
            <a:r>
              <a:rPr lang="en-US" sz="6900" spc="-414" b="true">
                <a:solidFill>
                  <a:srgbClr val="FFFFFF"/>
                </a:solidFill>
                <a:latin typeface="Public Sans Bold"/>
                <a:ea typeface="Public Sans Bold"/>
                <a:cs typeface="Public Sans Bold"/>
                <a:sym typeface="Public Sans Bold"/>
              </a:rPr>
              <a:t>Gesture Playground</a:t>
            </a:r>
          </a:p>
        </p:txBody>
      </p:sp>
      <p:sp>
        <p:nvSpPr>
          <p:cNvPr name="TextBox 10" id="10"/>
          <p:cNvSpPr txBox="true"/>
          <p:nvPr/>
        </p:nvSpPr>
        <p:spPr>
          <a:xfrm rot="0">
            <a:off x="1028700" y="2148736"/>
            <a:ext cx="9854648" cy="6973517"/>
          </a:xfrm>
          <a:prstGeom prst="rect">
            <a:avLst/>
          </a:prstGeom>
        </p:spPr>
        <p:txBody>
          <a:bodyPr anchor="t" rtlCol="false" tIns="0" lIns="0" bIns="0" rIns="0">
            <a:spAutoFit/>
          </a:bodyPr>
          <a:lstStyle/>
          <a:p>
            <a:pPr algn="l">
              <a:lnSpc>
                <a:spcPts val="3298"/>
              </a:lnSpc>
            </a:pPr>
            <a:r>
              <a:rPr lang="en-US" sz="2819" spc="-169">
                <a:solidFill>
                  <a:srgbClr val="FFFFFF"/>
                </a:solidFill>
                <a:latin typeface="Public Sans"/>
                <a:ea typeface="Public Sans"/>
                <a:cs typeface="Public Sans"/>
                <a:sym typeface="Public Sans"/>
              </a:rPr>
              <a:t>Gesture playground adalah halaman eksperimen yang menggabungkan berbagai jenis gesture dalam satu area interaktif, memungkinkan pengguna untuk bereksperimen dan melihat respons visual secara komprehensif. Halaman ini mengelola lima jenis gesture sekaligus yaitu tap, double tap, long press, drag, dan pinch zoom, masing-masing dengan variabel state dan callback yang terpisah seperti onTap, onDoubleTap, onLongPress, onPanUpdate, dan onScaleUpdate. Setiap gesture yang dilakukan akan memberikan umpan balik visual yang berbeda: background area playground berubah warna sesuai jenis gesture yang terdeteksi, counter masing-masing gesture bertambah, dan panel informasi di bagian bawah menampilkan gesture terakhir, posisi objek, serta persentase zoom secara real-time. Tombol refresh di AppBar berfungsi untuk mereset semua nilai ke kondisi awal, menjadikan halaman ini sebagai laboratorium lengkap untuk mempelajari dan membandingkan karakteristik berbagai gesture dalam satu tempat.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35782"/>
        </a:solidFill>
      </p:bgPr>
    </p:bg>
    <p:spTree>
      <p:nvGrpSpPr>
        <p:cNvPr id="1" name=""/>
        <p:cNvGrpSpPr/>
        <p:nvPr/>
      </p:nvGrpSpPr>
      <p:grpSpPr>
        <a:xfrm>
          <a:off x="0" y="0"/>
          <a:ext cx="0" cy="0"/>
          <a:chOff x="0" y="0"/>
          <a:chExt cx="0" cy="0"/>
        </a:xfrm>
      </p:grpSpPr>
      <p:grpSp>
        <p:nvGrpSpPr>
          <p:cNvPr name="Group 2" id="2"/>
          <p:cNvGrpSpPr/>
          <p:nvPr/>
        </p:nvGrpSpPr>
        <p:grpSpPr>
          <a:xfrm rot="0">
            <a:off x="-1448004" y="-155937"/>
            <a:ext cx="21184007" cy="10598873"/>
            <a:chOff x="0" y="0"/>
            <a:chExt cx="28245343" cy="14131831"/>
          </a:xfrm>
        </p:grpSpPr>
        <p:sp>
          <p:nvSpPr>
            <p:cNvPr name="Freeform 3" id="3"/>
            <p:cNvSpPr/>
            <p:nvPr/>
          </p:nvSpPr>
          <p:spPr>
            <a:xfrm flipH="false" flipV="false" rot="0">
              <a:off x="0"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13512" y="0"/>
              <a:ext cx="14131831" cy="14131831"/>
            </a:xfrm>
            <a:custGeom>
              <a:avLst/>
              <a:gdLst/>
              <a:ahLst/>
              <a:cxnLst/>
              <a:rect r="r" b="b" t="t" l="l"/>
              <a:pathLst>
                <a:path h="14131831" w="14131831">
                  <a:moveTo>
                    <a:pt x="0" y="0"/>
                  </a:moveTo>
                  <a:lnTo>
                    <a:pt x="14131831" y="0"/>
                  </a:lnTo>
                  <a:lnTo>
                    <a:pt x="14131831" y="14131831"/>
                  </a:lnTo>
                  <a:lnTo>
                    <a:pt x="0" y="14131831"/>
                  </a:lnTo>
                  <a:lnTo>
                    <a:pt x="0" y="0"/>
                  </a:lnTo>
                  <a:close/>
                </a:path>
              </a:pathLst>
            </a:custGeom>
            <a:blipFill>
              <a:blip r:embed="rId2">
                <a:alphaModFix amt="8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9144000" y="3811983"/>
            <a:ext cx="10185412" cy="8666859"/>
          </a:xfrm>
          <a:custGeom>
            <a:avLst/>
            <a:gdLst/>
            <a:ahLst/>
            <a:cxnLst/>
            <a:rect r="r" b="b" t="t" l="l"/>
            <a:pathLst>
              <a:path h="8666859" w="10185412">
                <a:moveTo>
                  <a:pt x="0" y="0"/>
                </a:moveTo>
                <a:lnTo>
                  <a:pt x="10185412" y="0"/>
                </a:lnTo>
                <a:lnTo>
                  <a:pt x="10185412" y="8666859"/>
                </a:lnTo>
                <a:lnTo>
                  <a:pt x="0" y="86668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59803" y="2632920"/>
            <a:ext cx="10503803" cy="11024985"/>
          </a:xfrm>
          <a:custGeom>
            <a:avLst/>
            <a:gdLst/>
            <a:ahLst/>
            <a:cxnLst/>
            <a:rect r="r" b="b" t="t" l="l"/>
            <a:pathLst>
              <a:path h="11024985" w="10503803">
                <a:moveTo>
                  <a:pt x="0" y="0"/>
                </a:moveTo>
                <a:lnTo>
                  <a:pt x="10503803" y="0"/>
                </a:lnTo>
                <a:lnTo>
                  <a:pt x="10503803" y="11024985"/>
                </a:lnTo>
                <a:lnTo>
                  <a:pt x="0" y="11024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138338" y="1257300"/>
            <a:ext cx="10011323" cy="2772002"/>
          </a:xfrm>
          <a:prstGeom prst="rect">
            <a:avLst/>
          </a:prstGeom>
        </p:spPr>
        <p:txBody>
          <a:bodyPr anchor="t" rtlCol="false" tIns="0" lIns="0" bIns="0" rIns="0">
            <a:spAutoFit/>
          </a:bodyPr>
          <a:lstStyle/>
          <a:p>
            <a:pPr algn="ctr">
              <a:lnSpc>
                <a:spcPts val="10579"/>
              </a:lnSpc>
            </a:pPr>
            <a:r>
              <a:rPr lang="en-US" b="true" sz="10906" spc="-654">
                <a:solidFill>
                  <a:srgbClr val="FFFFFF"/>
                </a:solidFill>
                <a:latin typeface="Public Sans Bold"/>
                <a:ea typeface="Public Sans Bold"/>
                <a:cs typeface="Public Sans Bold"/>
                <a:sym typeface="Public Sans Bold"/>
              </a:rPr>
              <a:t>Thank You For Your Attention</a:t>
            </a:r>
          </a:p>
        </p:txBody>
      </p:sp>
      <p:sp>
        <p:nvSpPr>
          <p:cNvPr name="Freeform 8" id="8"/>
          <p:cNvSpPr/>
          <p:nvPr/>
        </p:nvSpPr>
        <p:spPr>
          <a:xfrm flipH="false" flipV="false" rot="0">
            <a:off x="15448002" y="1186932"/>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05629">
            <a:off x="761221" y="1186932"/>
            <a:ext cx="2268950" cy="2240073"/>
          </a:xfrm>
          <a:custGeom>
            <a:avLst/>
            <a:gdLst/>
            <a:ahLst/>
            <a:cxnLst/>
            <a:rect r="r" b="b" t="t" l="l"/>
            <a:pathLst>
              <a:path h="2240073" w="2268950">
                <a:moveTo>
                  <a:pt x="0" y="0"/>
                </a:moveTo>
                <a:lnTo>
                  <a:pt x="2268950" y="0"/>
                </a:lnTo>
                <a:lnTo>
                  <a:pt x="2268950" y="2240073"/>
                </a:lnTo>
                <a:lnTo>
                  <a:pt x="0" y="22400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DAHFnfhLjCM</dc:identifier>
  <dcterms:modified xsi:type="dcterms:W3CDTF">2011-08-01T06:04:30Z</dcterms:modified>
  <cp:revision>1</cp:revision>
  <dc:title>Blue and White Illustration Build a Business Team Presentation</dc:title>
</cp:coreProperties>
</file>