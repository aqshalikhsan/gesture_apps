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sap Condensed Bold" charset="1" panose="020F0806030202060203"/>
      <p:regular r:id="rId14"/>
    </p:embeddedFont>
    <p:embeddedFont>
      <p:font typeface="Canva Sans" charset="1" panose="020B0503030501040103"/>
      <p:regular r:id="rId15"/>
    </p:embeddedFont>
    <p:embeddedFont>
      <p:font typeface="Poppins"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jpe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13"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jpeg" Type="http://schemas.openxmlformats.org/officeDocument/2006/relationships/image"/><Relationship Id="rId9" Target="../media/image1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jpeg" Type="http://schemas.openxmlformats.org/officeDocument/2006/relationships/image"/><Relationship Id="rId9" Target="../media/image2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jpeg" Type="http://schemas.openxmlformats.org/officeDocument/2006/relationships/image"/><Relationship Id="rId11" Target="../media/image37.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jpeg" Type="http://schemas.openxmlformats.org/officeDocument/2006/relationships/image"/><Relationship Id="rId9" Target="../media/image3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598413" cy="10287000"/>
          </a:xfrm>
          <a:custGeom>
            <a:avLst/>
            <a:gdLst/>
            <a:ahLst/>
            <a:cxnLst/>
            <a:rect r="r" b="b" t="t" l="l"/>
            <a:pathLst>
              <a:path h="10287000" w="8598413">
                <a:moveTo>
                  <a:pt x="0" y="0"/>
                </a:moveTo>
                <a:lnTo>
                  <a:pt x="8598413" y="0"/>
                </a:lnTo>
                <a:lnTo>
                  <a:pt x="8598413"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638" b="0"/>
            </a:stretch>
          </a:blipFill>
        </p:spPr>
      </p:sp>
      <p:sp>
        <p:nvSpPr>
          <p:cNvPr name="Freeform 3" id="3"/>
          <p:cNvSpPr/>
          <p:nvPr/>
        </p:nvSpPr>
        <p:spPr>
          <a:xfrm flipH="true" flipV="false" rot="0">
            <a:off x="8579363"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9854683"/>
            <a:ext cx="18288000" cy="432317"/>
            <a:chOff x="0" y="0"/>
            <a:chExt cx="4816593" cy="113861"/>
          </a:xfrm>
        </p:grpSpPr>
        <p:sp>
          <p:nvSpPr>
            <p:cNvPr name="Freeform 5" id="5"/>
            <p:cNvSpPr/>
            <p:nvPr/>
          </p:nvSpPr>
          <p:spPr>
            <a:xfrm flipH="false" flipV="false" rot="0">
              <a:off x="0" y="0"/>
              <a:ext cx="4816592" cy="113861"/>
            </a:xfrm>
            <a:custGeom>
              <a:avLst/>
              <a:gdLst/>
              <a:ahLst/>
              <a:cxnLst/>
              <a:rect r="r" b="b" t="t" l="l"/>
              <a:pathLst>
                <a:path h="113861" w="4816592">
                  <a:moveTo>
                    <a:pt x="0" y="0"/>
                  </a:moveTo>
                  <a:lnTo>
                    <a:pt x="4816592" y="0"/>
                  </a:lnTo>
                  <a:lnTo>
                    <a:pt x="4816592" y="113861"/>
                  </a:lnTo>
                  <a:lnTo>
                    <a:pt x="0" y="113861"/>
                  </a:lnTo>
                  <a:close/>
                </a:path>
              </a:pathLst>
            </a:custGeom>
            <a:solidFill>
              <a:srgbClr val="000000"/>
            </a:solidFill>
          </p:spPr>
        </p:sp>
        <p:sp>
          <p:nvSpPr>
            <p:cNvPr name="TextBox 6" id="6"/>
            <p:cNvSpPr txBox="true"/>
            <p:nvPr/>
          </p:nvSpPr>
          <p:spPr>
            <a:xfrm>
              <a:off x="0" y="-38100"/>
              <a:ext cx="4816593" cy="15196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491862">
            <a:off x="15534735" y="751099"/>
            <a:ext cx="1615604" cy="1651640"/>
          </a:xfrm>
          <a:custGeom>
            <a:avLst/>
            <a:gdLst/>
            <a:ahLst/>
            <a:cxnLst/>
            <a:rect r="r" b="b" t="t" l="l"/>
            <a:pathLst>
              <a:path h="1651640" w="1615604">
                <a:moveTo>
                  <a:pt x="0" y="0"/>
                </a:moveTo>
                <a:lnTo>
                  <a:pt x="1615604" y="0"/>
                </a:lnTo>
                <a:lnTo>
                  <a:pt x="1615604" y="1651640"/>
                </a:lnTo>
                <a:lnTo>
                  <a:pt x="0" y="16516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262379" y="7390164"/>
            <a:ext cx="1772169" cy="1234074"/>
          </a:xfrm>
          <a:custGeom>
            <a:avLst/>
            <a:gdLst/>
            <a:ahLst/>
            <a:cxnLst/>
            <a:rect r="r" b="b" t="t" l="l"/>
            <a:pathLst>
              <a:path h="1234074" w="1772169">
                <a:moveTo>
                  <a:pt x="0" y="0"/>
                </a:moveTo>
                <a:lnTo>
                  <a:pt x="1772169" y="0"/>
                </a:lnTo>
                <a:lnTo>
                  <a:pt x="1772169" y="1234074"/>
                </a:lnTo>
                <a:lnTo>
                  <a:pt x="0" y="12340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78556" y="1158923"/>
            <a:ext cx="1332630" cy="927995"/>
          </a:xfrm>
          <a:custGeom>
            <a:avLst/>
            <a:gdLst/>
            <a:ahLst/>
            <a:cxnLst/>
            <a:rect r="r" b="b" t="t" l="l"/>
            <a:pathLst>
              <a:path h="927995" w="1332630">
                <a:moveTo>
                  <a:pt x="0" y="0"/>
                </a:moveTo>
                <a:lnTo>
                  <a:pt x="1332630" y="0"/>
                </a:lnTo>
                <a:lnTo>
                  <a:pt x="1332630" y="927995"/>
                </a:lnTo>
                <a:lnTo>
                  <a:pt x="0" y="9279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855642">
            <a:off x="1072896" y="7106004"/>
            <a:ext cx="1763070" cy="1802395"/>
          </a:xfrm>
          <a:custGeom>
            <a:avLst/>
            <a:gdLst/>
            <a:ahLst/>
            <a:cxnLst/>
            <a:rect r="r" b="b" t="t" l="l"/>
            <a:pathLst>
              <a:path h="1802395" w="1763070">
                <a:moveTo>
                  <a:pt x="0" y="0"/>
                </a:moveTo>
                <a:lnTo>
                  <a:pt x="1763070" y="0"/>
                </a:lnTo>
                <a:lnTo>
                  <a:pt x="1763070" y="1802394"/>
                </a:lnTo>
                <a:lnTo>
                  <a:pt x="0" y="18023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14134861" y="2586080"/>
            <a:ext cx="1760464" cy="1603623"/>
          </a:xfrm>
          <a:custGeom>
            <a:avLst/>
            <a:gdLst/>
            <a:ahLst/>
            <a:cxnLst/>
            <a:rect r="r" b="b" t="t" l="l"/>
            <a:pathLst>
              <a:path h="1603623" w="1760464">
                <a:moveTo>
                  <a:pt x="1760464" y="0"/>
                </a:moveTo>
                <a:lnTo>
                  <a:pt x="0" y="0"/>
                </a:lnTo>
                <a:lnTo>
                  <a:pt x="0" y="1603622"/>
                </a:lnTo>
                <a:lnTo>
                  <a:pt x="1760464" y="1603622"/>
                </a:lnTo>
                <a:lnTo>
                  <a:pt x="176046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954431" y="2697528"/>
            <a:ext cx="1760464" cy="1603623"/>
          </a:xfrm>
          <a:custGeom>
            <a:avLst/>
            <a:gdLst/>
            <a:ahLst/>
            <a:cxnLst/>
            <a:rect r="r" b="b" t="t" l="l"/>
            <a:pathLst>
              <a:path h="1603623" w="1760464">
                <a:moveTo>
                  <a:pt x="0" y="0"/>
                </a:moveTo>
                <a:lnTo>
                  <a:pt x="1760464" y="0"/>
                </a:lnTo>
                <a:lnTo>
                  <a:pt x="1760464" y="1603623"/>
                </a:lnTo>
                <a:lnTo>
                  <a:pt x="0" y="16036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4358276" y="5857002"/>
            <a:ext cx="9133205" cy="1411431"/>
            <a:chOff x="0" y="0"/>
            <a:chExt cx="2071934" cy="320193"/>
          </a:xfrm>
        </p:grpSpPr>
        <p:sp>
          <p:nvSpPr>
            <p:cNvPr name="Freeform 14" id="14"/>
            <p:cNvSpPr/>
            <p:nvPr/>
          </p:nvSpPr>
          <p:spPr>
            <a:xfrm flipH="false" flipV="false" rot="0">
              <a:off x="0" y="0"/>
              <a:ext cx="2071934" cy="320193"/>
            </a:xfrm>
            <a:custGeom>
              <a:avLst/>
              <a:gdLst/>
              <a:ahLst/>
              <a:cxnLst/>
              <a:rect r="r" b="b" t="t" l="l"/>
              <a:pathLst>
                <a:path h="320193" w="2071934">
                  <a:moveTo>
                    <a:pt x="43231" y="0"/>
                  </a:moveTo>
                  <a:lnTo>
                    <a:pt x="2028703" y="0"/>
                  </a:lnTo>
                  <a:cubicBezTo>
                    <a:pt x="2052579" y="0"/>
                    <a:pt x="2071934" y="19355"/>
                    <a:pt x="2071934" y="43231"/>
                  </a:cubicBezTo>
                  <a:lnTo>
                    <a:pt x="2071934" y="276962"/>
                  </a:lnTo>
                  <a:cubicBezTo>
                    <a:pt x="2071934" y="300838"/>
                    <a:pt x="2052579" y="320193"/>
                    <a:pt x="2028703" y="320193"/>
                  </a:cubicBezTo>
                  <a:lnTo>
                    <a:pt x="43231" y="320193"/>
                  </a:lnTo>
                  <a:cubicBezTo>
                    <a:pt x="19355" y="320193"/>
                    <a:pt x="0" y="300838"/>
                    <a:pt x="0" y="276962"/>
                  </a:cubicBezTo>
                  <a:lnTo>
                    <a:pt x="0" y="43231"/>
                  </a:lnTo>
                  <a:cubicBezTo>
                    <a:pt x="0" y="19355"/>
                    <a:pt x="19355" y="0"/>
                    <a:pt x="43231" y="0"/>
                  </a:cubicBezTo>
                  <a:close/>
                </a:path>
              </a:pathLst>
            </a:custGeom>
            <a:solidFill>
              <a:srgbClr val="000000"/>
            </a:solidFill>
          </p:spPr>
        </p:sp>
        <p:sp>
          <p:nvSpPr>
            <p:cNvPr name="TextBox 15" id="15"/>
            <p:cNvSpPr txBox="true"/>
            <p:nvPr/>
          </p:nvSpPr>
          <p:spPr>
            <a:xfrm>
              <a:off x="0" y="-38100"/>
              <a:ext cx="2071934" cy="358293"/>
            </a:xfrm>
            <a:prstGeom prst="rect">
              <a:avLst/>
            </a:prstGeom>
          </p:spPr>
          <p:txBody>
            <a:bodyPr anchor="ctr" rtlCol="false" tIns="57214" lIns="57214" bIns="57214" rIns="57214"/>
            <a:lstStyle/>
            <a:p>
              <a:pPr algn="ctr">
                <a:lnSpc>
                  <a:spcPts val="2659"/>
                </a:lnSpc>
                <a:spcBef>
                  <a:spcPct val="0"/>
                </a:spcBef>
              </a:pPr>
            </a:p>
          </p:txBody>
        </p:sp>
      </p:grpSp>
      <p:sp>
        <p:nvSpPr>
          <p:cNvPr name="TextBox 16" id="16"/>
          <p:cNvSpPr txBox="true"/>
          <p:nvPr/>
        </p:nvSpPr>
        <p:spPr>
          <a:xfrm rot="0">
            <a:off x="3488611" y="2311529"/>
            <a:ext cx="11310777" cy="2831971"/>
          </a:xfrm>
          <a:prstGeom prst="rect">
            <a:avLst/>
          </a:prstGeom>
        </p:spPr>
        <p:txBody>
          <a:bodyPr anchor="t" rtlCol="false" tIns="0" lIns="0" bIns="0" rIns="0">
            <a:spAutoFit/>
          </a:bodyPr>
          <a:lstStyle/>
          <a:p>
            <a:pPr algn="ctr">
              <a:lnSpc>
                <a:spcPts val="11365"/>
              </a:lnSpc>
            </a:pPr>
            <a:r>
              <a:rPr lang="en-US" b="true" sz="8118">
                <a:solidFill>
                  <a:srgbClr val="000000"/>
                </a:solidFill>
                <a:latin typeface="Asap Condensed Bold"/>
                <a:ea typeface="Asap Condensed Bold"/>
                <a:cs typeface="Asap Condensed Bold"/>
                <a:sym typeface="Asap Condensed Bold"/>
              </a:rPr>
              <a:t>WORKSHOP MOBILE </a:t>
            </a:r>
          </a:p>
          <a:p>
            <a:pPr algn="ctr">
              <a:lnSpc>
                <a:spcPts val="11365"/>
              </a:lnSpc>
            </a:pPr>
            <a:r>
              <a:rPr lang="en-US" b="true" sz="8118">
                <a:solidFill>
                  <a:srgbClr val="000000"/>
                </a:solidFill>
                <a:latin typeface="Asap Condensed Bold"/>
                <a:ea typeface="Asap Condensed Bold"/>
                <a:cs typeface="Asap Condensed Bold"/>
                <a:sym typeface="Asap Condensed Bold"/>
              </a:rPr>
              <a:t>APPLICATION FRAMEWORK</a:t>
            </a:r>
          </a:p>
        </p:txBody>
      </p:sp>
      <p:sp>
        <p:nvSpPr>
          <p:cNvPr name="TextBox 17" id="17"/>
          <p:cNvSpPr txBox="true"/>
          <p:nvPr/>
        </p:nvSpPr>
        <p:spPr>
          <a:xfrm rot="0">
            <a:off x="5224634" y="5930892"/>
            <a:ext cx="7627800" cy="1206500"/>
          </a:xfrm>
          <a:prstGeom prst="rect">
            <a:avLst/>
          </a:prstGeom>
        </p:spPr>
        <p:txBody>
          <a:bodyPr anchor="t" rtlCol="false" tIns="0" lIns="0" bIns="0" rIns="0">
            <a:spAutoFit/>
          </a:bodyPr>
          <a:lstStyle/>
          <a:p>
            <a:pPr algn="ctr">
              <a:lnSpc>
                <a:spcPts val="4899"/>
              </a:lnSpc>
            </a:pPr>
            <a:r>
              <a:rPr lang="en-US" sz="3499">
                <a:solidFill>
                  <a:srgbClr val="FFFFFF"/>
                </a:solidFill>
                <a:latin typeface="Canva Sans"/>
                <a:ea typeface="Canva Sans"/>
                <a:cs typeface="Canva Sans"/>
                <a:sym typeface="Canva Sans"/>
              </a:rPr>
              <a:t>Nadhiefa Putri Auliasyifa</a:t>
            </a:r>
          </a:p>
          <a:p>
            <a:pPr algn="ctr">
              <a:lnSpc>
                <a:spcPts val="4899"/>
              </a:lnSpc>
            </a:pPr>
            <a:r>
              <a:rPr lang="en-US" sz="3499">
                <a:solidFill>
                  <a:srgbClr val="FFFFFF"/>
                </a:solidFill>
                <a:latin typeface="Canva Sans"/>
                <a:ea typeface="Canva Sans"/>
                <a:cs typeface="Canva Sans"/>
                <a:sym typeface="Canva Sans"/>
              </a:rPr>
              <a:t>E41240339 / TIF Gol A</a:t>
            </a:r>
          </a:p>
        </p:txBody>
      </p:sp>
      <p:sp>
        <p:nvSpPr>
          <p:cNvPr name="TextBox 18" id="18"/>
          <p:cNvSpPr txBox="true"/>
          <p:nvPr/>
        </p:nvSpPr>
        <p:spPr>
          <a:xfrm rot="0">
            <a:off x="5647371" y="9040630"/>
            <a:ext cx="6782326" cy="528604"/>
          </a:xfrm>
          <a:prstGeom prst="rect">
            <a:avLst/>
          </a:prstGeom>
        </p:spPr>
        <p:txBody>
          <a:bodyPr anchor="t" rtlCol="false" tIns="0" lIns="0" bIns="0" rIns="0">
            <a:spAutoFit/>
          </a:bodyPr>
          <a:lstStyle/>
          <a:p>
            <a:pPr algn="ctr">
              <a:lnSpc>
                <a:spcPts val="4356"/>
              </a:lnSpc>
            </a:pPr>
            <a:r>
              <a:rPr lang="en-US" sz="3112">
                <a:solidFill>
                  <a:srgbClr val="000000"/>
                </a:solidFill>
                <a:latin typeface="Canva Sans"/>
                <a:ea typeface="Canva Sans"/>
                <a:cs typeface="Canva Sans"/>
                <a:sym typeface="Canva Sans"/>
              </a:rPr>
              <a:t>Laporan Gesture Lab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598413" cy="10287000"/>
          </a:xfrm>
          <a:custGeom>
            <a:avLst/>
            <a:gdLst/>
            <a:ahLst/>
            <a:cxnLst/>
            <a:rect r="r" b="b" t="t" l="l"/>
            <a:pathLst>
              <a:path h="10287000" w="8598413">
                <a:moveTo>
                  <a:pt x="0" y="0"/>
                </a:moveTo>
                <a:lnTo>
                  <a:pt x="8598413" y="0"/>
                </a:lnTo>
                <a:lnTo>
                  <a:pt x="8598413"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638" b="0"/>
            </a:stretch>
          </a:blipFill>
        </p:spPr>
      </p:sp>
      <p:sp>
        <p:nvSpPr>
          <p:cNvPr name="Freeform 3" id="3"/>
          <p:cNvSpPr/>
          <p:nvPr/>
        </p:nvSpPr>
        <p:spPr>
          <a:xfrm flipH="true" flipV="false" rot="0">
            <a:off x="8588888"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9854683"/>
            <a:ext cx="18288000" cy="432317"/>
            <a:chOff x="0" y="0"/>
            <a:chExt cx="4816593" cy="113861"/>
          </a:xfrm>
        </p:grpSpPr>
        <p:sp>
          <p:nvSpPr>
            <p:cNvPr name="Freeform 5" id="5"/>
            <p:cNvSpPr/>
            <p:nvPr/>
          </p:nvSpPr>
          <p:spPr>
            <a:xfrm flipH="false" flipV="false" rot="0">
              <a:off x="0" y="0"/>
              <a:ext cx="4816592" cy="113861"/>
            </a:xfrm>
            <a:custGeom>
              <a:avLst/>
              <a:gdLst/>
              <a:ahLst/>
              <a:cxnLst/>
              <a:rect r="r" b="b" t="t" l="l"/>
              <a:pathLst>
                <a:path h="113861" w="4816592">
                  <a:moveTo>
                    <a:pt x="0" y="0"/>
                  </a:moveTo>
                  <a:lnTo>
                    <a:pt x="4816592" y="0"/>
                  </a:lnTo>
                  <a:lnTo>
                    <a:pt x="4816592" y="113861"/>
                  </a:lnTo>
                  <a:lnTo>
                    <a:pt x="0" y="113861"/>
                  </a:lnTo>
                  <a:close/>
                </a:path>
              </a:pathLst>
            </a:custGeom>
            <a:solidFill>
              <a:srgbClr val="000000"/>
            </a:solidFill>
          </p:spPr>
        </p:sp>
        <p:sp>
          <p:nvSpPr>
            <p:cNvPr name="TextBox 6" id="6"/>
            <p:cNvSpPr txBox="true"/>
            <p:nvPr/>
          </p:nvSpPr>
          <p:spPr>
            <a:xfrm>
              <a:off x="0" y="-38100"/>
              <a:ext cx="4816593" cy="15196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0">
            <a:off x="0" y="6747298"/>
            <a:ext cx="5484046" cy="3539702"/>
          </a:xfrm>
          <a:custGeom>
            <a:avLst/>
            <a:gdLst/>
            <a:ahLst/>
            <a:cxnLst/>
            <a:rect r="r" b="b" t="t" l="l"/>
            <a:pathLst>
              <a:path h="3539702" w="5484046">
                <a:moveTo>
                  <a:pt x="5484046" y="0"/>
                </a:moveTo>
                <a:lnTo>
                  <a:pt x="0" y="0"/>
                </a:lnTo>
                <a:lnTo>
                  <a:pt x="0" y="3539702"/>
                </a:lnTo>
                <a:lnTo>
                  <a:pt x="5484046" y="3539702"/>
                </a:lnTo>
                <a:lnTo>
                  <a:pt x="548404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913453">
            <a:off x="9251372" y="559431"/>
            <a:ext cx="903693" cy="938539"/>
          </a:xfrm>
          <a:custGeom>
            <a:avLst/>
            <a:gdLst/>
            <a:ahLst/>
            <a:cxnLst/>
            <a:rect r="r" b="b" t="t" l="l"/>
            <a:pathLst>
              <a:path h="938539" w="903693">
                <a:moveTo>
                  <a:pt x="0" y="0"/>
                </a:moveTo>
                <a:lnTo>
                  <a:pt x="903692" y="0"/>
                </a:lnTo>
                <a:lnTo>
                  <a:pt x="903692" y="938538"/>
                </a:lnTo>
                <a:lnTo>
                  <a:pt x="0" y="9385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149811">
            <a:off x="6664371" y="8076722"/>
            <a:ext cx="744191" cy="518227"/>
          </a:xfrm>
          <a:custGeom>
            <a:avLst/>
            <a:gdLst/>
            <a:ahLst/>
            <a:cxnLst/>
            <a:rect r="r" b="b" t="t" l="l"/>
            <a:pathLst>
              <a:path h="518227" w="744191">
                <a:moveTo>
                  <a:pt x="0" y="0"/>
                </a:moveTo>
                <a:lnTo>
                  <a:pt x="744191" y="0"/>
                </a:lnTo>
                <a:lnTo>
                  <a:pt x="744191" y="518227"/>
                </a:lnTo>
                <a:lnTo>
                  <a:pt x="0" y="5182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262436" y="1471843"/>
            <a:ext cx="6921074" cy="7343315"/>
          </a:xfrm>
          <a:custGeom>
            <a:avLst/>
            <a:gdLst/>
            <a:ahLst/>
            <a:cxnLst/>
            <a:rect r="r" b="b" t="t" l="l"/>
            <a:pathLst>
              <a:path h="7343315" w="6921074">
                <a:moveTo>
                  <a:pt x="0" y="0"/>
                </a:moveTo>
                <a:lnTo>
                  <a:pt x="6921074" y="0"/>
                </a:lnTo>
                <a:lnTo>
                  <a:pt x="6921074" y="7343314"/>
                </a:lnTo>
                <a:lnTo>
                  <a:pt x="0" y="7343314"/>
                </a:lnTo>
                <a:lnTo>
                  <a:pt x="0" y="0"/>
                </a:lnTo>
                <a:close/>
              </a:path>
            </a:pathLst>
          </a:custGeom>
          <a:blipFill>
            <a:blip r:embed="rId10"/>
            <a:stretch>
              <a:fillRect l="0" t="0" r="0" b="0"/>
            </a:stretch>
          </a:blipFill>
        </p:spPr>
      </p:sp>
      <p:sp>
        <p:nvSpPr>
          <p:cNvPr name="TextBox 11" id="11"/>
          <p:cNvSpPr txBox="true"/>
          <p:nvPr/>
        </p:nvSpPr>
        <p:spPr>
          <a:xfrm rot="0">
            <a:off x="1705738" y="1852183"/>
            <a:ext cx="9539520" cy="1524000"/>
          </a:xfrm>
          <a:prstGeom prst="rect">
            <a:avLst/>
          </a:prstGeom>
        </p:spPr>
        <p:txBody>
          <a:bodyPr anchor="t" rtlCol="false" tIns="0" lIns="0" bIns="0" rIns="0">
            <a:spAutoFit/>
          </a:bodyPr>
          <a:lstStyle/>
          <a:p>
            <a:pPr algn="l">
              <a:lnSpc>
                <a:spcPts val="11944"/>
              </a:lnSpc>
            </a:pPr>
            <a:r>
              <a:rPr lang="en-US" sz="9953" b="true">
                <a:solidFill>
                  <a:srgbClr val="000000"/>
                </a:solidFill>
                <a:latin typeface="Asap Condensed Bold"/>
                <a:ea typeface="Asap Condensed Bold"/>
                <a:cs typeface="Asap Condensed Bold"/>
                <a:sym typeface="Asap Condensed Bold"/>
              </a:rPr>
              <a:t>GESTURE LAB</a:t>
            </a:r>
          </a:p>
        </p:txBody>
      </p:sp>
      <p:sp>
        <p:nvSpPr>
          <p:cNvPr name="TextBox 12" id="12"/>
          <p:cNvSpPr txBox="true"/>
          <p:nvPr/>
        </p:nvSpPr>
        <p:spPr>
          <a:xfrm rot="0">
            <a:off x="1705738" y="3384288"/>
            <a:ext cx="6883149" cy="3432700"/>
          </a:xfrm>
          <a:prstGeom prst="rect">
            <a:avLst/>
          </a:prstGeom>
        </p:spPr>
        <p:txBody>
          <a:bodyPr anchor="t" rtlCol="false" tIns="0" lIns="0" bIns="0" rIns="0">
            <a:spAutoFit/>
          </a:bodyPr>
          <a:lstStyle/>
          <a:p>
            <a:pPr algn="l">
              <a:lnSpc>
                <a:spcPts val="3863"/>
              </a:lnSpc>
            </a:pPr>
            <a:r>
              <a:rPr lang="en-US" sz="2759">
                <a:solidFill>
                  <a:srgbClr val="000000"/>
                </a:solidFill>
                <a:latin typeface="Poppins"/>
                <a:ea typeface="Poppins"/>
                <a:cs typeface="Poppins"/>
                <a:sym typeface="Poppins"/>
              </a:rPr>
              <a:t>Gesture adalah cara pengguna berinteraksi dengan aplikasi melalui sentuhan seperti mengetuk, menahan, menggeser, dan memperbesar. Dalam Flutter, gesture digunakan untuk membuat aplikasi lebih interaktif dan mudah digunakan oleh pengguna.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598413" cy="10287000"/>
          </a:xfrm>
          <a:custGeom>
            <a:avLst/>
            <a:gdLst/>
            <a:ahLst/>
            <a:cxnLst/>
            <a:rect r="r" b="b" t="t" l="l"/>
            <a:pathLst>
              <a:path h="10287000" w="8598413">
                <a:moveTo>
                  <a:pt x="0" y="0"/>
                </a:moveTo>
                <a:lnTo>
                  <a:pt x="8598413" y="0"/>
                </a:lnTo>
                <a:lnTo>
                  <a:pt x="8598413"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638" b="0"/>
            </a:stretch>
          </a:blipFill>
        </p:spPr>
      </p:sp>
      <p:sp>
        <p:nvSpPr>
          <p:cNvPr name="Freeform 3" id="3"/>
          <p:cNvSpPr/>
          <p:nvPr/>
        </p:nvSpPr>
        <p:spPr>
          <a:xfrm flipH="true" flipV="false" rot="0">
            <a:off x="8585496"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702876" y="6570744"/>
            <a:ext cx="4556424" cy="3462882"/>
          </a:xfrm>
          <a:custGeom>
            <a:avLst/>
            <a:gdLst/>
            <a:ahLst/>
            <a:cxnLst/>
            <a:rect r="r" b="b" t="t" l="l"/>
            <a:pathLst>
              <a:path h="3462882" w="4556424">
                <a:moveTo>
                  <a:pt x="0" y="0"/>
                </a:moveTo>
                <a:lnTo>
                  <a:pt x="4556424" y="0"/>
                </a:lnTo>
                <a:lnTo>
                  <a:pt x="4556424" y="3462882"/>
                </a:lnTo>
                <a:lnTo>
                  <a:pt x="0" y="34628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149811">
            <a:off x="9320697" y="7825676"/>
            <a:ext cx="744191" cy="518227"/>
          </a:xfrm>
          <a:custGeom>
            <a:avLst/>
            <a:gdLst/>
            <a:ahLst/>
            <a:cxnLst/>
            <a:rect r="r" b="b" t="t" l="l"/>
            <a:pathLst>
              <a:path h="518227" w="744191">
                <a:moveTo>
                  <a:pt x="0" y="0"/>
                </a:moveTo>
                <a:lnTo>
                  <a:pt x="744190" y="0"/>
                </a:lnTo>
                <a:lnTo>
                  <a:pt x="744190" y="518227"/>
                </a:lnTo>
                <a:lnTo>
                  <a:pt x="0" y="5182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514505" y="8451691"/>
            <a:ext cx="614186" cy="61418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00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9780252"/>
            <a:ext cx="18288000" cy="506748"/>
            <a:chOff x="0" y="0"/>
            <a:chExt cx="4816593" cy="133465"/>
          </a:xfrm>
        </p:grpSpPr>
        <p:sp>
          <p:nvSpPr>
            <p:cNvPr name="Freeform 10" id="10"/>
            <p:cNvSpPr/>
            <p:nvPr/>
          </p:nvSpPr>
          <p:spPr>
            <a:xfrm flipH="false" flipV="false" rot="0">
              <a:off x="0" y="0"/>
              <a:ext cx="4816592" cy="133465"/>
            </a:xfrm>
            <a:custGeom>
              <a:avLst/>
              <a:gdLst/>
              <a:ahLst/>
              <a:cxnLst/>
              <a:rect r="r" b="b" t="t" l="l"/>
              <a:pathLst>
                <a:path h="133465" w="4816592">
                  <a:moveTo>
                    <a:pt x="0" y="0"/>
                  </a:moveTo>
                  <a:lnTo>
                    <a:pt x="4816592" y="0"/>
                  </a:lnTo>
                  <a:lnTo>
                    <a:pt x="4816592" y="133465"/>
                  </a:lnTo>
                  <a:lnTo>
                    <a:pt x="0" y="133465"/>
                  </a:lnTo>
                  <a:close/>
                </a:path>
              </a:pathLst>
            </a:custGeom>
            <a:solidFill>
              <a:srgbClr val="000000"/>
            </a:solidFill>
          </p:spPr>
        </p:sp>
        <p:sp>
          <p:nvSpPr>
            <p:cNvPr name="TextBox 11" id="11"/>
            <p:cNvSpPr txBox="true"/>
            <p:nvPr/>
          </p:nvSpPr>
          <p:spPr>
            <a:xfrm>
              <a:off x="0" y="-38100"/>
              <a:ext cx="4816593" cy="17156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799992" y="667248"/>
            <a:ext cx="3913040" cy="4129858"/>
          </a:xfrm>
          <a:custGeom>
            <a:avLst/>
            <a:gdLst/>
            <a:ahLst/>
            <a:cxnLst/>
            <a:rect r="r" b="b" t="t" l="l"/>
            <a:pathLst>
              <a:path h="4129858" w="3913040">
                <a:moveTo>
                  <a:pt x="0" y="0"/>
                </a:moveTo>
                <a:lnTo>
                  <a:pt x="3913040" y="0"/>
                </a:lnTo>
                <a:lnTo>
                  <a:pt x="3913040" y="4129857"/>
                </a:lnTo>
                <a:lnTo>
                  <a:pt x="0" y="4129857"/>
                </a:lnTo>
                <a:lnTo>
                  <a:pt x="0" y="0"/>
                </a:lnTo>
                <a:close/>
              </a:path>
            </a:pathLst>
          </a:custGeom>
          <a:blipFill>
            <a:blip r:embed="rId8"/>
            <a:stretch>
              <a:fillRect l="0" t="0" r="0" b="0"/>
            </a:stretch>
          </a:blipFill>
        </p:spPr>
      </p:sp>
      <p:sp>
        <p:nvSpPr>
          <p:cNvPr name="Freeform 13" id="13"/>
          <p:cNvSpPr/>
          <p:nvPr/>
        </p:nvSpPr>
        <p:spPr>
          <a:xfrm flipH="false" flipV="false" rot="0">
            <a:off x="5541297" y="667248"/>
            <a:ext cx="3714961" cy="3952086"/>
          </a:xfrm>
          <a:custGeom>
            <a:avLst/>
            <a:gdLst/>
            <a:ahLst/>
            <a:cxnLst/>
            <a:rect r="r" b="b" t="t" l="l"/>
            <a:pathLst>
              <a:path h="3952086" w="3714961">
                <a:moveTo>
                  <a:pt x="0" y="0"/>
                </a:moveTo>
                <a:lnTo>
                  <a:pt x="3714961" y="0"/>
                </a:lnTo>
                <a:lnTo>
                  <a:pt x="3714961" y="3952086"/>
                </a:lnTo>
                <a:lnTo>
                  <a:pt x="0" y="3952086"/>
                </a:lnTo>
                <a:lnTo>
                  <a:pt x="0" y="0"/>
                </a:lnTo>
                <a:close/>
              </a:path>
            </a:pathLst>
          </a:custGeom>
          <a:blipFill>
            <a:blip r:embed="rId9"/>
            <a:stretch>
              <a:fillRect l="0" t="0" r="0" b="0"/>
            </a:stretch>
          </a:blipFill>
        </p:spPr>
      </p:sp>
      <p:sp>
        <p:nvSpPr>
          <p:cNvPr name="Freeform 14" id="14"/>
          <p:cNvSpPr/>
          <p:nvPr/>
        </p:nvSpPr>
        <p:spPr>
          <a:xfrm flipH="false" flipV="false" rot="0">
            <a:off x="2999983" y="5143500"/>
            <a:ext cx="4095202" cy="4333547"/>
          </a:xfrm>
          <a:custGeom>
            <a:avLst/>
            <a:gdLst/>
            <a:ahLst/>
            <a:cxnLst/>
            <a:rect r="r" b="b" t="t" l="l"/>
            <a:pathLst>
              <a:path h="4333547" w="4095202">
                <a:moveTo>
                  <a:pt x="0" y="0"/>
                </a:moveTo>
                <a:lnTo>
                  <a:pt x="4095202" y="0"/>
                </a:lnTo>
                <a:lnTo>
                  <a:pt x="4095202" y="4333547"/>
                </a:lnTo>
                <a:lnTo>
                  <a:pt x="0" y="4333547"/>
                </a:lnTo>
                <a:lnTo>
                  <a:pt x="0" y="0"/>
                </a:lnTo>
                <a:close/>
              </a:path>
            </a:pathLst>
          </a:custGeom>
          <a:blipFill>
            <a:blip r:embed="rId10"/>
            <a:stretch>
              <a:fillRect l="0" t="0" r="0" b="0"/>
            </a:stretch>
          </a:blipFill>
        </p:spPr>
      </p:sp>
      <p:sp>
        <p:nvSpPr>
          <p:cNvPr name="Freeform 15" id="15"/>
          <p:cNvSpPr/>
          <p:nvPr/>
        </p:nvSpPr>
        <p:spPr>
          <a:xfrm flipH="false" flipV="false" rot="0">
            <a:off x="1514505" y="4484476"/>
            <a:ext cx="2128691" cy="625259"/>
          </a:xfrm>
          <a:custGeom>
            <a:avLst/>
            <a:gdLst/>
            <a:ahLst/>
            <a:cxnLst/>
            <a:rect r="r" b="b" t="t" l="l"/>
            <a:pathLst>
              <a:path h="625259" w="2128691">
                <a:moveTo>
                  <a:pt x="0" y="0"/>
                </a:moveTo>
                <a:lnTo>
                  <a:pt x="2128690" y="0"/>
                </a:lnTo>
                <a:lnTo>
                  <a:pt x="2128690" y="625259"/>
                </a:lnTo>
                <a:lnTo>
                  <a:pt x="0" y="625259"/>
                </a:lnTo>
                <a:lnTo>
                  <a:pt x="0" y="0"/>
                </a:lnTo>
                <a:close/>
              </a:path>
            </a:pathLst>
          </a:custGeom>
          <a:blipFill>
            <a:blip r:embed="rId11"/>
            <a:stretch>
              <a:fillRect l="0" t="0" r="0" b="0"/>
            </a:stretch>
          </a:blipFill>
        </p:spPr>
      </p:sp>
      <p:sp>
        <p:nvSpPr>
          <p:cNvPr name="Freeform 16" id="16"/>
          <p:cNvSpPr/>
          <p:nvPr/>
        </p:nvSpPr>
        <p:spPr>
          <a:xfrm flipH="false" flipV="false" rot="0">
            <a:off x="6151796" y="4484476"/>
            <a:ext cx="2803405" cy="524166"/>
          </a:xfrm>
          <a:custGeom>
            <a:avLst/>
            <a:gdLst/>
            <a:ahLst/>
            <a:cxnLst/>
            <a:rect r="r" b="b" t="t" l="l"/>
            <a:pathLst>
              <a:path h="524166" w="2803405">
                <a:moveTo>
                  <a:pt x="0" y="0"/>
                </a:moveTo>
                <a:lnTo>
                  <a:pt x="2803406" y="0"/>
                </a:lnTo>
                <a:lnTo>
                  <a:pt x="2803406" y="524166"/>
                </a:lnTo>
                <a:lnTo>
                  <a:pt x="0" y="524166"/>
                </a:lnTo>
                <a:lnTo>
                  <a:pt x="0" y="0"/>
                </a:lnTo>
                <a:close/>
              </a:path>
            </a:pathLst>
          </a:custGeom>
          <a:blipFill>
            <a:blip r:embed="rId12"/>
            <a:stretch>
              <a:fillRect l="0" t="0" r="0" b="0"/>
            </a:stretch>
          </a:blipFill>
        </p:spPr>
      </p:sp>
      <p:sp>
        <p:nvSpPr>
          <p:cNvPr name="Freeform 17" id="17"/>
          <p:cNvSpPr/>
          <p:nvPr/>
        </p:nvSpPr>
        <p:spPr>
          <a:xfrm flipH="false" flipV="false" rot="0">
            <a:off x="3311727" y="9258300"/>
            <a:ext cx="3471713" cy="525476"/>
          </a:xfrm>
          <a:custGeom>
            <a:avLst/>
            <a:gdLst/>
            <a:ahLst/>
            <a:cxnLst/>
            <a:rect r="r" b="b" t="t" l="l"/>
            <a:pathLst>
              <a:path h="525476" w="3471713">
                <a:moveTo>
                  <a:pt x="0" y="0"/>
                </a:moveTo>
                <a:lnTo>
                  <a:pt x="3471713" y="0"/>
                </a:lnTo>
                <a:lnTo>
                  <a:pt x="3471713" y="525476"/>
                </a:lnTo>
                <a:lnTo>
                  <a:pt x="0" y="525476"/>
                </a:lnTo>
                <a:lnTo>
                  <a:pt x="0" y="0"/>
                </a:lnTo>
                <a:close/>
              </a:path>
            </a:pathLst>
          </a:custGeom>
          <a:blipFill>
            <a:blip r:embed="rId13"/>
            <a:stretch>
              <a:fillRect l="0" t="0" r="0" b="-12000"/>
            </a:stretch>
          </a:blipFill>
        </p:spPr>
      </p:sp>
      <p:sp>
        <p:nvSpPr>
          <p:cNvPr name="TextBox 18" id="18"/>
          <p:cNvSpPr txBox="true"/>
          <p:nvPr/>
        </p:nvSpPr>
        <p:spPr>
          <a:xfrm rot="0">
            <a:off x="9368516" y="1014486"/>
            <a:ext cx="7890784" cy="1383693"/>
          </a:xfrm>
          <a:prstGeom prst="rect">
            <a:avLst/>
          </a:prstGeom>
        </p:spPr>
        <p:txBody>
          <a:bodyPr anchor="t" rtlCol="false" tIns="0" lIns="0" bIns="0" rIns="0">
            <a:spAutoFit/>
          </a:bodyPr>
          <a:lstStyle/>
          <a:p>
            <a:pPr algn="r">
              <a:lnSpc>
                <a:spcPts val="10846"/>
              </a:lnSpc>
            </a:pPr>
            <a:r>
              <a:rPr lang="en-US" b="true" sz="9039">
                <a:solidFill>
                  <a:srgbClr val="000000"/>
                </a:solidFill>
                <a:latin typeface="Asap Condensed Bold"/>
                <a:ea typeface="Asap Condensed Bold"/>
                <a:cs typeface="Asap Condensed Bold"/>
                <a:sym typeface="Asap Condensed Bold"/>
              </a:rPr>
              <a:t>TAP INTERACION</a:t>
            </a:r>
          </a:p>
        </p:txBody>
      </p:sp>
      <p:sp>
        <p:nvSpPr>
          <p:cNvPr name="TextBox 19" id="19"/>
          <p:cNvSpPr txBox="true"/>
          <p:nvPr/>
        </p:nvSpPr>
        <p:spPr>
          <a:xfrm rot="0">
            <a:off x="10393966" y="2515797"/>
            <a:ext cx="6865334" cy="4486417"/>
          </a:xfrm>
          <a:prstGeom prst="rect">
            <a:avLst/>
          </a:prstGeom>
        </p:spPr>
        <p:txBody>
          <a:bodyPr anchor="t" rtlCol="false" tIns="0" lIns="0" bIns="0" rIns="0">
            <a:spAutoFit/>
          </a:bodyPr>
          <a:lstStyle/>
          <a:p>
            <a:pPr algn="r">
              <a:lnSpc>
                <a:spcPts val="3570"/>
              </a:lnSpc>
            </a:pPr>
            <a:r>
              <a:rPr lang="en-US" sz="2550">
                <a:solidFill>
                  <a:srgbClr val="000000"/>
                </a:solidFill>
                <a:latin typeface="Poppins"/>
                <a:ea typeface="Poppins"/>
                <a:cs typeface="Poppins"/>
                <a:sym typeface="Poppins"/>
              </a:rPr>
              <a:t>Pada bagian ini, objek merespon beberapa jenis sentuhan. Tap digunakan untuk mengubah ukuran dan warna secara acak. Double tap berfungsi untuk mengganti warna menjadi warna tertentu, sedangkan long press digunakan untuk memperbesar ukuran objek. Semua perubahan ditampilkan dengan animasi agar terlihat lebih halus.</a:t>
            </a:r>
          </a:p>
          <a:p>
            <a:pPr algn="r">
              <a:lnSpc>
                <a:spcPts val="357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580365" cy="10287000"/>
          </a:xfrm>
          <a:custGeom>
            <a:avLst/>
            <a:gdLst/>
            <a:ahLst/>
            <a:cxnLst/>
            <a:rect r="r" b="b" t="t" l="l"/>
            <a:pathLst>
              <a:path h="10287000" w="8580365">
                <a:moveTo>
                  <a:pt x="0" y="0"/>
                </a:moveTo>
                <a:lnTo>
                  <a:pt x="8580365" y="0"/>
                </a:lnTo>
                <a:lnTo>
                  <a:pt x="8580365"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890" b="0"/>
            </a:stretch>
          </a:blipFill>
        </p:spPr>
      </p:sp>
      <p:sp>
        <p:nvSpPr>
          <p:cNvPr name="Freeform 3" id="3"/>
          <p:cNvSpPr/>
          <p:nvPr/>
        </p:nvSpPr>
        <p:spPr>
          <a:xfrm flipH="true" flipV="false" rot="0">
            <a:off x="8520009"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5114" y="543535"/>
            <a:ext cx="1633954" cy="1571567"/>
          </a:xfrm>
          <a:custGeom>
            <a:avLst/>
            <a:gdLst/>
            <a:ahLst/>
            <a:cxnLst/>
            <a:rect r="r" b="b" t="t" l="l"/>
            <a:pathLst>
              <a:path h="1571567" w="1633954">
                <a:moveTo>
                  <a:pt x="0" y="0"/>
                </a:moveTo>
                <a:lnTo>
                  <a:pt x="1633954" y="0"/>
                </a:lnTo>
                <a:lnTo>
                  <a:pt x="1633954" y="1571566"/>
                </a:lnTo>
                <a:lnTo>
                  <a:pt x="0" y="1571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000560" y="420523"/>
            <a:ext cx="1625917" cy="1817591"/>
          </a:xfrm>
          <a:custGeom>
            <a:avLst/>
            <a:gdLst/>
            <a:ahLst/>
            <a:cxnLst/>
            <a:rect r="r" b="b" t="t" l="l"/>
            <a:pathLst>
              <a:path h="1817591" w="1625917">
                <a:moveTo>
                  <a:pt x="0" y="0"/>
                </a:moveTo>
                <a:lnTo>
                  <a:pt x="1625917" y="0"/>
                </a:lnTo>
                <a:lnTo>
                  <a:pt x="1625917" y="1817590"/>
                </a:lnTo>
                <a:lnTo>
                  <a:pt x="0" y="18175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0" y="9854683"/>
            <a:ext cx="18288000" cy="432317"/>
            <a:chOff x="0" y="0"/>
            <a:chExt cx="4816593" cy="113861"/>
          </a:xfrm>
        </p:grpSpPr>
        <p:sp>
          <p:nvSpPr>
            <p:cNvPr name="Freeform 7" id="7"/>
            <p:cNvSpPr/>
            <p:nvPr/>
          </p:nvSpPr>
          <p:spPr>
            <a:xfrm flipH="false" flipV="false" rot="0">
              <a:off x="0" y="0"/>
              <a:ext cx="4816592" cy="113861"/>
            </a:xfrm>
            <a:custGeom>
              <a:avLst/>
              <a:gdLst/>
              <a:ahLst/>
              <a:cxnLst/>
              <a:rect r="r" b="b" t="t" l="l"/>
              <a:pathLst>
                <a:path h="113861" w="4816592">
                  <a:moveTo>
                    <a:pt x="0" y="0"/>
                  </a:moveTo>
                  <a:lnTo>
                    <a:pt x="4816592" y="0"/>
                  </a:lnTo>
                  <a:lnTo>
                    <a:pt x="4816592" y="113861"/>
                  </a:lnTo>
                  <a:lnTo>
                    <a:pt x="0" y="113861"/>
                  </a:lnTo>
                  <a:close/>
                </a:path>
              </a:pathLst>
            </a:custGeom>
            <a:solidFill>
              <a:srgbClr val="000000"/>
            </a:solidFill>
          </p:spPr>
        </p:sp>
        <p:sp>
          <p:nvSpPr>
            <p:cNvPr name="TextBox 8" id="8"/>
            <p:cNvSpPr txBox="true"/>
            <p:nvPr/>
          </p:nvSpPr>
          <p:spPr>
            <a:xfrm>
              <a:off x="0" y="-38100"/>
              <a:ext cx="4816593" cy="15196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2994819" y="2668161"/>
            <a:ext cx="4354612" cy="4595897"/>
          </a:xfrm>
          <a:custGeom>
            <a:avLst/>
            <a:gdLst/>
            <a:ahLst/>
            <a:cxnLst/>
            <a:rect r="r" b="b" t="t" l="l"/>
            <a:pathLst>
              <a:path h="4595897" w="4354612">
                <a:moveTo>
                  <a:pt x="0" y="0"/>
                </a:moveTo>
                <a:lnTo>
                  <a:pt x="4354613" y="0"/>
                </a:lnTo>
                <a:lnTo>
                  <a:pt x="4354613" y="4595896"/>
                </a:lnTo>
                <a:lnTo>
                  <a:pt x="0" y="4595896"/>
                </a:lnTo>
                <a:lnTo>
                  <a:pt x="0" y="0"/>
                </a:lnTo>
                <a:close/>
              </a:path>
            </a:pathLst>
          </a:custGeom>
          <a:blipFill>
            <a:blip r:embed="rId8"/>
            <a:stretch>
              <a:fillRect l="0" t="0" r="0" b="0"/>
            </a:stretch>
          </a:blipFill>
        </p:spPr>
      </p:sp>
      <p:sp>
        <p:nvSpPr>
          <p:cNvPr name="Freeform 10" id="10"/>
          <p:cNvSpPr/>
          <p:nvPr/>
        </p:nvSpPr>
        <p:spPr>
          <a:xfrm flipH="false" flipV="false" rot="0">
            <a:off x="10915800" y="2615767"/>
            <a:ext cx="4402221" cy="4609656"/>
          </a:xfrm>
          <a:custGeom>
            <a:avLst/>
            <a:gdLst/>
            <a:ahLst/>
            <a:cxnLst/>
            <a:rect r="r" b="b" t="t" l="l"/>
            <a:pathLst>
              <a:path h="4609656" w="4402221">
                <a:moveTo>
                  <a:pt x="0" y="0"/>
                </a:moveTo>
                <a:lnTo>
                  <a:pt x="4402221" y="0"/>
                </a:lnTo>
                <a:lnTo>
                  <a:pt x="4402221" y="4609656"/>
                </a:lnTo>
                <a:lnTo>
                  <a:pt x="0" y="4609656"/>
                </a:lnTo>
                <a:lnTo>
                  <a:pt x="0" y="0"/>
                </a:lnTo>
                <a:close/>
              </a:path>
            </a:pathLst>
          </a:custGeom>
          <a:blipFill>
            <a:blip r:embed="rId9"/>
            <a:stretch>
              <a:fillRect l="0" t="0" r="0" b="0"/>
            </a:stretch>
          </a:blipFill>
        </p:spPr>
      </p:sp>
      <p:sp>
        <p:nvSpPr>
          <p:cNvPr name="Freeform 11" id="11"/>
          <p:cNvSpPr/>
          <p:nvPr/>
        </p:nvSpPr>
        <p:spPr>
          <a:xfrm flipH="false" flipV="false" rot="0">
            <a:off x="3674392" y="6922759"/>
            <a:ext cx="2224072" cy="605329"/>
          </a:xfrm>
          <a:custGeom>
            <a:avLst/>
            <a:gdLst/>
            <a:ahLst/>
            <a:cxnLst/>
            <a:rect r="r" b="b" t="t" l="l"/>
            <a:pathLst>
              <a:path h="605329" w="2224072">
                <a:moveTo>
                  <a:pt x="0" y="0"/>
                </a:moveTo>
                <a:lnTo>
                  <a:pt x="2224073" y="0"/>
                </a:lnTo>
                <a:lnTo>
                  <a:pt x="2224073" y="605328"/>
                </a:lnTo>
                <a:lnTo>
                  <a:pt x="0" y="605328"/>
                </a:lnTo>
                <a:lnTo>
                  <a:pt x="0" y="0"/>
                </a:lnTo>
                <a:close/>
              </a:path>
            </a:pathLst>
          </a:custGeom>
          <a:blipFill>
            <a:blip r:embed="rId10"/>
            <a:stretch>
              <a:fillRect l="0" t="0" r="0" b="0"/>
            </a:stretch>
          </a:blipFill>
        </p:spPr>
      </p:sp>
      <p:sp>
        <p:nvSpPr>
          <p:cNvPr name="TextBox 12" id="12"/>
          <p:cNvSpPr txBox="true"/>
          <p:nvPr/>
        </p:nvSpPr>
        <p:spPr>
          <a:xfrm rot="0">
            <a:off x="5705120" y="731479"/>
            <a:ext cx="6877760" cy="1186153"/>
          </a:xfrm>
          <a:prstGeom prst="rect">
            <a:avLst/>
          </a:prstGeom>
        </p:spPr>
        <p:txBody>
          <a:bodyPr anchor="t" rtlCol="false" tIns="0" lIns="0" bIns="0" rIns="0">
            <a:spAutoFit/>
          </a:bodyPr>
          <a:lstStyle/>
          <a:p>
            <a:pPr algn="ctr">
              <a:lnSpc>
                <a:spcPts val="9305"/>
              </a:lnSpc>
            </a:pPr>
            <a:r>
              <a:rPr lang="en-US" b="true" sz="7754">
                <a:solidFill>
                  <a:srgbClr val="000000"/>
                </a:solidFill>
                <a:latin typeface="Asap Condensed Bold"/>
                <a:ea typeface="Asap Condensed Bold"/>
                <a:cs typeface="Asap Condensed Bold"/>
                <a:sym typeface="Asap Condensed Bold"/>
              </a:rPr>
              <a:t>DRAG MOVEMENT</a:t>
            </a:r>
          </a:p>
        </p:txBody>
      </p:sp>
      <p:sp>
        <p:nvSpPr>
          <p:cNvPr name="TextBox 13" id="13"/>
          <p:cNvSpPr txBox="true"/>
          <p:nvPr/>
        </p:nvSpPr>
        <p:spPr>
          <a:xfrm rot="0">
            <a:off x="3232958" y="7845707"/>
            <a:ext cx="12417882" cy="1662781"/>
          </a:xfrm>
          <a:prstGeom prst="rect">
            <a:avLst/>
          </a:prstGeom>
        </p:spPr>
        <p:txBody>
          <a:bodyPr anchor="t" rtlCol="false" tIns="0" lIns="0" bIns="0" rIns="0">
            <a:spAutoFit/>
          </a:bodyPr>
          <a:lstStyle/>
          <a:p>
            <a:pPr algn="ctr">
              <a:lnSpc>
                <a:spcPts val="3238"/>
              </a:lnSpc>
            </a:pPr>
            <a:r>
              <a:rPr lang="en-US" sz="2698">
                <a:solidFill>
                  <a:srgbClr val="000000"/>
                </a:solidFill>
                <a:latin typeface="Poppins"/>
                <a:ea typeface="Poppins"/>
                <a:cs typeface="Poppins"/>
                <a:sym typeface="Poppins"/>
              </a:rPr>
              <a:t>Gesture drag memungk</a:t>
            </a:r>
            <a:r>
              <a:rPr lang="en-US" sz="2698">
                <a:solidFill>
                  <a:srgbClr val="000000"/>
                </a:solidFill>
                <a:latin typeface="Poppins"/>
                <a:ea typeface="Poppins"/>
                <a:cs typeface="Poppins"/>
                <a:sym typeface="Poppins"/>
              </a:rPr>
              <a:t>inkan pengguna memindahkan objek ke berbagai arah di layar. Posisi objek diatur menggunakan koordinat horizontal dan vertikal. Ketika objek digeser, posisi akan diperbarui secara langsung sehingga objek mengikuti pergerakan jari pengguna.</a:t>
            </a:r>
          </a:p>
        </p:txBody>
      </p:sp>
      <p:sp>
        <p:nvSpPr>
          <p:cNvPr name="TextBox 14" id="14"/>
          <p:cNvSpPr txBox="true"/>
          <p:nvPr/>
        </p:nvSpPr>
        <p:spPr>
          <a:xfrm rot="0">
            <a:off x="11768478" y="7044766"/>
            <a:ext cx="2696865"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Tampilan ketika digeser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580365" cy="10287000"/>
          </a:xfrm>
          <a:custGeom>
            <a:avLst/>
            <a:gdLst/>
            <a:ahLst/>
            <a:cxnLst/>
            <a:rect r="r" b="b" t="t" l="l"/>
            <a:pathLst>
              <a:path h="10287000" w="8580365">
                <a:moveTo>
                  <a:pt x="0" y="0"/>
                </a:moveTo>
                <a:lnTo>
                  <a:pt x="8580365" y="0"/>
                </a:lnTo>
                <a:lnTo>
                  <a:pt x="8580365"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890" b="0"/>
            </a:stretch>
          </a:blipFill>
        </p:spPr>
      </p:sp>
      <p:sp>
        <p:nvSpPr>
          <p:cNvPr name="Freeform 3" id="3"/>
          <p:cNvSpPr/>
          <p:nvPr/>
        </p:nvSpPr>
        <p:spPr>
          <a:xfrm flipH="true" flipV="false" rot="0">
            <a:off x="8539059"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108444" y="609466"/>
            <a:ext cx="9148229" cy="1439909"/>
          </a:xfrm>
          <a:prstGeom prst="rect">
            <a:avLst/>
          </a:prstGeom>
        </p:spPr>
        <p:txBody>
          <a:bodyPr anchor="t" rtlCol="false" tIns="0" lIns="0" bIns="0" rIns="0">
            <a:spAutoFit/>
          </a:bodyPr>
          <a:lstStyle/>
          <a:p>
            <a:pPr algn="ctr">
              <a:lnSpc>
                <a:spcPts val="11399"/>
              </a:lnSpc>
            </a:pPr>
            <a:r>
              <a:rPr lang="en-US" b="true" sz="9499">
                <a:solidFill>
                  <a:srgbClr val="000000"/>
                </a:solidFill>
                <a:latin typeface="Asap Condensed Bold"/>
                <a:ea typeface="Asap Condensed Bold"/>
                <a:cs typeface="Asap Condensed Bold"/>
                <a:sym typeface="Asap Condensed Bold"/>
              </a:rPr>
              <a:t>SCALE &amp; ZOOM</a:t>
            </a:r>
          </a:p>
        </p:txBody>
      </p:sp>
      <p:sp>
        <p:nvSpPr>
          <p:cNvPr name="Freeform 5" id="5"/>
          <p:cNvSpPr/>
          <p:nvPr/>
        </p:nvSpPr>
        <p:spPr>
          <a:xfrm flipH="false" flipV="false" rot="-1149811">
            <a:off x="16666680" y="8966375"/>
            <a:ext cx="744191" cy="518227"/>
          </a:xfrm>
          <a:custGeom>
            <a:avLst/>
            <a:gdLst/>
            <a:ahLst/>
            <a:cxnLst/>
            <a:rect r="r" b="b" t="t" l="l"/>
            <a:pathLst>
              <a:path h="518227" w="744191">
                <a:moveTo>
                  <a:pt x="0" y="0"/>
                </a:moveTo>
                <a:lnTo>
                  <a:pt x="744191" y="0"/>
                </a:lnTo>
                <a:lnTo>
                  <a:pt x="744191" y="518227"/>
                </a:lnTo>
                <a:lnTo>
                  <a:pt x="0" y="518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35285" y="595618"/>
            <a:ext cx="1386830" cy="1440305"/>
          </a:xfrm>
          <a:custGeom>
            <a:avLst/>
            <a:gdLst/>
            <a:ahLst/>
            <a:cxnLst/>
            <a:rect r="r" b="b" t="t" l="l"/>
            <a:pathLst>
              <a:path h="1440305" w="1386830">
                <a:moveTo>
                  <a:pt x="0" y="0"/>
                </a:moveTo>
                <a:lnTo>
                  <a:pt x="1386830" y="0"/>
                </a:lnTo>
                <a:lnTo>
                  <a:pt x="1386830" y="1440305"/>
                </a:lnTo>
                <a:lnTo>
                  <a:pt x="0" y="14403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149811">
            <a:off x="9236100" y="703406"/>
            <a:ext cx="744191" cy="518227"/>
          </a:xfrm>
          <a:custGeom>
            <a:avLst/>
            <a:gdLst/>
            <a:ahLst/>
            <a:cxnLst/>
            <a:rect r="r" b="b" t="t" l="l"/>
            <a:pathLst>
              <a:path h="518227" w="744191">
                <a:moveTo>
                  <a:pt x="0" y="0"/>
                </a:moveTo>
                <a:lnTo>
                  <a:pt x="744190" y="0"/>
                </a:lnTo>
                <a:lnTo>
                  <a:pt x="744190" y="518227"/>
                </a:lnTo>
                <a:lnTo>
                  <a:pt x="0" y="518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122951" y="1329420"/>
            <a:ext cx="6700862" cy="7081492"/>
          </a:xfrm>
          <a:custGeom>
            <a:avLst/>
            <a:gdLst/>
            <a:ahLst/>
            <a:cxnLst/>
            <a:rect r="r" b="b" t="t" l="l"/>
            <a:pathLst>
              <a:path h="7081492" w="6700862">
                <a:moveTo>
                  <a:pt x="0" y="0"/>
                </a:moveTo>
                <a:lnTo>
                  <a:pt x="6700862" y="0"/>
                </a:lnTo>
                <a:lnTo>
                  <a:pt x="6700862" y="7081492"/>
                </a:lnTo>
                <a:lnTo>
                  <a:pt x="0" y="7081492"/>
                </a:lnTo>
                <a:lnTo>
                  <a:pt x="0" y="0"/>
                </a:lnTo>
                <a:close/>
              </a:path>
            </a:pathLst>
          </a:custGeom>
          <a:blipFill>
            <a:blip r:embed="rId8"/>
            <a:stretch>
              <a:fillRect l="0" t="0" r="0" b="0"/>
            </a:stretch>
          </a:blipFill>
        </p:spPr>
      </p:sp>
      <p:sp>
        <p:nvSpPr>
          <p:cNvPr name="TextBox 9" id="9"/>
          <p:cNvSpPr txBox="true"/>
          <p:nvPr/>
        </p:nvSpPr>
        <p:spPr>
          <a:xfrm rot="0">
            <a:off x="10044729" y="2391747"/>
            <a:ext cx="6994046" cy="6019165"/>
          </a:xfrm>
          <a:prstGeom prst="rect">
            <a:avLst/>
          </a:prstGeom>
        </p:spPr>
        <p:txBody>
          <a:bodyPr anchor="t" rtlCol="false" tIns="0" lIns="0" bIns="0" rIns="0">
            <a:spAutoFit/>
          </a:bodyPr>
          <a:lstStyle/>
          <a:p>
            <a:pPr algn="ctr">
              <a:lnSpc>
                <a:spcPts val="4759"/>
              </a:lnSpc>
            </a:pPr>
            <a:r>
              <a:rPr lang="en-US" sz="3399">
                <a:solidFill>
                  <a:srgbClr val="000000"/>
                </a:solidFill>
                <a:latin typeface="Poppins"/>
                <a:ea typeface="Poppins"/>
                <a:cs typeface="Poppins"/>
                <a:sym typeface="Poppins"/>
              </a:rPr>
              <a:t>Fitur ini memungkinkan objek diperbesar atau diperkec</a:t>
            </a:r>
            <a:r>
              <a:rPr lang="en-US" sz="3399">
                <a:solidFill>
                  <a:srgbClr val="000000"/>
                </a:solidFill>
                <a:latin typeface="Poppins"/>
                <a:ea typeface="Poppins"/>
                <a:cs typeface="Poppins"/>
                <a:sym typeface="Poppins"/>
              </a:rPr>
              <a:t>il menggunakan gesture pinch (dua jari). Selain itu, pengguna juga dapat menggunakan scroll pada mouse untuk melakukan zoom saat menggunakan laptop. Perubahan ukuran dilakukan secara dinamis sehingga terlihat responsif.</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598413" cy="10287000"/>
          </a:xfrm>
          <a:custGeom>
            <a:avLst/>
            <a:gdLst/>
            <a:ahLst/>
            <a:cxnLst/>
            <a:rect r="r" b="b" t="t" l="l"/>
            <a:pathLst>
              <a:path h="10287000" w="8598413">
                <a:moveTo>
                  <a:pt x="0" y="0"/>
                </a:moveTo>
                <a:lnTo>
                  <a:pt x="8598413" y="0"/>
                </a:lnTo>
                <a:lnTo>
                  <a:pt x="8598413"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638" b="0"/>
            </a:stretch>
          </a:blipFill>
        </p:spPr>
      </p:sp>
      <p:sp>
        <p:nvSpPr>
          <p:cNvPr name="Freeform 3" id="3"/>
          <p:cNvSpPr/>
          <p:nvPr/>
        </p:nvSpPr>
        <p:spPr>
          <a:xfrm flipH="true" flipV="false" rot="0">
            <a:off x="8554182"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499492" y="885733"/>
            <a:ext cx="13289016" cy="1672100"/>
          </a:xfrm>
          <a:prstGeom prst="rect">
            <a:avLst/>
          </a:prstGeom>
        </p:spPr>
        <p:txBody>
          <a:bodyPr anchor="t" rtlCol="false" tIns="0" lIns="0" bIns="0" rIns="0">
            <a:spAutoFit/>
          </a:bodyPr>
          <a:lstStyle/>
          <a:p>
            <a:pPr algn="ctr">
              <a:lnSpc>
                <a:spcPts val="13147"/>
              </a:lnSpc>
            </a:pPr>
            <a:r>
              <a:rPr lang="en-US" b="true" sz="10956">
                <a:solidFill>
                  <a:srgbClr val="000000"/>
                </a:solidFill>
                <a:latin typeface="Asap Condensed Bold"/>
                <a:ea typeface="Asap Condensed Bold"/>
                <a:cs typeface="Asap Condensed Bold"/>
                <a:sym typeface="Asap Condensed Bold"/>
              </a:rPr>
              <a:t>GESTURE PLAYGROUND</a:t>
            </a:r>
          </a:p>
        </p:txBody>
      </p:sp>
      <p:sp>
        <p:nvSpPr>
          <p:cNvPr name="Freeform 5" id="5"/>
          <p:cNvSpPr/>
          <p:nvPr/>
        </p:nvSpPr>
        <p:spPr>
          <a:xfrm flipH="false" flipV="false" rot="0">
            <a:off x="1375960" y="1351590"/>
            <a:ext cx="1014530" cy="979943"/>
          </a:xfrm>
          <a:custGeom>
            <a:avLst/>
            <a:gdLst/>
            <a:ahLst/>
            <a:cxnLst/>
            <a:rect r="r" b="b" t="t" l="l"/>
            <a:pathLst>
              <a:path h="979943" w="1014530">
                <a:moveTo>
                  <a:pt x="0" y="0"/>
                </a:moveTo>
                <a:lnTo>
                  <a:pt x="1014530" y="0"/>
                </a:lnTo>
                <a:lnTo>
                  <a:pt x="1014530" y="979943"/>
                </a:lnTo>
                <a:lnTo>
                  <a:pt x="0" y="9799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466137" y="1351590"/>
            <a:ext cx="960609" cy="1206244"/>
          </a:xfrm>
          <a:custGeom>
            <a:avLst/>
            <a:gdLst/>
            <a:ahLst/>
            <a:cxnLst/>
            <a:rect r="r" b="b" t="t" l="l"/>
            <a:pathLst>
              <a:path h="1206244" w="960609">
                <a:moveTo>
                  <a:pt x="0" y="0"/>
                </a:moveTo>
                <a:lnTo>
                  <a:pt x="960609" y="0"/>
                </a:lnTo>
                <a:lnTo>
                  <a:pt x="960609" y="1206243"/>
                </a:lnTo>
                <a:lnTo>
                  <a:pt x="0" y="12062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93274" y="3065102"/>
            <a:ext cx="3594432" cy="3813720"/>
          </a:xfrm>
          <a:custGeom>
            <a:avLst/>
            <a:gdLst/>
            <a:ahLst/>
            <a:cxnLst/>
            <a:rect r="r" b="b" t="t" l="l"/>
            <a:pathLst>
              <a:path h="3813720" w="3594432">
                <a:moveTo>
                  <a:pt x="0" y="0"/>
                </a:moveTo>
                <a:lnTo>
                  <a:pt x="3594432" y="0"/>
                </a:lnTo>
                <a:lnTo>
                  <a:pt x="3594432" y="3813720"/>
                </a:lnTo>
                <a:lnTo>
                  <a:pt x="0" y="3813720"/>
                </a:lnTo>
                <a:lnTo>
                  <a:pt x="0" y="0"/>
                </a:lnTo>
                <a:close/>
              </a:path>
            </a:pathLst>
          </a:custGeom>
          <a:blipFill>
            <a:blip r:embed="rId8"/>
            <a:stretch>
              <a:fillRect l="0" t="0" r="0" b="0"/>
            </a:stretch>
          </a:blipFill>
        </p:spPr>
      </p:sp>
      <p:sp>
        <p:nvSpPr>
          <p:cNvPr name="Freeform 8" id="8"/>
          <p:cNvSpPr/>
          <p:nvPr/>
        </p:nvSpPr>
        <p:spPr>
          <a:xfrm flipH="false" flipV="false" rot="0">
            <a:off x="4473868" y="3065102"/>
            <a:ext cx="3794151" cy="4063348"/>
          </a:xfrm>
          <a:custGeom>
            <a:avLst/>
            <a:gdLst/>
            <a:ahLst/>
            <a:cxnLst/>
            <a:rect r="r" b="b" t="t" l="l"/>
            <a:pathLst>
              <a:path h="4063348" w="3794151">
                <a:moveTo>
                  <a:pt x="0" y="0"/>
                </a:moveTo>
                <a:lnTo>
                  <a:pt x="3794151" y="0"/>
                </a:lnTo>
                <a:lnTo>
                  <a:pt x="3794151" y="4063348"/>
                </a:lnTo>
                <a:lnTo>
                  <a:pt x="0" y="4063348"/>
                </a:lnTo>
                <a:lnTo>
                  <a:pt x="0" y="0"/>
                </a:lnTo>
                <a:close/>
              </a:path>
            </a:pathLst>
          </a:custGeom>
          <a:blipFill>
            <a:blip r:embed="rId9"/>
            <a:stretch>
              <a:fillRect l="0" t="0" r="0" b="0"/>
            </a:stretch>
          </a:blipFill>
        </p:spPr>
      </p:sp>
      <p:sp>
        <p:nvSpPr>
          <p:cNvPr name="Freeform 9" id="9"/>
          <p:cNvSpPr/>
          <p:nvPr/>
        </p:nvSpPr>
        <p:spPr>
          <a:xfrm flipH="false" flipV="false" rot="0">
            <a:off x="8598413" y="3119044"/>
            <a:ext cx="3833994" cy="4009406"/>
          </a:xfrm>
          <a:custGeom>
            <a:avLst/>
            <a:gdLst/>
            <a:ahLst/>
            <a:cxnLst/>
            <a:rect r="r" b="b" t="t" l="l"/>
            <a:pathLst>
              <a:path h="4009406" w="3833994">
                <a:moveTo>
                  <a:pt x="0" y="0"/>
                </a:moveTo>
                <a:lnTo>
                  <a:pt x="3833994" y="0"/>
                </a:lnTo>
                <a:lnTo>
                  <a:pt x="3833994" y="4009406"/>
                </a:lnTo>
                <a:lnTo>
                  <a:pt x="0" y="4009406"/>
                </a:lnTo>
                <a:lnTo>
                  <a:pt x="0" y="0"/>
                </a:lnTo>
                <a:close/>
              </a:path>
            </a:pathLst>
          </a:custGeom>
          <a:blipFill>
            <a:blip r:embed="rId10"/>
            <a:stretch>
              <a:fillRect l="0" t="0" r="0" b="0"/>
            </a:stretch>
          </a:blipFill>
        </p:spPr>
      </p:sp>
      <p:sp>
        <p:nvSpPr>
          <p:cNvPr name="Freeform 10" id="10"/>
          <p:cNvSpPr/>
          <p:nvPr/>
        </p:nvSpPr>
        <p:spPr>
          <a:xfrm flipH="false" flipV="false" rot="0">
            <a:off x="12765782" y="3131559"/>
            <a:ext cx="4111172" cy="4379410"/>
          </a:xfrm>
          <a:custGeom>
            <a:avLst/>
            <a:gdLst/>
            <a:ahLst/>
            <a:cxnLst/>
            <a:rect r="r" b="b" t="t" l="l"/>
            <a:pathLst>
              <a:path h="4379410" w="4111172">
                <a:moveTo>
                  <a:pt x="0" y="0"/>
                </a:moveTo>
                <a:lnTo>
                  <a:pt x="4111172" y="0"/>
                </a:lnTo>
                <a:lnTo>
                  <a:pt x="4111172" y="4379410"/>
                </a:lnTo>
                <a:lnTo>
                  <a:pt x="0" y="4379410"/>
                </a:lnTo>
                <a:lnTo>
                  <a:pt x="0" y="0"/>
                </a:lnTo>
                <a:close/>
              </a:path>
            </a:pathLst>
          </a:custGeom>
          <a:blipFill>
            <a:blip r:embed="rId11"/>
            <a:stretch>
              <a:fillRect l="0" t="0" r="0" b="0"/>
            </a:stretch>
          </a:blipFill>
        </p:spPr>
      </p:sp>
      <p:sp>
        <p:nvSpPr>
          <p:cNvPr name="TextBox 11" id="11"/>
          <p:cNvSpPr txBox="true"/>
          <p:nvPr/>
        </p:nvSpPr>
        <p:spPr>
          <a:xfrm rot="0">
            <a:off x="1028700" y="8065645"/>
            <a:ext cx="16230600" cy="1192655"/>
          </a:xfrm>
          <a:prstGeom prst="rect">
            <a:avLst/>
          </a:prstGeom>
        </p:spPr>
        <p:txBody>
          <a:bodyPr anchor="t" rtlCol="false" tIns="0" lIns="0" bIns="0" rIns="0">
            <a:spAutoFit/>
          </a:bodyPr>
          <a:lstStyle/>
          <a:p>
            <a:pPr algn="ctr">
              <a:lnSpc>
                <a:spcPts val="3131"/>
              </a:lnSpc>
            </a:pPr>
            <a:r>
              <a:rPr lang="en-US" sz="2609">
                <a:solidFill>
                  <a:srgbClr val="000000"/>
                </a:solidFill>
                <a:latin typeface="Poppins"/>
                <a:ea typeface="Poppins"/>
                <a:cs typeface="Poppins"/>
                <a:sym typeface="Poppins"/>
              </a:rPr>
              <a:t>Pada bag</a:t>
            </a:r>
            <a:r>
              <a:rPr lang="en-US" sz="2609">
                <a:solidFill>
                  <a:srgbClr val="000000"/>
                </a:solidFill>
                <a:latin typeface="Poppins"/>
                <a:ea typeface="Poppins"/>
                <a:cs typeface="Poppins"/>
                <a:sym typeface="Poppins"/>
              </a:rPr>
              <a:t>ian ini, berbagai gesture digabungkan dalam satu objek. Pengguna dapat menggeser, memperbesar, serta mengubah warna objek dalam satu waktu. Hal ini menunjukkan bahwa gesture dapat dikombinasikan untuk menghasilkan interaksi yang lebih kompleks dan menarik.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92" y="0"/>
            <a:ext cx="8590957" cy="10287000"/>
          </a:xfrm>
          <a:custGeom>
            <a:avLst/>
            <a:gdLst/>
            <a:ahLst/>
            <a:cxnLst/>
            <a:rect r="r" b="b" t="t" l="l"/>
            <a:pathLst>
              <a:path h="10287000" w="8590957">
                <a:moveTo>
                  <a:pt x="0" y="0"/>
                </a:moveTo>
                <a:lnTo>
                  <a:pt x="8590957" y="0"/>
                </a:lnTo>
                <a:lnTo>
                  <a:pt x="8590957"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742" b="0"/>
            </a:stretch>
          </a:blipFill>
        </p:spPr>
      </p:sp>
      <p:sp>
        <p:nvSpPr>
          <p:cNvPr name="Freeform 3" id="3"/>
          <p:cNvSpPr/>
          <p:nvPr/>
        </p:nvSpPr>
        <p:spPr>
          <a:xfrm flipH="true" flipV="false" rot="0">
            <a:off x="8580365"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8565647"/>
            <a:ext cx="18288000" cy="1721353"/>
            <a:chOff x="0" y="0"/>
            <a:chExt cx="4816593" cy="453360"/>
          </a:xfrm>
        </p:grpSpPr>
        <p:sp>
          <p:nvSpPr>
            <p:cNvPr name="Freeform 5" id="5"/>
            <p:cNvSpPr/>
            <p:nvPr/>
          </p:nvSpPr>
          <p:spPr>
            <a:xfrm flipH="false" flipV="false" rot="0">
              <a:off x="0" y="0"/>
              <a:ext cx="4816592" cy="453360"/>
            </a:xfrm>
            <a:custGeom>
              <a:avLst/>
              <a:gdLst/>
              <a:ahLst/>
              <a:cxnLst/>
              <a:rect r="r" b="b" t="t" l="l"/>
              <a:pathLst>
                <a:path h="453360" w="4816592">
                  <a:moveTo>
                    <a:pt x="0" y="0"/>
                  </a:moveTo>
                  <a:lnTo>
                    <a:pt x="4816592" y="0"/>
                  </a:lnTo>
                  <a:lnTo>
                    <a:pt x="4816592" y="453360"/>
                  </a:lnTo>
                  <a:lnTo>
                    <a:pt x="0" y="453360"/>
                  </a:lnTo>
                  <a:close/>
                </a:path>
              </a:pathLst>
            </a:custGeom>
            <a:solidFill>
              <a:srgbClr val="000000"/>
            </a:solidFill>
          </p:spPr>
        </p:sp>
        <p:sp>
          <p:nvSpPr>
            <p:cNvPr name="TextBox 6" id="6"/>
            <p:cNvSpPr txBox="true"/>
            <p:nvPr/>
          </p:nvSpPr>
          <p:spPr>
            <a:xfrm>
              <a:off x="0" y="-38100"/>
              <a:ext cx="4816593" cy="49146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9530743" y="3814261"/>
            <a:ext cx="7504315" cy="5444039"/>
          </a:xfrm>
          <a:custGeom>
            <a:avLst/>
            <a:gdLst/>
            <a:ahLst/>
            <a:cxnLst/>
            <a:rect r="r" b="b" t="t" l="l"/>
            <a:pathLst>
              <a:path h="5444039" w="7504315">
                <a:moveTo>
                  <a:pt x="0" y="0"/>
                </a:moveTo>
                <a:lnTo>
                  <a:pt x="7504315" y="0"/>
                </a:lnTo>
                <a:lnTo>
                  <a:pt x="7504315" y="5444039"/>
                </a:lnTo>
                <a:lnTo>
                  <a:pt x="0" y="54440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761681" y="1317043"/>
            <a:ext cx="9389663" cy="1917027"/>
          </a:xfrm>
          <a:prstGeom prst="rect">
            <a:avLst/>
          </a:prstGeom>
        </p:spPr>
        <p:txBody>
          <a:bodyPr anchor="t" rtlCol="false" tIns="0" lIns="0" bIns="0" rIns="0">
            <a:spAutoFit/>
          </a:bodyPr>
          <a:lstStyle/>
          <a:p>
            <a:pPr algn="l">
              <a:lnSpc>
                <a:spcPts val="15007"/>
              </a:lnSpc>
            </a:pPr>
            <a:r>
              <a:rPr lang="en-US" sz="12506" b="true">
                <a:solidFill>
                  <a:srgbClr val="000000"/>
                </a:solidFill>
                <a:latin typeface="Asap Condensed Bold"/>
                <a:ea typeface="Asap Condensed Bold"/>
                <a:cs typeface="Asap Condensed Bold"/>
                <a:sym typeface="Asap Condensed Bold"/>
              </a:rPr>
              <a:t>KESIMPULAN</a:t>
            </a:r>
          </a:p>
        </p:txBody>
      </p:sp>
      <p:sp>
        <p:nvSpPr>
          <p:cNvPr name="TextBox 9" id="9"/>
          <p:cNvSpPr txBox="true"/>
          <p:nvPr/>
        </p:nvSpPr>
        <p:spPr>
          <a:xfrm rot="0">
            <a:off x="1761681" y="3483973"/>
            <a:ext cx="8327486" cy="3362325"/>
          </a:xfrm>
          <a:prstGeom prst="rect">
            <a:avLst/>
          </a:prstGeom>
        </p:spPr>
        <p:txBody>
          <a:bodyPr anchor="t" rtlCol="false" tIns="0" lIns="0" bIns="0" rIns="0">
            <a:spAutoFit/>
          </a:bodyPr>
          <a:lstStyle/>
          <a:p>
            <a:pPr algn="l">
              <a:lnSpc>
                <a:spcPts val="3812"/>
              </a:lnSpc>
            </a:pPr>
            <a:r>
              <a:rPr lang="en-US" sz="3176">
                <a:solidFill>
                  <a:srgbClr val="000000"/>
                </a:solidFill>
                <a:latin typeface="Poppins"/>
                <a:ea typeface="Poppins"/>
                <a:cs typeface="Poppins"/>
                <a:sym typeface="Poppins"/>
              </a:rPr>
              <a:t>Gesture merupakan bagian penting dalam pengembangan aplikasi modern. Dengan memanfaatkan berbagai jenis gesture, aplikasi menjadi lebih interaktif dan memberikan pengalaman pengguna yang lebih baik.</a:t>
            </a:r>
          </a:p>
          <a:p>
            <a:pPr algn="l">
              <a:lnSpc>
                <a:spcPts val="3812"/>
              </a:lnSpc>
            </a:pPr>
          </a:p>
        </p:txBody>
      </p:sp>
      <p:sp>
        <p:nvSpPr>
          <p:cNvPr name="Freeform 10" id="10"/>
          <p:cNvSpPr/>
          <p:nvPr/>
        </p:nvSpPr>
        <p:spPr>
          <a:xfrm flipH="false" flipV="false" rot="0">
            <a:off x="2465538" y="6691567"/>
            <a:ext cx="2086787" cy="2522490"/>
          </a:xfrm>
          <a:custGeom>
            <a:avLst/>
            <a:gdLst/>
            <a:ahLst/>
            <a:cxnLst/>
            <a:rect r="r" b="b" t="t" l="l"/>
            <a:pathLst>
              <a:path h="2522490" w="2086787">
                <a:moveTo>
                  <a:pt x="0" y="0"/>
                </a:moveTo>
                <a:lnTo>
                  <a:pt x="2086786" y="0"/>
                </a:lnTo>
                <a:lnTo>
                  <a:pt x="2086786" y="2522489"/>
                </a:lnTo>
                <a:lnTo>
                  <a:pt x="0" y="2522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4910406" y="6691567"/>
            <a:ext cx="2805969" cy="2890043"/>
          </a:xfrm>
          <a:custGeom>
            <a:avLst/>
            <a:gdLst/>
            <a:ahLst/>
            <a:cxnLst/>
            <a:rect r="r" b="b" t="t" l="l"/>
            <a:pathLst>
              <a:path h="2890043" w="2805969">
                <a:moveTo>
                  <a:pt x="2805970" y="0"/>
                </a:moveTo>
                <a:lnTo>
                  <a:pt x="0" y="0"/>
                </a:lnTo>
                <a:lnTo>
                  <a:pt x="0" y="2890043"/>
                </a:lnTo>
                <a:lnTo>
                  <a:pt x="2805970" y="2890043"/>
                </a:lnTo>
                <a:lnTo>
                  <a:pt x="280597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2460773">
            <a:off x="14721117" y="-95429"/>
            <a:ext cx="4952791" cy="2260274"/>
          </a:xfrm>
          <a:custGeom>
            <a:avLst/>
            <a:gdLst/>
            <a:ahLst/>
            <a:cxnLst/>
            <a:rect r="r" b="b" t="t" l="l"/>
            <a:pathLst>
              <a:path h="2260274" w="4952791">
                <a:moveTo>
                  <a:pt x="0" y="0"/>
                </a:moveTo>
                <a:lnTo>
                  <a:pt x="4952792" y="0"/>
                </a:lnTo>
                <a:lnTo>
                  <a:pt x="4952792" y="2260274"/>
                </a:lnTo>
                <a:lnTo>
                  <a:pt x="0" y="22602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149811">
            <a:off x="12474271" y="1835976"/>
            <a:ext cx="744191" cy="518227"/>
          </a:xfrm>
          <a:custGeom>
            <a:avLst/>
            <a:gdLst/>
            <a:ahLst/>
            <a:cxnLst/>
            <a:rect r="r" b="b" t="t" l="l"/>
            <a:pathLst>
              <a:path h="518227" w="744191">
                <a:moveTo>
                  <a:pt x="0" y="0"/>
                </a:moveTo>
                <a:lnTo>
                  <a:pt x="744191" y="0"/>
                </a:lnTo>
                <a:lnTo>
                  <a:pt x="744191" y="518227"/>
                </a:lnTo>
                <a:lnTo>
                  <a:pt x="0" y="51822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92" y="0"/>
            <a:ext cx="8590957" cy="10287000"/>
          </a:xfrm>
          <a:custGeom>
            <a:avLst/>
            <a:gdLst/>
            <a:ahLst/>
            <a:cxnLst/>
            <a:rect r="r" b="b" t="t" l="l"/>
            <a:pathLst>
              <a:path h="10287000" w="8590957">
                <a:moveTo>
                  <a:pt x="0" y="0"/>
                </a:moveTo>
                <a:lnTo>
                  <a:pt x="8590957" y="0"/>
                </a:lnTo>
                <a:lnTo>
                  <a:pt x="8590957" y="10287000"/>
                </a:lnTo>
                <a:lnTo>
                  <a:pt x="0" y="10287000"/>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19742" b="0"/>
            </a:stretch>
          </a:blipFill>
        </p:spPr>
      </p:sp>
      <p:sp>
        <p:nvSpPr>
          <p:cNvPr name="Freeform 3" id="3"/>
          <p:cNvSpPr/>
          <p:nvPr/>
        </p:nvSpPr>
        <p:spPr>
          <a:xfrm flipH="true" flipV="false" rot="0">
            <a:off x="8580365"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0" y="8565647"/>
            <a:ext cx="18288000" cy="1721353"/>
            <a:chOff x="0" y="0"/>
            <a:chExt cx="4816593" cy="453360"/>
          </a:xfrm>
        </p:grpSpPr>
        <p:sp>
          <p:nvSpPr>
            <p:cNvPr name="Freeform 5" id="5"/>
            <p:cNvSpPr/>
            <p:nvPr/>
          </p:nvSpPr>
          <p:spPr>
            <a:xfrm flipH="false" flipV="false" rot="0">
              <a:off x="0" y="0"/>
              <a:ext cx="4816592" cy="453360"/>
            </a:xfrm>
            <a:custGeom>
              <a:avLst/>
              <a:gdLst/>
              <a:ahLst/>
              <a:cxnLst/>
              <a:rect r="r" b="b" t="t" l="l"/>
              <a:pathLst>
                <a:path h="453360" w="4816592">
                  <a:moveTo>
                    <a:pt x="0" y="0"/>
                  </a:moveTo>
                  <a:lnTo>
                    <a:pt x="4816592" y="0"/>
                  </a:lnTo>
                  <a:lnTo>
                    <a:pt x="4816592" y="453360"/>
                  </a:lnTo>
                  <a:lnTo>
                    <a:pt x="0" y="453360"/>
                  </a:lnTo>
                  <a:close/>
                </a:path>
              </a:pathLst>
            </a:custGeom>
            <a:solidFill>
              <a:srgbClr val="000000"/>
            </a:solidFill>
          </p:spPr>
        </p:sp>
        <p:sp>
          <p:nvSpPr>
            <p:cNvPr name="TextBox 6" id="6"/>
            <p:cNvSpPr txBox="true"/>
            <p:nvPr/>
          </p:nvSpPr>
          <p:spPr>
            <a:xfrm>
              <a:off x="0" y="-38100"/>
              <a:ext cx="4816593" cy="49146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449168" y="3608740"/>
            <a:ext cx="9389663" cy="1917027"/>
          </a:xfrm>
          <a:prstGeom prst="rect">
            <a:avLst/>
          </a:prstGeom>
        </p:spPr>
        <p:txBody>
          <a:bodyPr anchor="t" rtlCol="false" tIns="0" lIns="0" bIns="0" rIns="0">
            <a:spAutoFit/>
          </a:bodyPr>
          <a:lstStyle/>
          <a:p>
            <a:pPr algn="l">
              <a:lnSpc>
                <a:spcPts val="15007"/>
              </a:lnSpc>
            </a:pPr>
            <a:r>
              <a:rPr lang="en-US" sz="12506" b="true">
                <a:solidFill>
                  <a:srgbClr val="000000"/>
                </a:solidFill>
                <a:latin typeface="Asap Condensed Bold"/>
                <a:ea typeface="Asap Condensed Bold"/>
                <a:cs typeface="Asap Condensed Bold"/>
                <a:sym typeface="Asap Condensed Bold"/>
              </a:rPr>
              <a:t>TERIMA KASIH</a:t>
            </a:r>
          </a:p>
        </p:txBody>
      </p:sp>
      <p:sp>
        <p:nvSpPr>
          <p:cNvPr name="Freeform 8" id="8"/>
          <p:cNvSpPr/>
          <p:nvPr/>
        </p:nvSpPr>
        <p:spPr>
          <a:xfrm flipH="false" flipV="false" rot="0">
            <a:off x="2465538" y="6691567"/>
            <a:ext cx="2086787" cy="2522490"/>
          </a:xfrm>
          <a:custGeom>
            <a:avLst/>
            <a:gdLst/>
            <a:ahLst/>
            <a:cxnLst/>
            <a:rect r="r" b="b" t="t" l="l"/>
            <a:pathLst>
              <a:path h="2522490" w="2086787">
                <a:moveTo>
                  <a:pt x="0" y="0"/>
                </a:moveTo>
                <a:lnTo>
                  <a:pt x="2086786" y="0"/>
                </a:lnTo>
                <a:lnTo>
                  <a:pt x="2086786" y="2522489"/>
                </a:lnTo>
                <a:lnTo>
                  <a:pt x="0" y="2522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4910406" y="6691567"/>
            <a:ext cx="2805969" cy="2890043"/>
          </a:xfrm>
          <a:custGeom>
            <a:avLst/>
            <a:gdLst/>
            <a:ahLst/>
            <a:cxnLst/>
            <a:rect r="r" b="b" t="t" l="l"/>
            <a:pathLst>
              <a:path h="2890043" w="2805969">
                <a:moveTo>
                  <a:pt x="2805970" y="0"/>
                </a:moveTo>
                <a:lnTo>
                  <a:pt x="0" y="0"/>
                </a:lnTo>
                <a:lnTo>
                  <a:pt x="0" y="2890043"/>
                </a:lnTo>
                <a:lnTo>
                  <a:pt x="2805970" y="2890043"/>
                </a:lnTo>
                <a:lnTo>
                  <a:pt x="280597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460773">
            <a:off x="14721117" y="-95429"/>
            <a:ext cx="4952791" cy="2260274"/>
          </a:xfrm>
          <a:custGeom>
            <a:avLst/>
            <a:gdLst/>
            <a:ahLst/>
            <a:cxnLst/>
            <a:rect r="r" b="b" t="t" l="l"/>
            <a:pathLst>
              <a:path h="2260274" w="4952791">
                <a:moveTo>
                  <a:pt x="0" y="0"/>
                </a:moveTo>
                <a:lnTo>
                  <a:pt x="4952792" y="0"/>
                </a:lnTo>
                <a:lnTo>
                  <a:pt x="4952792" y="2260274"/>
                </a:lnTo>
                <a:lnTo>
                  <a:pt x="0" y="22602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149811">
            <a:off x="12474271" y="1835976"/>
            <a:ext cx="744191" cy="518227"/>
          </a:xfrm>
          <a:custGeom>
            <a:avLst/>
            <a:gdLst/>
            <a:ahLst/>
            <a:cxnLst/>
            <a:rect r="r" b="b" t="t" l="l"/>
            <a:pathLst>
              <a:path h="518227" w="744191">
                <a:moveTo>
                  <a:pt x="0" y="0"/>
                </a:moveTo>
                <a:lnTo>
                  <a:pt x="744191" y="0"/>
                </a:lnTo>
                <a:lnTo>
                  <a:pt x="744191" y="518227"/>
                </a:lnTo>
                <a:lnTo>
                  <a:pt x="0" y="5182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DAHFncwXP_A</dc:identifier>
  <dcterms:modified xsi:type="dcterms:W3CDTF">2011-08-01T06:04:30Z</dcterms:modified>
  <cp:revision>1</cp:revision>
  <dc:title>Hitam Ilustrasi Monokrom Brainstorming Presentasi</dc:title>
</cp:coreProperties>
</file>