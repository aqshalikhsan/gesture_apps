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Fraunces Semi-Bold" charset="1" panose="00000000000000000000"/>
      <p:regular r:id="rId13"/>
    </p:embeddedFont>
    <p:embeddedFont>
      <p:font typeface="DM Sans" charset="1" panose="00000000000000000000"/>
      <p:regular r:id="rId14"/>
    </p:embeddedFont>
    <p:embeddedFont>
      <p:font typeface="Fraunces Heavy"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jpeg" Type="http://schemas.openxmlformats.org/officeDocument/2006/relationships/image"/><Relationship Id="rId9" Target="../media/image1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jpeg" Type="http://schemas.openxmlformats.org/officeDocument/2006/relationships/image"/><Relationship Id="rId9"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6.jpeg" Type="http://schemas.openxmlformats.org/officeDocument/2006/relationships/image"/><Relationship Id="rId12" Target="../media/image17.jpeg" Type="http://schemas.openxmlformats.org/officeDocument/2006/relationships/image"/><Relationship Id="rId13" Target="../media/image18.jpeg" Type="http://schemas.openxmlformats.org/officeDocument/2006/relationships/image"/><Relationship Id="rId14" Target="../media/image19.jpe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507075" y="5505392"/>
            <a:ext cx="6179809" cy="3382041"/>
          </a:xfrm>
          <a:custGeom>
            <a:avLst/>
            <a:gdLst/>
            <a:ahLst/>
            <a:cxnLst/>
            <a:rect r="r" b="b" t="t" l="l"/>
            <a:pathLst>
              <a:path h="3382041" w="6179809">
                <a:moveTo>
                  <a:pt x="0" y="0"/>
                </a:moveTo>
                <a:lnTo>
                  <a:pt x="6179809" y="0"/>
                </a:lnTo>
                <a:lnTo>
                  <a:pt x="6179809" y="3382041"/>
                </a:lnTo>
                <a:lnTo>
                  <a:pt x="0" y="3382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1028700" cy="1028700"/>
          </a:xfrm>
          <a:custGeom>
            <a:avLst/>
            <a:gdLst/>
            <a:ahLst/>
            <a:cxnLst/>
            <a:rect r="r" b="b" t="t" l="l"/>
            <a:pathLst>
              <a:path h="1028700" w="1028700">
                <a:moveTo>
                  <a:pt x="1028700" y="0"/>
                </a:moveTo>
                <a:lnTo>
                  <a:pt x="0" y="0"/>
                </a:lnTo>
                <a:lnTo>
                  <a:pt x="0" y="1028700"/>
                </a:lnTo>
                <a:lnTo>
                  <a:pt x="1028700" y="1028700"/>
                </a:lnTo>
                <a:lnTo>
                  <a:pt x="10287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rot="5400000">
            <a:off x="-3605352" y="5652265"/>
            <a:ext cx="9258579" cy="0"/>
          </a:xfrm>
          <a:prstGeom prst="line">
            <a:avLst/>
          </a:prstGeom>
          <a:ln cap="flat" w="9525">
            <a:solidFill>
              <a:srgbClr val="2D2D2D"/>
            </a:solidFill>
            <a:prstDash val="solid"/>
            <a:headEnd type="none" len="sm" w="sm"/>
            <a:tailEnd type="none" len="sm" w="sm"/>
          </a:ln>
        </p:spPr>
      </p:sp>
      <p:sp>
        <p:nvSpPr>
          <p:cNvPr name="AutoShape 5" id="5"/>
          <p:cNvSpPr/>
          <p:nvPr/>
        </p:nvSpPr>
        <p:spPr>
          <a:xfrm rot="-10800000">
            <a:off x="1028700" y="1008688"/>
            <a:ext cx="17259300" cy="0"/>
          </a:xfrm>
          <a:prstGeom prst="line">
            <a:avLst/>
          </a:prstGeom>
          <a:ln cap="flat" w="9525">
            <a:solidFill>
              <a:srgbClr val="2D2D2D"/>
            </a:solidFill>
            <a:prstDash val="solid"/>
            <a:headEnd type="none" len="sm" w="sm"/>
            <a:tailEnd type="none" len="sm" w="sm"/>
          </a:ln>
        </p:spPr>
      </p:sp>
      <p:sp>
        <p:nvSpPr>
          <p:cNvPr name="TextBox 6" id="6"/>
          <p:cNvSpPr txBox="true"/>
          <p:nvPr/>
        </p:nvSpPr>
        <p:spPr>
          <a:xfrm rot="0">
            <a:off x="1993519" y="2109751"/>
            <a:ext cx="12041202" cy="1996757"/>
          </a:xfrm>
          <a:prstGeom prst="rect">
            <a:avLst/>
          </a:prstGeom>
        </p:spPr>
        <p:txBody>
          <a:bodyPr anchor="t" rtlCol="false" tIns="0" lIns="0" bIns="0" rIns="0">
            <a:spAutoFit/>
          </a:bodyPr>
          <a:lstStyle/>
          <a:p>
            <a:pPr algn="l">
              <a:lnSpc>
                <a:spcPts val="7704"/>
              </a:lnSpc>
            </a:pPr>
            <a:r>
              <a:rPr lang="en-US" sz="7704" b="true">
                <a:solidFill>
                  <a:srgbClr val="2D2D2D"/>
                </a:solidFill>
                <a:latin typeface="Fraunces Semi-Bold"/>
                <a:ea typeface="Fraunces Semi-Bold"/>
                <a:cs typeface="Fraunces Semi-Bold"/>
                <a:sym typeface="Fraunces Semi-Bold"/>
              </a:rPr>
              <a:t>Workshop Mobile Applications Framework</a:t>
            </a:r>
          </a:p>
        </p:txBody>
      </p:sp>
      <p:sp>
        <p:nvSpPr>
          <p:cNvPr name="TextBox 7" id="7"/>
          <p:cNvSpPr txBox="true"/>
          <p:nvPr/>
        </p:nvSpPr>
        <p:spPr>
          <a:xfrm rot="0">
            <a:off x="1993519" y="4322281"/>
            <a:ext cx="4533038" cy="405765"/>
          </a:xfrm>
          <a:prstGeom prst="rect">
            <a:avLst/>
          </a:prstGeom>
        </p:spPr>
        <p:txBody>
          <a:bodyPr anchor="t" rtlCol="false" tIns="0" lIns="0" bIns="0" rIns="0">
            <a:spAutoFit/>
          </a:bodyPr>
          <a:lstStyle/>
          <a:p>
            <a:pPr algn="l">
              <a:lnSpc>
                <a:spcPts val="3359"/>
              </a:lnSpc>
            </a:pPr>
            <a:r>
              <a:rPr lang="en-US" sz="2400">
                <a:solidFill>
                  <a:srgbClr val="2D2D2D"/>
                </a:solidFill>
                <a:latin typeface="DM Sans"/>
                <a:ea typeface="DM Sans"/>
                <a:cs typeface="DM Sans"/>
                <a:sym typeface="DM Sans"/>
              </a:rPr>
              <a:t>Laporan Gesture Lab</a:t>
            </a:r>
          </a:p>
        </p:txBody>
      </p:sp>
      <p:sp>
        <p:nvSpPr>
          <p:cNvPr name="TextBox 8" id="8"/>
          <p:cNvSpPr txBox="true"/>
          <p:nvPr/>
        </p:nvSpPr>
        <p:spPr>
          <a:xfrm rot="0">
            <a:off x="1993519" y="8032115"/>
            <a:ext cx="4003810" cy="405765"/>
          </a:xfrm>
          <a:prstGeom prst="rect">
            <a:avLst/>
          </a:prstGeom>
        </p:spPr>
        <p:txBody>
          <a:bodyPr anchor="t" rtlCol="false" tIns="0" lIns="0" bIns="0" rIns="0">
            <a:spAutoFit/>
          </a:bodyPr>
          <a:lstStyle/>
          <a:p>
            <a:pPr algn="l">
              <a:lnSpc>
                <a:spcPts val="3359"/>
              </a:lnSpc>
            </a:pPr>
            <a:r>
              <a:rPr lang="en-US" sz="2400">
                <a:solidFill>
                  <a:srgbClr val="2D2D2D"/>
                </a:solidFill>
                <a:latin typeface="DM Sans"/>
                <a:ea typeface="DM Sans"/>
                <a:cs typeface="DM Sans"/>
                <a:sym typeface="DM Sans"/>
              </a:rPr>
              <a:t>Rafi Rajendranata Pidekso </a:t>
            </a:r>
          </a:p>
        </p:txBody>
      </p:sp>
      <p:sp>
        <p:nvSpPr>
          <p:cNvPr name="TextBox 9" id="9"/>
          <p:cNvSpPr txBox="true"/>
          <p:nvPr/>
        </p:nvSpPr>
        <p:spPr>
          <a:xfrm rot="0">
            <a:off x="1993519" y="8494395"/>
            <a:ext cx="3428162" cy="405765"/>
          </a:xfrm>
          <a:prstGeom prst="rect">
            <a:avLst/>
          </a:prstGeom>
        </p:spPr>
        <p:txBody>
          <a:bodyPr anchor="t" rtlCol="false" tIns="0" lIns="0" bIns="0" rIns="0">
            <a:spAutoFit/>
          </a:bodyPr>
          <a:lstStyle/>
          <a:p>
            <a:pPr algn="l">
              <a:lnSpc>
                <a:spcPts val="3359"/>
              </a:lnSpc>
            </a:pPr>
            <a:r>
              <a:rPr lang="en-US" sz="2400">
                <a:solidFill>
                  <a:srgbClr val="2D2D2D"/>
                </a:solidFill>
                <a:latin typeface="DM Sans"/>
                <a:ea typeface="DM Sans"/>
                <a:cs typeface="DM Sans"/>
                <a:sym typeface="DM Sans"/>
              </a:rPr>
              <a:t>E41240029</a:t>
            </a:r>
          </a:p>
        </p:txBody>
      </p:sp>
      <p:sp>
        <p:nvSpPr>
          <p:cNvPr name="TextBox 10" id="10"/>
          <p:cNvSpPr txBox="true"/>
          <p:nvPr/>
        </p:nvSpPr>
        <p:spPr>
          <a:xfrm rot="0">
            <a:off x="1993519" y="8957310"/>
            <a:ext cx="3428162" cy="405765"/>
          </a:xfrm>
          <a:prstGeom prst="rect">
            <a:avLst/>
          </a:prstGeom>
        </p:spPr>
        <p:txBody>
          <a:bodyPr anchor="t" rtlCol="false" tIns="0" lIns="0" bIns="0" rIns="0">
            <a:spAutoFit/>
          </a:bodyPr>
          <a:lstStyle/>
          <a:p>
            <a:pPr algn="l">
              <a:lnSpc>
                <a:spcPts val="3359"/>
              </a:lnSpc>
            </a:pPr>
            <a:r>
              <a:rPr lang="en-US" sz="2400">
                <a:solidFill>
                  <a:srgbClr val="2D2D2D"/>
                </a:solidFill>
                <a:latin typeface="DM Sans"/>
                <a:ea typeface="DM Sans"/>
                <a:cs typeface="DM Sans"/>
                <a:sym typeface="DM Sans"/>
              </a:rPr>
              <a:t>TIF Gol 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17227762" y="9258300"/>
            <a:ext cx="1060238" cy="1028700"/>
            <a:chOff x="0" y="0"/>
            <a:chExt cx="523379" cy="507811"/>
          </a:xfrm>
        </p:grpSpPr>
        <p:sp>
          <p:nvSpPr>
            <p:cNvPr name="Freeform 3" id="3"/>
            <p:cNvSpPr/>
            <p:nvPr/>
          </p:nvSpPr>
          <p:spPr>
            <a:xfrm flipH="false" flipV="false" rot="0">
              <a:off x="0" y="0"/>
              <a:ext cx="523379" cy="507811"/>
            </a:xfrm>
            <a:custGeom>
              <a:avLst/>
              <a:gdLst/>
              <a:ahLst/>
              <a:cxnLst/>
              <a:rect r="r" b="b" t="t" l="l"/>
              <a:pathLst>
                <a:path h="507811" w="523379">
                  <a:moveTo>
                    <a:pt x="0" y="0"/>
                  </a:moveTo>
                  <a:lnTo>
                    <a:pt x="523379" y="0"/>
                  </a:lnTo>
                  <a:lnTo>
                    <a:pt x="523379" y="507811"/>
                  </a:lnTo>
                  <a:lnTo>
                    <a:pt x="0" y="507811"/>
                  </a:lnTo>
                  <a:close/>
                </a:path>
              </a:pathLst>
            </a:custGeom>
            <a:solidFill>
              <a:srgbClr val="2D2D2D"/>
            </a:solidFill>
          </p:spPr>
        </p:sp>
      </p:grpSp>
      <p:sp>
        <p:nvSpPr>
          <p:cNvPr name="Freeform 4" id="4"/>
          <p:cNvSpPr/>
          <p:nvPr/>
        </p:nvSpPr>
        <p:spPr>
          <a:xfrm flipH="false" flipV="true" rot="0">
            <a:off x="12686811" y="8118609"/>
            <a:ext cx="2216016" cy="2216016"/>
          </a:xfrm>
          <a:custGeom>
            <a:avLst/>
            <a:gdLst/>
            <a:ahLst/>
            <a:cxnLst/>
            <a:rect r="r" b="b" t="t" l="l"/>
            <a:pathLst>
              <a:path h="2216016" w="2216016">
                <a:moveTo>
                  <a:pt x="0" y="2216016"/>
                </a:moveTo>
                <a:lnTo>
                  <a:pt x="2216016" y="2216016"/>
                </a:lnTo>
                <a:lnTo>
                  <a:pt x="2216016" y="0"/>
                </a:lnTo>
                <a:lnTo>
                  <a:pt x="0" y="0"/>
                </a:lnTo>
                <a:lnTo>
                  <a:pt x="0" y="22160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0" y="0"/>
            <a:ext cx="1028700" cy="1028700"/>
          </a:xfrm>
          <a:custGeom>
            <a:avLst/>
            <a:gdLst/>
            <a:ahLst/>
            <a:cxnLst/>
            <a:rect r="r" b="b" t="t" l="l"/>
            <a:pathLst>
              <a:path h="1028700" w="1028700">
                <a:moveTo>
                  <a:pt x="1028700" y="0"/>
                </a:moveTo>
                <a:lnTo>
                  <a:pt x="0" y="0"/>
                </a:lnTo>
                <a:lnTo>
                  <a:pt x="0" y="1028700"/>
                </a:lnTo>
                <a:lnTo>
                  <a:pt x="1028700" y="1028700"/>
                </a:lnTo>
                <a:lnTo>
                  <a:pt x="10287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rot="5400000">
            <a:off x="-3605352" y="5652265"/>
            <a:ext cx="9258579" cy="0"/>
          </a:xfrm>
          <a:prstGeom prst="line">
            <a:avLst/>
          </a:prstGeom>
          <a:ln cap="flat" w="9525">
            <a:solidFill>
              <a:srgbClr val="2D2D2D"/>
            </a:solidFill>
            <a:prstDash val="solid"/>
            <a:headEnd type="none" len="sm" w="sm"/>
            <a:tailEnd type="none" len="sm" w="sm"/>
          </a:ln>
        </p:spPr>
      </p:sp>
      <p:sp>
        <p:nvSpPr>
          <p:cNvPr name="AutoShape 7" id="7"/>
          <p:cNvSpPr/>
          <p:nvPr/>
        </p:nvSpPr>
        <p:spPr>
          <a:xfrm rot="-10800000">
            <a:off x="1028700" y="1008688"/>
            <a:ext cx="17259300" cy="0"/>
          </a:xfrm>
          <a:prstGeom prst="line">
            <a:avLst/>
          </a:prstGeom>
          <a:ln cap="flat" w="9525">
            <a:solidFill>
              <a:srgbClr val="2D2D2D"/>
            </a:solidFill>
            <a:prstDash val="solid"/>
            <a:headEnd type="none" len="sm" w="sm"/>
            <a:tailEnd type="none" len="sm" w="sm"/>
          </a:ln>
        </p:spPr>
      </p:sp>
      <p:sp>
        <p:nvSpPr>
          <p:cNvPr name="Freeform 8" id="8"/>
          <p:cNvSpPr/>
          <p:nvPr/>
        </p:nvSpPr>
        <p:spPr>
          <a:xfrm flipH="false" flipV="false" rot="-10800000">
            <a:off x="14902827" y="2981483"/>
            <a:ext cx="4512899" cy="4488283"/>
          </a:xfrm>
          <a:custGeom>
            <a:avLst/>
            <a:gdLst/>
            <a:ahLst/>
            <a:cxnLst/>
            <a:rect r="r" b="b" t="t" l="l"/>
            <a:pathLst>
              <a:path h="4488283" w="4512899">
                <a:moveTo>
                  <a:pt x="0" y="0"/>
                </a:moveTo>
                <a:lnTo>
                  <a:pt x="4512899" y="0"/>
                </a:lnTo>
                <a:lnTo>
                  <a:pt x="4512899" y="4488283"/>
                </a:lnTo>
                <a:lnTo>
                  <a:pt x="0" y="4488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719554" y="3016173"/>
            <a:ext cx="4795842" cy="6210443"/>
          </a:xfrm>
          <a:custGeom>
            <a:avLst/>
            <a:gdLst/>
            <a:ahLst/>
            <a:cxnLst/>
            <a:rect r="r" b="b" t="t" l="l"/>
            <a:pathLst>
              <a:path h="6210443" w="4795842">
                <a:moveTo>
                  <a:pt x="0" y="0"/>
                </a:moveTo>
                <a:lnTo>
                  <a:pt x="4795842" y="0"/>
                </a:lnTo>
                <a:lnTo>
                  <a:pt x="4795842" y="6210444"/>
                </a:lnTo>
                <a:lnTo>
                  <a:pt x="0" y="6210444"/>
                </a:lnTo>
                <a:lnTo>
                  <a:pt x="0" y="0"/>
                </a:lnTo>
                <a:close/>
              </a:path>
            </a:pathLst>
          </a:custGeom>
          <a:blipFill>
            <a:blip r:embed="rId8"/>
            <a:stretch>
              <a:fillRect l="0" t="0" r="0" b="0"/>
            </a:stretch>
          </a:blipFill>
        </p:spPr>
      </p:sp>
      <p:sp>
        <p:nvSpPr>
          <p:cNvPr name="TextBox 10" id="10"/>
          <p:cNvSpPr txBox="true"/>
          <p:nvPr/>
        </p:nvSpPr>
        <p:spPr>
          <a:xfrm rot="0">
            <a:off x="1993519" y="1888817"/>
            <a:ext cx="6848808" cy="821055"/>
          </a:xfrm>
          <a:prstGeom prst="rect">
            <a:avLst/>
          </a:prstGeom>
        </p:spPr>
        <p:txBody>
          <a:bodyPr anchor="t" rtlCol="false" tIns="0" lIns="0" bIns="0" rIns="0">
            <a:spAutoFit/>
          </a:bodyPr>
          <a:lstStyle/>
          <a:p>
            <a:pPr algn="l">
              <a:lnSpc>
                <a:spcPts val="6719"/>
              </a:lnSpc>
            </a:pPr>
            <a:r>
              <a:rPr lang="en-US" sz="4800" b="true">
                <a:solidFill>
                  <a:srgbClr val="2D2D2D"/>
                </a:solidFill>
                <a:latin typeface="Fraunces Heavy"/>
                <a:ea typeface="Fraunces Heavy"/>
                <a:cs typeface="Fraunces Heavy"/>
                <a:sym typeface="Fraunces Heavy"/>
              </a:rPr>
              <a:t>Gesture Lab</a:t>
            </a:r>
          </a:p>
        </p:txBody>
      </p:sp>
      <p:sp>
        <p:nvSpPr>
          <p:cNvPr name="TextBox 11" id="11"/>
          <p:cNvSpPr txBox="true"/>
          <p:nvPr/>
        </p:nvSpPr>
        <p:spPr>
          <a:xfrm rot="0">
            <a:off x="17371077" y="9465628"/>
            <a:ext cx="773608" cy="547370"/>
          </a:xfrm>
          <a:prstGeom prst="rect">
            <a:avLst/>
          </a:prstGeom>
        </p:spPr>
        <p:txBody>
          <a:bodyPr anchor="t" rtlCol="false" tIns="0" lIns="0" bIns="0" rIns="0">
            <a:spAutoFit/>
          </a:bodyPr>
          <a:lstStyle/>
          <a:p>
            <a:pPr algn="ctr">
              <a:lnSpc>
                <a:spcPts val="4480"/>
              </a:lnSpc>
            </a:pPr>
            <a:r>
              <a:rPr lang="en-US" sz="3200">
                <a:solidFill>
                  <a:srgbClr val="E0DDAA"/>
                </a:solidFill>
                <a:latin typeface="DM Sans"/>
                <a:ea typeface="DM Sans"/>
                <a:cs typeface="DM Sans"/>
                <a:sym typeface="DM Sans"/>
              </a:rPr>
              <a:t>2</a:t>
            </a:r>
          </a:p>
        </p:txBody>
      </p:sp>
      <p:sp>
        <p:nvSpPr>
          <p:cNvPr name="TextBox 12" id="12"/>
          <p:cNvSpPr txBox="true"/>
          <p:nvPr/>
        </p:nvSpPr>
        <p:spPr>
          <a:xfrm rot="0">
            <a:off x="7206250" y="2905283"/>
            <a:ext cx="8028708" cy="493395"/>
          </a:xfrm>
          <a:prstGeom prst="rect">
            <a:avLst/>
          </a:prstGeom>
        </p:spPr>
        <p:txBody>
          <a:bodyPr anchor="t" rtlCol="false" tIns="0" lIns="0" bIns="0" rIns="0">
            <a:spAutoFit/>
          </a:bodyPr>
          <a:lstStyle/>
          <a:p>
            <a:pPr algn="just">
              <a:lnSpc>
                <a:spcPts val="4199"/>
              </a:lnSpc>
            </a:pPr>
            <a:r>
              <a:rPr lang="en-US" sz="2799">
                <a:solidFill>
                  <a:srgbClr val="2D2D2D"/>
                </a:solidFill>
                <a:latin typeface="DM Sans"/>
                <a:ea typeface="DM Sans"/>
                <a:cs typeface="DM Sans"/>
                <a:sym typeface="DM Sans"/>
              </a:rPr>
              <a:t>Menampilkan beberapa pilihan gesture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17227762" y="9258300"/>
            <a:ext cx="1060238" cy="1028700"/>
            <a:chOff x="0" y="0"/>
            <a:chExt cx="523379" cy="507811"/>
          </a:xfrm>
        </p:grpSpPr>
        <p:sp>
          <p:nvSpPr>
            <p:cNvPr name="Freeform 3" id="3"/>
            <p:cNvSpPr/>
            <p:nvPr/>
          </p:nvSpPr>
          <p:spPr>
            <a:xfrm flipH="false" flipV="false" rot="0">
              <a:off x="0" y="0"/>
              <a:ext cx="523379" cy="507811"/>
            </a:xfrm>
            <a:custGeom>
              <a:avLst/>
              <a:gdLst/>
              <a:ahLst/>
              <a:cxnLst/>
              <a:rect r="r" b="b" t="t" l="l"/>
              <a:pathLst>
                <a:path h="507811" w="523379">
                  <a:moveTo>
                    <a:pt x="0" y="0"/>
                  </a:moveTo>
                  <a:lnTo>
                    <a:pt x="523379" y="0"/>
                  </a:lnTo>
                  <a:lnTo>
                    <a:pt x="523379" y="507811"/>
                  </a:lnTo>
                  <a:lnTo>
                    <a:pt x="0" y="507811"/>
                  </a:lnTo>
                  <a:close/>
                </a:path>
              </a:pathLst>
            </a:custGeom>
            <a:solidFill>
              <a:srgbClr val="2D2D2D"/>
            </a:solidFill>
          </p:spPr>
        </p:sp>
      </p:grpSp>
      <p:sp>
        <p:nvSpPr>
          <p:cNvPr name="Freeform 4" id="4"/>
          <p:cNvSpPr/>
          <p:nvPr/>
        </p:nvSpPr>
        <p:spPr>
          <a:xfrm flipH="false" flipV="true" rot="0">
            <a:off x="12686811" y="8118609"/>
            <a:ext cx="2216016" cy="2216016"/>
          </a:xfrm>
          <a:custGeom>
            <a:avLst/>
            <a:gdLst/>
            <a:ahLst/>
            <a:cxnLst/>
            <a:rect r="r" b="b" t="t" l="l"/>
            <a:pathLst>
              <a:path h="2216016" w="2216016">
                <a:moveTo>
                  <a:pt x="0" y="2216016"/>
                </a:moveTo>
                <a:lnTo>
                  <a:pt x="2216016" y="2216016"/>
                </a:lnTo>
                <a:lnTo>
                  <a:pt x="2216016" y="0"/>
                </a:lnTo>
                <a:lnTo>
                  <a:pt x="0" y="0"/>
                </a:lnTo>
                <a:lnTo>
                  <a:pt x="0" y="22160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0" y="0"/>
            <a:ext cx="1028700" cy="1028700"/>
          </a:xfrm>
          <a:custGeom>
            <a:avLst/>
            <a:gdLst/>
            <a:ahLst/>
            <a:cxnLst/>
            <a:rect r="r" b="b" t="t" l="l"/>
            <a:pathLst>
              <a:path h="1028700" w="1028700">
                <a:moveTo>
                  <a:pt x="1028700" y="0"/>
                </a:moveTo>
                <a:lnTo>
                  <a:pt x="0" y="0"/>
                </a:lnTo>
                <a:lnTo>
                  <a:pt x="0" y="1028700"/>
                </a:lnTo>
                <a:lnTo>
                  <a:pt x="1028700" y="1028700"/>
                </a:lnTo>
                <a:lnTo>
                  <a:pt x="10287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rot="5400000">
            <a:off x="-3605352" y="5652265"/>
            <a:ext cx="9258579" cy="0"/>
          </a:xfrm>
          <a:prstGeom prst="line">
            <a:avLst/>
          </a:prstGeom>
          <a:ln cap="flat" w="9525">
            <a:solidFill>
              <a:srgbClr val="2D2D2D"/>
            </a:solidFill>
            <a:prstDash val="solid"/>
            <a:headEnd type="none" len="sm" w="sm"/>
            <a:tailEnd type="none" len="sm" w="sm"/>
          </a:ln>
        </p:spPr>
      </p:sp>
      <p:sp>
        <p:nvSpPr>
          <p:cNvPr name="AutoShape 7" id="7"/>
          <p:cNvSpPr/>
          <p:nvPr/>
        </p:nvSpPr>
        <p:spPr>
          <a:xfrm rot="-10800000">
            <a:off x="1028700" y="1008688"/>
            <a:ext cx="17259300" cy="0"/>
          </a:xfrm>
          <a:prstGeom prst="line">
            <a:avLst/>
          </a:prstGeom>
          <a:ln cap="flat" w="9525">
            <a:solidFill>
              <a:srgbClr val="2D2D2D"/>
            </a:solidFill>
            <a:prstDash val="solid"/>
            <a:headEnd type="none" len="sm" w="sm"/>
            <a:tailEnd type="none" len="sm" w="sm"/>
          </a:ln>
        </p:spPr>
      </p:sp>
      <p:sp>
        <p:nvSpPr>
          <p:cNvPr name="Freeform 8" id="8"/>
          <p:cNvSpPr/>
          <p:nvPr/>
        </p:nvSpPr>
        <p:spPr>
          <a:xfrm flipH="false" flipV="false" rot="-10800000">
            <a:off x="14902827" y="2981483"/>
            <a:ext cx="4512899" cy="4488283"/>
          </a:xfrm>
          <a:custGeom>
            <a:avLst/>
            <a:gdLst/>
            <a:ahLst/>
            <a:cxnLst/>
            <a:rect r="r" b="b" t="t" l="l"/>
            <a:pathLst>
              <a:path h="4488283" w="4512899">
                <a:moveTo>
                  <a:pt x="0" y="0"/>
                </a:moveTo>
                <a:lnTo>
                  <a:pt x="4512899" y="0"/>
                </a:lnTo>
                <a:lnTo>
                  <a:pt x="4512899" y="4488283"/>
                </a:lnTo>
                <a:lnTo>
                  <a:pt x="0" y="4488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993519" y="2981483"/>
            <a:ext cx="2717852" cy="3551850"/>
          </a:xfrm>
          <a:custGeom>
            <a:avLst/>
            <a:gdLst/>
            <a:ahLst/>
            <a:cxnLst/>
            <a:rect r="r" b="b" t="t" l="l"/>
            <a:pathLst>
              <a:path h="3551850" w="2717852">
                <a:moveTo>
                  <a:pt x="0" y="0"/>
                </a:moveTo>
                <a:lnTo>
                  <a:pt x="2717852" y="0"/>
                </a:lnTo>
                <a:lnTo>
                  <a:pt x="2717852" y="3551849"/>
                </a:lnTo>
                <a:lnTo>
                  <a:pt x="0" y="3551849"/>
                </a:lnTo>
                <a:lnTo>
                  <a:pt x="0" y="0"/>
                </a:lnTo>
                <a:close/>
              </a:path>
            </a:pathLst>
          </a:custGeom>
          <a:blipFill>
            <a:blip r:embed="rId8"/>
            <a:stretch>
              <a:fillRect l="0" t="0" r="0" b="0"/>
            </a:stretch>
          </a:blipFill>
        </p:spPr>
      </p:sp>
      <p:sp>
        <p:nvSpPr>
          <p:cNvPr name="Freeform 10" id="10"/>
          <p:cNvSpPr/>
          <p:nvPr/>
        </p:nvSpPr>
        <p:spPr>
          <a:xfrm flipH="false" flipV="false" rot="0">
            <a:off x="5133182" y="2981483"/>
            <a:ext cx="2741261" cy="3551850"/>
          </a:xfrm>
          <a:custGeom>
            <a:avLst/>
            <a:gdLst/>
            <a:ahLst/>
            <a:cxnLst/>
            <a:rect r="r" b="b" t="t" l="l"/>
            <a:pathLst>
              <a:path h="3551850" w="2741261">
                <a:moveTo>
                  <a:pt x="0" y="0"/>
                </a:moveTo>
                <a:lnTo>
                  <a:pt x="2741261" y="0"/>
                </a:lnTo>
                <a:lnTo>
                  <a:pt x="2741261" y="3551849"/>
                </a:lnTo>
                <a:lnTo>
                  <a:pt x="0" y="3551849"/>
                </a:lnTo>
                <a:lnTo>
                  <a:pt x="0" y="0"/>
                </a:lnTo>
                <a:close/>
              </a:path>
            </a:pathLst>
          </a:custGeom>
          <a:blipFill>
            <a:blip r:embed="rId9"/>
            <a:stretch>
              <a:fillRect l="0" t="0" r="0" b="0"/>
            </a:stretch>
          </a:blipFill>
        </p:spPr>
      </p:sp>
      <p:sp>
        <p:nvSpPr>
          <p:cNvPr name="Freeform 11" id="11"/>
          <p:cNvSpPr/>
          <p:nvPr/>
        </p:nvSpPr>
        <p:spPr>
          <a:xfrm flipH="false" flipV="false" rot="0">
            <a:off x="8256716" y="2981483"/>
            <a:ext cx="2744611" cy="3551850"/>
          </a:xfrm>
          <a:custGeom>
            <a:avLst/>
            <a:gdLst/>
            <a:ahLst/>
            <a:cxnLst/>
            <a:rect r="r" b="b" t="t" l="l"/>
            <a:pathLst>
              <a:path h="3551850" w="2744611">
                <a:moveTo>
                  <a:pt x="0" y="0"/>
                </a:moveTo>
                <a:lnTo>
                  <a:pt x="2744611" y="0"/>
                </a:lnTo>
                <a:lnTo>
                  <a:pt x="2744611" y="3551849"/>
                </a:lnTo>
                <a:lnTo>
                  <a:pt x="0" y="3551849"/>
                </a:lnTo>
                <a:lnTo>
                  <a:pt x="0" y="0"/>
                </a:lnTo>
                <a:close/>
              </a:path>
            </a:pathLst>
          </a:custGeom>
          <a:blipFill>
            <a:blip r:embed="rId10"/>
            <a:stretch>
              <a:fillRect l="0" t="0" r="0" b="0"/>
            </a:stretch>
          </a:blipFill>
        </p:spPr>
      </p:sp>
      <p:sp>
        <p:nvSpPr>
          <p:cNvPr name="TextBox 12" id="12"/>
          <p:cNvSpPr txBox="true"/>
          <p:nvPr/>
        </p:nvSpPr>
        <p:spPr>
          <a:xfrm rot="0">
            <a:off x="1993519" y="1888817"/>
            <a:ext cx="6848808" cy="821055"/>
          </a:xfrm>
          <a:prstGeom prst="rect">
            <a:avLst/>
          </a:prstGeom>
        </p:spPr>
        <p:txBody>
          <a:bodyPr anchor="t" rtlCol="false" tIns="0" lIns="0" bIns="0" rIns="0">
            <a:spAutoFit/>
          </a:bodyPr>
          <a:lstStyle/>
          <a:p>
            <a:pPr algn="l">
              <a:lnSpc>
                <a:spcPts val="6719"/>
              </a:lnSpc>
            </a:pPr>
            <a:r>
              <a:rPr lang="en-US" sz="4800" b="true">
                <a:solidFill>
                  <a:srgbClr val="2D2D2D"/>
                </a:solidFill>
                <a:latin typeface="Fraunces Heavy"/>
                <a:ea typeface="Fraunces Heavy"/>
                <a:cs typeface="Fraunces Heavy"/>
                <a:sym typeface="Fraunces Heavy"/>
              </a:rPr>
              <a:t>Tap Interaction</a:t>
            </a:r>
          </a:p>
        </p:txBody>
      </p:sp>
      <p:sp>
        <p:nvSpPr>
          <p:cNvPr name="TextBox 13" id="13"/>
          <p:cNvSpPr txBox="true"/>
          <p:nvPr/>
        </p:nvSpPr>
        <p:spPr>
          <a:xfrm rot="0">
            <a:off x="2505583" y="6610303"/>
            <a:ext cx="1693724"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name="TextBox 14" id="14"/>
          <p:cNvSpPr txBox="true"/>
          <p:nvPr/>
        </p:nvSpPr>
        <p:spPr>
          <a:xfrm rot="0">
            <a:off x="17371077" y="9465628"/>
            <a:ext cx="773608" cy="547370"/>
          </a:xfrm>
          <a:prstGeom prst="rect">
            <a:avLst/>
          </a:prstGeom>
        </p:spPr>
        <p:txBody>
          <a:bodyPr anchor="t" rtlCol="false" tIns="0" lIns="0" bIns="0" rIns="0">
            <a:spAutoFit/>
          </a:bodyPr>
          <a:lstStyle/>
          <a:p>
            <a:pPr algn="ctr">
              <a:lnSpc>
                <a:spcPts val="4480"/>
              </a:lnSpc>
            </a:pPr>
            <a:r>
              <a:rPr lang="en-US" sz="3200">
                <a:solidFill>
                  <a:srgbClr val="E0DDAA"/>
                </a:solidFill>
                <a:latin typeface="DM Sans"/>
                <a:ea typeface="DM Sans"/>
                <a:cs typeface="DM Sans"/>
                <a:sym typeface="DM Sans"/>
              </a:rPr>
              <a:t>2</a:t>
            </a:r>
          </a:p>
        </p:txBody>
      </p:sp>
      <p:sp>
        <p:nvSpPr>
          <p:cNvPr name="TextBox 15" id="15"/>
          <p:cNvSpPr txBox="true"/>
          <p:nvPr/>
        </p:nvSpPr>
        <p:spPr>
          <a:xfrm rot="0">
            <a:off x="5150690" y="6610303"/>
            <a:ext cx="2723753"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ketika di klik</a:t>
            </a:r>
          </a:p>
        </p:txBody>
      </p:sp>
      <p:sp>
        <p:nvSpPr>
          <p:cNvPr name="TextBox 16" id="16"/>
          <p:cNvSpPr txBox="true"/>
          <p:nvPr/>
        </p:nvSpPr>
        <p:spPr>
          <a:xfrm rot="0">
            <a:off x="8152218" y="6610303"/>
            <a:ext cx="2953606"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ketika di tahan</a:t>
            </a:r>
          </a:p>
        </p:txBody>
      </p:sp>
      <p:sp>
        <p:nvSpPr>
          <p:cNvPr name="TextBox 17" id="17"/>
          <p:cNvSpPr txBox="true"/>
          <p:nvPr/>
        </p:nvSpPr>
        <p:spPr>
          <a:xfrm rot="0">
            <a:off x="1993519" y="7276133"/>
            <a:ext cx="11299274" cy="2256170"/>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Kode ini membuat objek interaktif di Flutter yang merespons berbagai jenis sentuhan. Variabel size mengatur ukuran dan color mengatur warna objek. Melalui GestureDetector, tap akan memanggil fungsi randomize() untuk mengganti ukuran dan warna secara bergantian, double tap mengubah warna menjadi hijau, dan long press memperbesar ukuran menjadi lebih besar. Perubahan tampilan dibuat halus menggunakan AnimatedContainer, sehingga setiap perubahan ukuran dan warna terlihat dengan animasi.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17227762" y="9258300"/>
            <a:ext cx="1060238" cy="1028700"/>
            <a:chOff x="0" y="0"/>
            <a:chExt cx="523379" cy="507811"/>
          </a:xfrm>
        </p:grpSpPr>
        <p:sp>
          <p:nvSpPr>
            <p:cNvPr name="Freeform 3" id="3"/>
            <p:cNvSpPr/>
            <p:nvPr/>
          </p:nvSpPr>
          <p:spPr>
            <a:xfrm flipH="false" flipV="false" rot="0">
              <a:off x="0" y="0"/>
              <a:ext cx="523379" cy="507811"/>
            </a:xfrm>
            <a:custGeom>
              <a:avLst/>
              <a:gdLst/>
              <a:ahLst/>
              <a:cxnLst/>
              <a:rect r="r" b="b" t="t" l="l"/>
              <a:pathLst>
                <a:path h="507811" w="523379">
                  <a:moveTo>
                    <a:pt x="0" y="0"/>
                  </a:moveTo>
                  <a:lnTo>
                    <a:pt x="523379" y="0"/>
                  </a:lnTo>
                  <a:lnTo>
                    <a:pt x="523379" y="507811"/>
                  </a:lnTo>
                  <a:lnTo>
                    <a:pt x="0" y="507811"/>
                  </a:lnTo>
                  <a:close/>
                </a:path>
              </a:pathLst>
            </a:custGeom>
            <a:solidFill>
              <a:srgbClr val="2D2D2D"/>
            </a:solidFill>
          </p:spPr>
        </p:sp>
      </p:grpSp>
      <p:sp>
        <p:nvSpPr>
          <p:cNvPr name="Freeform 4" id="4"/>
          <p:cNvSpPr/>
          <p:nvPr/>
        </p:nvSpPr>
        <p:spPr>
          <a:xfrm flipH="false" flipV="true" rot="0">
            <a:off x="12686811" y="8118609"/>
            <a:ext cx="2216016" cy="2216016"/>
          </a:xfrm>
          <a:custGeom>
            <a:avLst/>
            <a:gdLst/>
            <a:ahLst/>
            <a:cxnLst/>
            <a:rect r="r" b="b" t="t" l="l"/>
            <a:pathLst>
              <a:path h="2216016" w="2216016">
                <a:moveTo>
                  <a:pt x="0" y="2216016"/>
                </a:moveTo>
                <a:lnTo>
                  <a:pt x="2216016" y="2216016"/>
                </a:lnTo>
                <a:lnTo>
                  <a:pt x="2216016" y="0"/>
                </a:lnTo>
                <a:lnTo>
                  <a:pt x="0" y="0"/>
                </a:lnTo>
                <a:lnTo>
                  <a:pt x="0" y="22160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0" y="0"/>
            <a:ext cx="1028700" cy="1028700"/>
          </a:xfrm>
          <a:custGeom>
            <a:avLst/>
            <a:gdLst/>
            <a:ahLst/>
            <a:cxnLst/>
            <a:rect r="r" b="b" t="t" l="l"/>
            <a:pathLst>
              <a:path h="1028700" w="1028700">
                <a:moveTo>
                  <a:pt x="1028700" y="0"/>
                </a:moveTo>
                <a:lnTo>
                  <a:pt x="0" y="0"/>
                </a:lnTo>
                <a:lnTo>
                  <a:pt x="0" y="1028700"/>
                </a:lnTo>
                <a:lnTo>
                  <a:pt x="1028700" y="1028700"/>
                </a:lnTo>
                <a:lnTo>
                  <a:pt x="10287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rot="5400000">
            <a:off x="-3605352" y="5652265"/>
            <a:ext cx="9258579" cy="0"/>
          </a:xfrm>
          <a:prstGeom prst="line">
            <a:avLst/>
          </a:prstGeom>
          <a:ln cap="flat" w="9525">
            <a:solidFill>
              <a:srgbClr val="2D2D2D"/>
            </a:solidFill>
            <a:prstDash val="solid"/>
            <a:headEnd type="none" len="sm" w="sm"/>
            <a:tailEnd type="none" len="sm" w="sm"/>
          </a:ln>
        </p:spPr>
      </p:sp>
      <p:sp>
        <p:nvSpPr>
          <p:cNvPr name="AutoShape 7" id="7"/>
          <p:cNvSpPr/>
          <p:nvPr/>
        </p:nvSpPr>
        <p:spPr>
          <a:xfrm rot="-10800000">
            <a:off x="1028700" y="1008688"/>
            <a:ext cx="17259300" cy="0"/>
          </a:xfrm>
          <a:prstGeom prst="line">
            <a:avLst/>
          </a:prstGeom>
          <a:ln cap="flat" w="9525">
            <a:solidFill>
              <a:srgbClr val="2D2D2D"/>
            </a:solidFill>
            <a:prstDash val="solid"/>
            <a:headEnd type="none" len="sm" w="sm"/>
            <a:tailEnd type="none" len="sm" w="sm"/>
          </a:ln>
        </p:spPr>
      </p:sp>
      <p:sp>
        <p:nvSpPr>
          <p:cNvPr name="Freeform 8" id="8"/>
          <p:cNvSpPr/>
          <p:nvPr/>
        </p:nvSpPr>
        <p:spPr>
          <a:xfrm flipH="false" flipV="false" rot="-10800000">
            <a:off x="14902827" y="2981483"/>
            <a:ext cx="4512899" cy="4488283"/>
          </a:xfrm>
          <a:custGeom>
            <a:avLst/>
            <a:gdLst/>
            <a:ahLst/>
            <a:cxnLst/>
            <a:rect r="r" b="b" t="t" l="l"/>
            <a:pathLst>
              <a:path h="4488283" w="4512899">
                <a:moveTo>
                  <a:pt x="0" y="0"/>
                </a:moveTo>
                <a:lnTo>
                  <a:pt x="4512899" y="0"/>
                </a:lnTo>
                <a:lnTo>
                  <a:pt x="4512899" y="4488283"/>
                </a:lnTo>
                <a:lnTo>
                  <a:pt x="0" y="4488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042420" y="2990936"/>
            <a:ext cx="2709761" cy="3542397"/>
          </a:xfrm>
          <a:custGeom>
            <a:avLst/>
            <a:gdLst/>
            <a:ahLst/>
            <a:cxnLst/>
            <a:rect r="r" b="b" t="t" l="l"/>
            <a:pathLst>
              <a:path h="3542397" w="2709761">
                <a:moveTo>
                  <a:pt x="0" y="0"/>
                </a:moveTo>
                <a:lnTo>
                  <a:pt x="2709762" y="0"/>
                </a:lnTo>
                <a:lnTo>
                  <a:pt x="2709762" y="3542396"/>
                </a:lnTo>
                <a:lnTo>
                  <a:pt x="0" y="3542396"/>
                </a:lnTo>
                <a:lnTo>
                  <a:pt x="0" y="0"/>
                </a:lnTo>
                <a:close/>
              </a:path>
            </a:pathLst>
          </a:custGeom>
          <a:blipFill>
            <a:blip r:embed="rId8"/>
            <a:stretch>
              <a:fillRect l="0" t="0" r="0" b="0"/>
            </a:stretch>
          </a:blipFill>
        </p:spPr>
      </p:sp>
      <p:sp>
        <p:nvSpPr>
          <p:cNvPr name="Freeform 10" id="10"/>
          <p:cNvSpPr/>
          <p:nvPr/>
        </p:nvSpPr>
        <p:spPr>
          <a:xfrm flipH="false" flipV="false" rot="0">
            <a:off x="5150690" y="2981483"/>
            <a:ext cx="2741261" cy="3597287"/>
          </a:xfrm>
          <a:custGeom>
            <a:avLst/>
            <a:gdLst/>
            <a:ahLst/>
            <a:cxnLst/>
            <a:rect r="r" b="b" t="t" l="l"/>
            <a:pathLst>
              <a:path h="3597287" w="2741261">
                <a:moveTo>
                  <a:pt x="0" y="0"/>
                </a:moveTo>
                <a:lnTo>
                  <a:pt x="2741262" y="0"/>
                </a:lnTo>
                <a:lnTo>
                  <a:pt x="2741262" y="3597287"/>
                </a:lnTo>
                <a:lnTo>
                  <a:pt x="0" y="3597287"/>
                </a:lnTo>
                <a:lnTo>
                  <a:pt x="0" y="0"/>
                </a:lnTo>
                <a:close/>
              </a:path>
            </a:pathLst>
          </a:custGeom>
          <a:blipFill>
            <a:blip r:embed="rId9"/>
            <a:stretch>
              <a:fillRect l="0" t="0" r="0" b="0"/>
            </a:stretch>
          </a:blipFill>
        </p:spPr>
      </p:sp>
      <p:sp>
        <p:nvSpPr>
          <p:cNvPr name="TextBox 11" id="11"/>
          <p:cNvSpPr txBox="true"/>
          <p:nvPr/>
        </p:nvSpPr>
        <p:spPr>
          <a:xfrm rot="0">
            <a:off x="1993519" y="1888817"/>
            <a:ext cx="6848808" cy="821055"/>
          </a:xfrm>
          <a:prstGeom prst="rect">
            <a:avLst/>
          </a:prstGeom>
        </p:spPr>
        <p:txBody>
          <a:bodyPr anchor="t" rtlCol="false" tIns="0" lIns="0" bIns="0" rIns="0">
            <a:spAutoFit/>
          </a:bodyPr>
          <a:lstStyle/>
          <a:p>
            <a:pPr algn="l">
              <a:lnSpc>
                <a:spcPts val="6719"/>
              </a:lnSpc>
            </a:pPr>
            <a:r>
              <a:rPr lang="en-US" sz="4800" b="true">
                <a:solidFill>
                  <a:srgbClr val="2D2D2D"/>
                </a:solidFill>
                <a:latin typeface="Fraunces Heavy"/>
                <a:ea typeface="Fraunces Heavy"/>
                <a:cs typeface="Fraunces Heavy"/>
                <a:sym typeface="Fraunces Heavy"/>
              </a:rPr>
              <a:t>Drag Movement</a:t>
            </a:r>
          </a:p>
        </p:txBody>
      </p:sp>
      <p:sp>
        <p:nvSpPr>
          <p:cNvPr name="TextBox 12" id="12"/>
          <p:cNvSpPr txBox="true"/>
          <p:nvPr/>
        </p:nvSpPr>
        <p:spPr>
          <a:xfrm rot="0">
            <a:off x="2505583" y="6610303"/>
            <a:ext cx="1693724"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name="TextBox 13" id="13"/>
          <p:cNvSpPr txBox="true"/>
          <p:nvPr/>
        </p:nvSpPr>
        <p:spPr>
          <a:xfrm rot="0">
            <a:off x="17371077" y="9465628"/>
            <a:ext cx="773608" cy="547370"/>
          </a:xfrm>
          <a:prstGeom prst="rect">
            <a:avLst/>
          </a:prstGeom>
        </p:spPr>
        <p:txBody>
          <a:bodyPr anchor="t" rtlCol="false" tIns="0" lIns="0" bIns="0" rIns="0">
            <a:spAutoFit/>
          </a:bodyPr>
          <a:lstStyle/>
          <a:p>
            <a:pPr algn="ctr">
              <a:lnSpc>
                <a:spcPts val="4480"/>
              </a:lnSpc>
            </a:pPr>
            <a:r>
              <a:rPr lang="en-US" sz="3200">
                <a:solidFill>
                  <a:srgbClr val="E0DDAA"/>
                </a:solidFill>
                <a:latin typeface="DM Sans"/>
                <a:ea typeface="DM Sans"/>
                <a:cs typeface="DM Sans"/>
                <a:sym typeface="DM Sans"/>
              </a:rPr>
              <a:t>2</a:t>
            </a:r>
          </a:p>
        </p:txBody>
      </p:sp>
      <p:sp>
        <p:nvSpPr>
          <p:cNvPr name="TextBox 14" id="14"/>
          <p:cNvSpPr txBox="true"/>
          <p:nvPr/>
        </p:nvSpPr>
        <p:spPr>
          <a:xfrm rot="0">
            <a:off x="5150690" y="6610303"/>
            <a:ext cx="3001528"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ketika digeser</a:t>
            </a:r>
          </a:p>
        </p:txBody>
      </p:sp>
      <p:sp>
        <p:nvSpPr>
          <p:cNvPr name="TextBox 15" id="15"/>
          <p:cNvSpPr txBox="true"/>
          <p:nvPr/>
        </p:nvSpPr>
        <p:spPr>
          <a:xfrm rot="0">
            <a:off x="8152218" y="2652722"/>
            <a:ext cx="5642600" cy="4532445"/>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Kode tersebut merupakan implementasi fitur drag (geser) pada sebuah objek di Flutter menggunakan StatefulWidget agar posisi objek dapat berubah secara dinamis. Variabel x dan y digunakan untuk menyimpan posisi horizontal dan vertikal dari objek. Tampilan dibangun menggunakan Scaffold sebagai kerangka utama, dengan AppBar sebagai judul dan Stack untuk memungkinkan penempatan widget secara bebas. Objek ditampilkan menggunakan Positioned yang posisinya bergantung pada nilai x dan y. </a:t>
            </a:r>
          </a:p>
        </p:txBody>
      </p:sp>
      <p:sp>
        <p:nvSpPr>
          <p:cNvPr name="TextBox 16" id="16"/>
          <p:cNvSpPr txBox="true"/>
          <p:nvPr/>
        </p:nvSpPr>
        <p:spPr>
          <a:xfrm rot="0">
            <a:off x="2042420" y="7542431"/>
            <a:ext cx="11752398" cy="1497412"/>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Untuk mendeteksi gerakan pengguna, digunakan GestureDetector dengan event onPanUpdate, yang akan memperbarui nilai posisi berdasarkan pergerakan jari (delta.dx dan delta.dy). Perubahan ini dibungkus dalam setState() agar UI otomatis diperbarui. Objek visualnya menggunakan AnimatedContainer sehingga pergerakan terlihat lebih halus dengan animasi singkat.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17227762" y="9258300"/>
            <a:ext cx="1060238" cy="1028700"/>
            <a:chOff x="0" y="0"/>
            <a:chExt cx="523379" cy="507811"/>
          </a:xfrm>
        </p:grpSpPr>
        <p:sp>
          <p:nvSpPr>
            <p:cNvPr name="Freeform 3" id="3"/>
            <p:cNvSpPr/>
            <p:nvPr/>
          </p:nvSpPr>
          <p:spPr>
            <a:xfrm flipH="false" flipV="false" rot="0">
              <a:off x="0" y="0"/>
              <a:ext cx="523379" cy="507811"/>
            </a:xfrm>
            <a:custGeom>
              <a:avLst/>
              <a:gdLst/>
              <a:ahLst/>
              <a:cxnLst/>
              <a:rect r="r" b="b" t="t" l="l"/>
              <a:pathLst>
                <a:path h="507811" w="523379">
                  <a:moveTo>
                    <a:pt x="0" y="0"/>
                  </a:moveTo>
                  <a:lnTo>
                    <a:pt x="523379" y="0"/>
                  </a:lnTo>
                  <a:lnTo>
                    <a:pt x="523379" y="507811"/>
                  </a:lnTo>
                  <a:lnTo>
                    <a:pt x="0" y="507811"/>
                  </a:lnTo>
                  <a:close/>
                </a:path>
              </a:pathLst>
            </a:custGeom>
            <a:solidFill>
              <a:srgbClr val="2D2D2D"/>
            </a:solidFill>
          </p:spPr>
        </p:sp>
      </p:grpSp>
      <p:sp>
        <p:nvSpPr>
          <p:cNvPr name="Freeform 4" id="4"/>
          <p:cNvSpPr/>
          <p:nvPr/>
        </p:nvSpPr>
        <p:spPr>
          <a:xfrm flipH="false" flipV="true" rot="0">
            <a:off x="13841962" y="8070301"/>
            <a:ext cx="2216016" cy="2216016"/>
          </a:xfrm>
          <a:custGeom>
            <a:avLst/>
            <a:gdLst/>
            <a:ahLst/>
            <a:cxnLst/>
            <a:rect r="r" b="b" t="t" l="l"/>
            <a:pathLst>
              <a:path h="2216016" w="2216016">
                <a:moveTo>
                  <a:pt x="0" y="2216016"/>
                </a:moveTo>
                <a:lnTo>
                  <a:pt x="2216017" y="2216016"/>
                </a:lnTo>
                <a:lnTo>
                  <a:pt x="2216017" y="0"/>
                </a:lnTo>
                <a:lnTo>
                  <a:pt x="0" y="0"/>
                </a:lnTo>
                <a:lnTo>
                  <a:pt x="0" y="22160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0" y="0"/>
            <a:ext cx="1028700" cy="1028700"/>
          </a:xfrm>
          <a:custGeom>
            <a:avLst/>
            <a:gdLst/>
            <a:ahLst/>
            <a:cxnLst/>
            <a:rect r="r" b="b" t="t" l="l"/>
            <a:pathLst>
              <a:path h="1028700" w="1028700">
                <a:moveTo>
                  <a:pt x="1028700" y="0"/>
                </a:moveTo>
                <a:lnTo>
                  <a:pt x="0" y="0"/>
                </a:lnTo>
                <a:lnTo>
                  <a:pt x="0" y="1028700"/>
                </a:lnTo>
                <a:lnTo>
                  <a:pt x="1028700" y="1028700"/>
                </a:lnTo>
                <a:lnTo>
                  <a:pt x="10287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rot="5400000">
            <a:off x="-3605352" y="5652265"/>
            <a:ext cx="9258579" cy="0"/>
          </a:xfrm>
          <a:prstGeom prst="line">
            <a:avLst/>
          </a:prstGeom>
          <a:ln cap="flat" w="9525">
            <a:solidFill>
              <a:srgbClr val="2D2D2D"/>
            </a:solidFill>
            <a:prstDash val="solid"/>
            <a:headEnd type="none" len="sm" w="sm"/>
            <a:tailEnd type="none" len="sm" w="sm"/>
          </a:ln>
        </p:spPr>
      </p:sp>
      <p:sp>
        <p:nvSpPr>
          <p:cNvPr name="AutoShape 7" id="7"/>
          <p:cNvSpPr/>
          <p:nvPr/>
        </p:nvSpPr>
        <p:spPr>
          <a:xfrm rot="-10800000">
            <a:off x="1028700" y="1008688"/>
            <a:ext cx="17259300" cy="0"/>
          </a:xfrm>
          <a:prstGeom prst="line">
            <a:avLst/>
          </a:prstGeom>
          <a:ln cap="flat" w="9525">
            <a:solidFill>
              <a:srgbClr val="2D2D2D"/>
            </a:solidFill>
            <a:prstDash val="solid"/>
            <a:headEnd type="none" len="sm" w="sm"/>
            <a:tailEnd type="none" len="sm" w="sm"/>
          </a:ln>
        </p:spPr>
      </p:sp>
      <p:sp>
        <p:nvSpPr>
          <p:cNvPr name="Freeform 8" id="8"/>
          <p:cNvSpPr/>
          <p:nvPr/>
        </p:nvSpPr>
        <p:spPr>
          <a:xfrm flipH="false" flipV="false" rot="-10800000">
            <a:off x="14902827" y="2981483"/>
            <a:ext cx="4512899" cy="4488283"/>
          </a:xfrm>
          <a:custGeom>
            <a:avLst/>
            <a:gdLst/>
            <a:ahLst/>
            <a:cxnLst/>
            <a:rect r="r" b="b" t="t" l="l"/>
            <a:pathLst>
              <a:path h="4488283" w="4512899">
                <a:moveTo>
                  <a:pt x="0" y="0"/>
                </a:moveTo>
                <a:lnTo>
                  <a:pt x="4512899" y="0"/>
                </a:lnTo>
                <a:lnTo>
                  <a:pt x="4512899" y="4488283"/>
                </a:lnTo>
                <a:lnTo>
                  <a:pt x="0" y="4488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042420" y="2990936"/>
            <a:ext cx="2709761" cy="3542397"/>
          </a:xfrm>
          <a:custGeom>
            <a:avLst/>
            <a:gdLst/>
            <a:ahLst/>
            <a:cxnLst/>
            <a:rect r="r" b="b" t="t" l="l"/>
            <a:pathLst>
              <a:path h="3542397" w="2709761">
                <a:moveTo>
                  <a:pt x="0" y="0"/>
                </a:moveTo>
                <a:lnTo>
                  <a:pt x="2709762" y="0"/>
                </a:lnTo>
                <a:lnTo>
                  <a:pt x="2709762" y="3542396"/>
                </a:lnTo>
                <a:lnTo>
                  <a:pt x="0" y="3542396"/>
                </a:lnTo>
                <a:lnTo>
                  <a:pt x="0" y="0"/>
                </a:lnTo>
                <a:close/>
              </a:path>
            </a:pathLst>
          </a:custGeom>
          <a:blipFill>
            <a:blip r:embed="rId8"/>
            <a:stretch>
              <a:fillRect l="0" t="0" r="0" b="0"/>
            </a:stretch>
          </a:blipFill>
        </p:spPr>
      </p:sp>
      <p:sp>
        <p:nvSpPr>
          <p:cNvPr name="Freeform 10" id="10"/>
          <p:cNvSpPr/>
          <p:nvPr/>
        </p:nvSpPr>
        <p:spPr>
          <a:xfrm flipH="false" flipV="false" rot="0">
            <a:off x="2042420" y="3004202"/>
            <a:ext cx="2727313" cy="3551850"/>
          </a:xfrm>
          <a:custGeom>
            <a:avLst/>
            <a:gdLst/>
            <a:ahLst/>
            <a:cxnLst/>
            <a:rect r="r" b="b" t="t" l="l"/>
            <a:pathLst>
              <a:path h="3551850" w="2727313">
                <a:moveTo>
                  <a:pt x="0" y="0"/>
                </a:moveTo>
                <a:lnTo>
                  <a:pt x="2727313" y="0"/>
                </a:lnTo>
                <a:lnTo>
                  <a:pt x="2727313" y="3551849"/>
                </a:lnTo>
                <a:lnTo>
                  <a:pt x="0" y="3551849"/>
                </a:lnTo>
                <a:lnTo>
                  <a:pt x="0" y="0"/>
                </a:lnTo>
                <a:close/>
              </a:path>
            </a:pathLst>
          </a:custGeom>
          <a:blipFill>
            <a:blip r:embed="rId9"/>
            <a:stretch>
              <a:fillRect l="0" t="0" r="0" b="0"/>
            </a:stretch>
          </a:blipFill>
        </p:spPr>
      </p:sp>
      <p:sp>
        <p:nvSpPr>
          <p:cNvPr name="TextBox 11" id="11"/>
          <p:cNvSpPr txBox="true"/>
          <p:nvPr/>
        </p:nvSpPr>
        <p:spPr>
          <a:xfrm rot="0">
            <a:off x="1993519" y="1888817"/>
            <a:ext cx="6848808" cy="821055"/>
          </a:xfrm>
          <a:prstGeom prst="rect">
            <a:avLst/>
          </a:prstGeom>
        </p:spPr>
        <p:txBody>
          <a:bodyPr anchor="t" rtlCol="false" tIns="0" lIns="0" bIns="0" rIns="0">
            <a:spAutoFit/>
          </a:bodyPr>
          <a:lstStyle/>
          <a:p>
            <a:pPr algn="l">
              <a:lnSpc>
                <a:spcPts val="6719"/>
              </a:lnSpc>
            </a:pPr>
            <a:r>
              <a:rPr lang="en-US" sz="4800" b="true">
                <a:solidFill>
                  <a:srgbClr val="2D2D2D"/>
                </a:solidFill>
                <a:latin typeface="Fraunces Heavy"/>
                <a:ea typeface="Fraunces Heavy"/>
                <a:cs typeface="Fraunces Heavy"/>
                <a:sym typeface="Fraunces Heavy"/>
              </a:rPr>
              <a:t>Scale &amp; Zoom</a:t>
            </a:r>
          </a:p>
        </p:txBody>
      </p:sp>
      <p:sp>
        <p:nvSpPr>
          <p:cNvPr name="TextBox 12" id="12"/>
          <p:cNvSpPr txBox="true"/>
          <p:nvPr/>
        </p:nvSpPr>
        <p:spPr>
          <a:xfrm rot="0">
            <a:off x="2505583" y="6610303"/>
            <a:ext cx="1693724"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name="TextBox 13" id="13"/>
          <p:cNvSpPr txBox="true"/>
          <p:nvPr/>
        </p:nvSpPr>
        <p:spPr>
          <a:xfrm rot="0">
            <a:off x="17371077" y="9465628"/>
            <a:ext cx="773608" cy="547370"/>
          </a:xfrm>
          <a:prstGeom prst="rect">
            <a:avLst/>
          </a:prstGeom>
        </p:spPr>
        <p:txBody>
          <a:bodyPr anchor="t" rtlCol="false" tIns="0" lIns="0" bIns="0" rIns="0">
            <a:spAutoFit/>
          </a:bodyPr>
          <a:lstStyle/>
          <a:p>
            <a:pPr algn="ctr">
              <a:lnSpc>
                <a:spcPts val="4480"/>
              </a:lnSpc>
            </a:pPr>
            <a:r>
              <a:rPr lang="en-US" sz="3200">
                <a:solidFill>
                  <a:srgbClr val="E0DDAA"/>
                </a:solidFill>
                <a:latin typeface="DM Sans"/>
                <a:ea typeface="DM Sans"/>
                <a:cs typeface="DM Sans"/>
                <a:sym typeface="DM Sans"/>
              </a:rPr>
              <a:t>2</a:t>
            </a:r>
          </a:p>
        </p:txBody>
      </p:sp>
      <p:sp>
        <p:nvSpPr>
          <p:cNvPr name="TextBox 14" id="14"/>
          <p:cNvSpPr txBox="true"/>
          <p:nvPr/>
        </p:nvSpPr>
        <p:spPr>
          <a:xfrm rot="0">
            <a:off x="4993044" y="2947052"/>
            <a:ext cx="5226555" cy="738653"/>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Yang dimana aslinya dapat di zoom yang hanya bisa dilakukan di Handphone </a:t>
            </a:r>
          </a:p>
        </p:txBody>
      </p:sp>
      <p:sp>
        <p:nvSpPr>
          <p:cNvPr name="TextBox 15" id="15"/>
          <p:cNvSpPr txBox="true"/>
          <p:nvPr/>
        </p:nvSpPr>
        <p:spPr>
          <a:xfrm rot="0">
            <a:off x="2042420" y="7137101"/>
            <a:ext cx="12813262" cy="2635549"/>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Kode ini membuat fitur zoom dan drag interaktif pada sebuah objek di Flutter. Nilai scale digunakan untuk mengatur ukuran (zoom), sedangkan position untuk menggeser posisi objek. Pengguna bisa melakukan pinch (dua jari) untuk zoom dan drag sekaligus melalui GestureDetector (onScaleStart dan onScaleUpdate). Selain itu, widget Listener memungkinkan zoom menggunakan scroll mouse/laptop dengan PointerScrollEvent. Tampilan diperhalus menggunakan AnimatedContainer, Transform.scale, dan Transform.translate. Objek ditampilkan dengan desain menarik (gradient dan bayangan), serta tersedia tombol reset untuk mengembalikan ukuran dan posisi ke kondisi awal.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17227762" y="9258300"/>
            <a:ext cx="1060238" cy="1028700"/>
            <a:chOff x="0" y="0"/>
            <a:chExt cx="523379" cy="507811"/>
          </a:xfrm>
        </p:grpSpPr>
        <p:sp>
          <p:nvSpPr>
            <p:cNvPr name="Freeform 3" id="3"/>
            <p:cNvSpPr/>
            <p:nvPr/>
          </p:nvSpPr>
          <p:spPr>
            <a:xfrm flipH="false" flipV="false" rot="0">
              <a:off x="0" y="0"/>
              <a:ext cx="523379" cy="507811"/>
            </a:xfrm>
            <a:custGeom>
              <a:avLst/>
              <a:gdLst/>
              <a:ahLst/>
              <a:cxnLst/>
              <a:rect r="r" b="b" t="t" l="l"/>
              <a:pathLst>
                <a:path h="507811" w="523379">
                  <a:moveTo>
                    <a:pt x="0" y="0"/>
                  </a:moveTo>
                  <a:lnTo>
                    <a:pt x="523379" y="0"/>
                  </a:lnTo>
                  <a:lnTo>
                    <a:pt x="523379" y="507811"/>
                  </a:lnTo>
                  <a:lnTo>
                    <a:pt x="0" y="507811"/>
                  </a:lnTo>
                  <a:close/>
                </a:path>
              </a:pathLst>
            </a:custGeom>
            <a:solidFill>
              <a:srgbClr val="2D2D2D"/>
            </a:solidFill>
          </p:spPr>
        </p:sp>
      </p:grpSp>
      <p:sp>
        <p:nvSpPr>
          <p:cNvPr name="Freeform 4" id="4"/>
          <p:cNvSpPr/>
          <p:nvPr/>
        </p:nvSpPr>
        <p:spPr>
          <a:xfrm flipH="false" flipV="true" rot="0">
            <a:off x="12686811" y="8118609"/>
            <a:ext cx="2216016" cy="2216016"/>
          </a:xfrm>
          <a:custGeom>
            <a:avLst/>
            <a:gdLst/>
            <a:ahLst/>
            <a:cxnLst/>
            <a:rect r="r" b="b" t="t" l="l"/>
            <a:pathLst>
              <a:path h="2216016" w="2216016">
                <a:moveTo>
                  <a:pt x="0" y="2216016"/>
                </a:moveTo>
                <a:lnTo>
                  <a:pt x="2216016" y="2216016"/>
                </a:lnTo>
                <a:lnTo>
                  <a:pt x="2216016" y="0"/>
                </a:lnTo>
                <a:lnTo>
                  <a:pt x="0" y="0"/>
                </a:lnTo>
                <a:lnTo>
                  <a:pt x="0" y="22160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0" y="0"/>
            <a:ext cx="1028700" cy="1028700"/>
          </a:xfrm>
          <a:custGeom>
            <a:avLst/>
            <a:gdLst/>
            <a:ahLst/>
            <a:cxnLst/>
            <a:rect r="r" b="b" t="t" l="l"/>
            <a:pathLst>
              <a:path h="1028700" w="1028700">
                <a:moveTo>
                  <a:pt x="1028700" y="0"/>
                </a:moveTo>
                <a:lnTo>
                  <a:pt x="0" y="0"/>
                </a:lnTo>
                <a:lnTo>
                  <a:pt x="0" y="1028700"/>
                </a:lnTo>
                <a:lnTo>
                  <a:pt x="1028700" y="1028700"/>
                </a:lnTo>
                <a:lnTo>
                  <a:pt x="10287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rot="5400000">
            <a:off x="-3605352" y="5652265"/>
            <a:ext cx="9258579" cy="0"/>
          </a:xfrm>
          <a:prstGeom prst="line">
            <a:avLst/>
          </a:prstGeom>
          <a:ln cap="flat" w="9525">
            <a:solidFill>
              <a:srgbClr val="2D2D2D"/>
            </a:solidFill>
            <a:prstDash val="solid"/>
            <a:headEnd type="none" len="sm" w="sm"/>
            <a:tailEnd type="none" len="sm" w="sm"/>
          </a:ln>
        </p:spPr>
      </p:sp>
      <p:sp>
        <p:nvSpPr>
          <p:cNvPr name="AutoShape 7" id="7"/>
          <p:cNvSpPr/>
          <p:nvPr/>
        </p:nvSpPr>
        <p:spPr>
          <a:xfrm rot="-10800000">
            <a:off x="1028700" y="1008688"/>
            <a:ext cx="17259300" cy="0"/>
          </a:xfrm>
          <a:prstGeom prst="line">
            <a:avLst/>
          </a:prstGeom>
          <a:ln cap="flat" w="9525">
            <a:solidFill>
              <a:srgbClr val="2D2D2D"/>
            </a:solidFill>
            <a:prstDash val="solid"/>
            <a:headEnd type="none" len="sm" w="sm"/>
            <a:tailEnd type="none" len="sm" w="sm"/>
          </a:ln>
        </p:spPr>
      </p:sp>
      <p:sp>
        <p:nvSpPr>
          <p:cNvPr name="Freeform 8" id="8"/>
          <p:cNvSpPr/>
          <p:nvPr/>
        </p:nvSpPr>
        <p:spPr>
          <a:xfrm flipH="false" flipV="false" rot="-10800000">
            <a:off x="14902827" y="2981483"/>
            <a:ext cx="4512899" cy="4488283"/>
          </a:xfrm>
          <a:custGeom>
            <a:avLst/>
            <a:gdLst/>
            <a:ahLst/>
            <a:cxnLst/>
            <a:rect r="r" b="b" t="t" l="l"/>
            <a:pathLst>
              <a:path h="4488283" w="4512899">
                <a:moveTo>
                  <a:pt x="0" y="0"/>
                </a:moveTo>
                <a:lnTo>
                  <a:pt x="4512899" y="0"/>
                </a:lnTo>
                <a:lnTo>
                  <a:pt x="4512899" y="4488283"/>
                </a:lnTo>
                <a:lnTo>
                  <a:pt x="0" y="4488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993519" y="2981483"/>
            <a:ext cx="2717852" cy="3551850"/>
          </a:xfrm>
          <a:custGeom>
            <a:avLst/>
            <a:gdLst/>
            <a:ahLst/>
            <a:cxnLst/>
            <a:rect r="r" b="b" t="t" l="l"/>
            <a:pathLst>
              <a:path h="3551850" w="2717852">
                <a:moveTo>
                  <a:pt x="0" y="0"/>
                </a:moveTo>
                <a:lnTo>
                  <a:pt x="2717852" y="0"/>
                </a:lnTo>
                <a:lnTo>
                  <a:pt x="2717852" y="3551849"/>
                </a:lnTo>
                <a:lnTo>
                  <a:pt x="0" y="3551849"/>
                </a:lnTo>
                <a:lnTo>
                  <a:pt x="0" y="0"/>
                </a:lnTo>
                <a:close/>
              </a:path>
            </a:pathLst>
          </a:custGeom>
          <a:blipFill>
            <a:blip r:embed="rId8"/>
            <a:stretch>
              <a:fillRect l="0" t="0" r="0" b="0"/>
            </a:stretch>
          </a:blipFill>
        </p:spPr>
      </p:sp>
      <p:sp>
        <p:nvSpPr>
          <p:cNvPr name="Freeform 10" id="10"/>
          <p:cNvSpPr/>
          <p:nvPr/>
        </p:nvSpPr>
        <p:spPr>
          <a:xfrm flipH="false" flipV="false" rot="0">
            <a:off x="5133182" y="2981483"/>
            <a:ext cx="2741261" cy="3551850"/>
          </a:xfrm>
          <a:custGeom>
            <a:avLst/>
            <a:gdLst/>
            <a:ahLst/>
            <a:cxnLst/>
            <a:rect r="r" b="b" t="t" l="l"/>
            <a:pathLst>
              <a:path h="3551850" w="2741261">
                <a:moveTo>
                  <a:pt x="0" y="0"/>
                </a:moveTo>
                <a:lnTo>
                  <a:pt x="2741261" y="0"/>
                </a:lnTo>
                <a:lnTo>
                  <a:pt x="2741261" y="3551849"/>
                </a:lnTo>
                <a:lnTo>
                  <a:pt x="0" y="3551849"/>
                </a:lnTo>
                <a:lnTo>
                  <a:pt x="0" y="0"/>
                </a:lnTo>
                <a:close/>
              </a:path>
            </a:pathLst>
          </a:custGeom>
          <a:blipFill>
            <a:blip r:embed="rId9"/>
            <a:stretch>
              <a:fillRect l="0" t="0" r="0" b="0"/>
            </a:stretch>
          </a:blipFill>
        </p:spPr>
      </p:sp>
      <p:sp>
        <p:nvSpPr>
          <p:cNvPr name="Freeform 11" id="11"/>
          <p:cNvSpPr/>
          <p:nvPr/>
        </p:nvSpPr>
        <p:spPr>
          <a:xfrm flipH="false" flipV="false" rot="0">
            <a:off x="8256716" y="2981483"/>
            <a:ext cx="2744611" cy="3551850"/>
          </a:xfrm>
          <a:custGeom>
            <a:avLst/>
            <a:gdLst/>
            <a:ahLst/>
            <a:cxnLst/>
            <a:rect r="r" b="b" t="t" l="l"/>
            <a:pathLst>
              <a:path h="3551850" w="2744611">
                <a:moveTo>
                  <a:pt x="0" y="0"/>
                </a:moveTo>
                <a:lnTo>
                  <a:pt x="2744611" y="0"/>
                </a:lnTo>
                <a:lnTo>
                  <a:pt x="2744611" y="3551849"/>
                </a:lnTo>
                <a:lnTo>
                  <a:pt x="0" y="3551849"/>
                </a:lnTo>
                <a:lnTo>
                  <a:pt x="0" y="0"/>
                </a:lnTo>
                <a:close/>
              </a:path>
            </a:pathLst>
          </a:custGeom>
          <a:blipFill>
            <a:blip r:embed="rId10"/>
            <a:stretch>
              <a:fillRect l="0" t="0" r="0" b="0"/>
            </a:stretch>
          </a:blipFill>
        </p:spPr>
      </p:sp>
      <p:sp>
        <p:nvSpPr>
          <p:cNvPr name="Freeform 12" id="12"/>
          <p:cNvSpPr/>
          <p:nvPr/>
        </p:nvSpPr>
        <p:spPr>
          <a:xfrm flipH="false" flipV="false" rot="0">
            <a:off x="1993519" y="2981483"/>
            <a:ext cx="2758663" cy="3575861"/>
          </a:xfrm>
          <a:custGeom>
            <a:avLst/>
            <a:gdLst/>
            <a:ahLst/>
            <a:cxnLst/>
            <a:rect r="r" b="b" t="t" l="l"/>
            <a:pathLst>
              <a:path h="3575861" w="2758663">
                <a:moveTo>
                  <a:pt x="0" y="0"/>
                </a:moveTo>
                <a:lnTo>
                  <a:pt x="2758663" y="0"/>
                </a:lnTo>
                <a:lnTo>
                  <a:pt x="2758663" y="3575861"/>
                </a:lnTo>
                <a:lnTo>
                  <a:pt x="0" y="3575861"/>
                </a:lnTo>
                <a:lnTo>
                  <a:pt x="0" y="0"/>
                </a:lnTo>
                <a:close/>
              </a:path>
            </a:pathLst>
          </a:custGeom>
          <a:blipFill>
            <a:blip r:embed="rId11"/>
            <a:stretch>
              <a:fillRect l="0" t="0" r="0" b="0"/>
            </a:stretch>
          </a:blipFill>
        </p:spPr>
      </p:sp>
      <p:sp>
        <p:nvSpPr>
          <p:cNvPr name="Freeform 13" id="13"/>
          <p:cNvSpPr/>
          <p:nvPr/>
        </p:nvSpPr>
        <p:spPr>
          <a:xfrm flipH="false" flipV="false" rot="0">
            <a:off x="5150690" y="2981483"/>
            <a:ext cx="2786122" cy="3619448"/>
          </a:xfrm>
          <a:custGeom>
            <a:avLst/>
            <a:gdLst/>
            <a:ahLst/>
            <a:cxnLst/>
            <a:rect r="r" b="b" t="t" l="l"/>
            <a:pathLst>
              <a:path h="3619448" w="2786122">
                <a:moveTo>
                  <a:pt x="0" y="0"/>
                </a:moveTo>
                <a:lnTo>
                  <a:pt x="2786122" y="0"/>
                </a:lnTo>
                <a:lnTo>
                  <a:pt x="2786122" y="3619448"/>
                </a:lnTo>
                <a:lnTo>
                  <a:pt x="0" y="3619448"/>
                </a:lnTo>
                <a:lnTo>
                  <a:pt x="0" y="0"/>
                </a:lnTo>
                <a:close/>
              </a:path>
            </a:pathLst>
          </a:custGeom>
          <a:blipFill>
            <a:blip r:embed="rId12"/>
            <a:stretch>
              <a:fillRect l="0" t="0" r="0" b="0"/>
            </a:stretch>
          </a:blipFill>
        </p:spPr>
      </p:sp>
      <p:sp>
        <p:nvSpPr>
          <p:cNvPr name="Freeform 14" id="14"/>
          <p:cNvSpPr/>
          <p:nvPr/>
        </p:nvSpPr>
        <p:spPr>
          <a:xfrm flipH="false" flipV="false" rot="0">
            <a:off x="8256716" y="2981483"/>
            <a:ext cx="2772237" cy="3619448"/>
          </a:xfrm>
          <a:custGeom>
            <a:avLst/>
            <a:gdLst/>
            <a:ahLst/>
            <a:cxnLst/>
            <a:rect r="r" b="b" t="t" l="l"/>
            <a:pathLst>
              <a:path h="3619448" w="2772237">
                <a:moveTo>
                  <a:pt x="0" y="0"/>
                </a:moveTo>
                <a:lnTo>
                  <a:pt x="2772236" y="0"/>
                </a:lnTo>
                <a:lnTo>
                  <a:pt x="2772236" y="3619448"/>
                </a:lnTo>
                <a:lnTo>
                  <a:pt x="0" y="3619448"/>
                </a:lnTo>
                <a:lnTo>
                  <a:pt x="0" y="0"/>
                </a:lnTo>
                <a:close/>
              </a:path>
            </a:pathLst>
          </a:custGeom>
          <a:blipFill>
            <a:blip r:embed="rId13"/>
            <a:stretch>
              <a:fillRect l="0" t="0" r="0" b="0"/>
            </a:stretch>
          </a:blipFill>
        </p:spPr>
      </p:sp>
      <p:sp>
        <p:nvSpPr>
          <p:cNvPr name="Freeform 15" id="15"/>
          <p:cNvSpPr/>
          <p:nvPr/>
        </p:nvSpPr>
        <p:spPr>
          <a:xfrm flipH="false" flipV="false" rot="0">
            <a:off x="11352802" y="2981483"/>
            <a:ext cx="2840262" cy="3619448"/>
          </a:xfrm>
          <a:custGeom>
            <a:avLst/>
            <a:gdLst/>
            <a:ahLst/>
            <a:cxnLst/>
            <a:rect r="r" b="b" t="t" l="l"/>
            <a:pathLst>
              <a:path h="3619448" w="2840262">
                <a:moveTo>
                  <a:pt x="0" y="0"/>
                </a:moveTo>
                <a:lnTo>
                  <a:pt x="2840262" y="0"/>
                </a:lnTo>
                <a:lnTo>
                  <a:pt x="2840262" y="3619448"/>
                </a:lnTo>
                <a:lnTo>
                  <a:pt x="0" y="3619448"/>
                </a:lnTo>
                <a:lnTo>
                  <a:pt x="0" y="0"/>
                </a:lnTo>
                <a:close/>
              </a:path>
            </a:pathLst>
          </a:custGeom>
          <a:blipFill>
            <a:blip r:embed="rId14"/>
            <a:stretch>
              <a:fillRect l="0" t="0" r="0" b="0"/>
            </a:stretch>
          </a:blipFill>
        </p:spPr>
      </p:sp>
      <p:sp>
        <p:nvSpPr>
          <p:cNvPr name="TextBox 16" id="16"/>
          <p:cNvSpPr txBox="true"/>
          <p:nvPr/>
        </p:nvSpPr>
        <p:spPr>
          <a:xfrm rot="0">
            <a:off x="1993519" y="1888817"/>
            <a:ext cx="6848808" cy="821055"/>
          </a:xfrm>
          <a:prstGeom prst="rect">
            <a:avLst/>
          </a:prstGeom>
        </p:spPr>
        <p:txBody>
          <a:bodyPr anchor="t" rtlCol="false" tIns="0" lIns="0" bIns="0" rIns="0">
            <a:spAutoFit/>
          </a:bodyPr>
          <a:lstStyle/>
          <a:p>
            <a:pPr algn="l">
              <a:lnSpc>
                <a:spcPts val="6719"/>
              </a:lnSpc>
            </a:pPr>
            <a:r>
              <a:rPr lang="en-US" sz="4800" b="true">
                <a:solidFill>
                  <a:srgbClr val="2D2D2D"/>
                </a:solidFill>
                <a:latin typeface="Fraunces Heavy"/>
                <a:ea typeface="Fraunces Heavy"/>
                <a:cs typeface="Fraunces Heavy"/>
                <a:sym typeface="Fraunces Heavy"/>
              </a:rPr>
              <a:t>Gesture Playground</a:t>
            </a:r>
          </a:p>
        </p:txBody>
      </p:sp>
      <p:sp>
        <p:nvSpPr>
          <p:cNvPr name="TextBox 17" id="17"/>
          <p:cNvSpPr txBox="true"/>
          <p:nvPr/>
        </p:nvSpPr>
        <p:spPr>
          <a:xfrm rot="0">
            <a:off x="2505583" y="6610303"/>
            <a:ext cx="1693724"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awal</a:t>
            </a:r>
          </a:p>
        </p:txBody>
      </p:sp>
      <p:sp>
        <p:nvSpPr>
          <p:cNvPr name="TextBox 18" id="18"/>
          <p:cNvSpPr txBox="true"/>
          <p:nvPr/>
        </p:nvSpPr>
        <p:spPr>
          <a:xfrm rot="0">
            <a:off x="17371077" y="9465628"/>
            <a:ext cx="773608" cy="547370"/>
          </a:xfrm>
          <a:prstGeom prst="rect">
            <a:avLst/>
          </a:prstGeom>
        </p:spPr>
        <p:txBody>
          <a:bodyPr anchor="t" rtlCol="false" tIns="0" lIns="0" bIns="0" rIns="0">
            <a:spAutoFit/>
          </a:bodyPr>
          <a:lstStyle/>
          <a:p>
            <a:pPr algn="ctr">
              <a:lnSpc>
                <a:spcPts val="4480"/>
              </a:lnSpc>
            </a:pPr>
            <a:r>
              <a:rPr lang="en-US" sz="3200">
                <a:solidFill>
                  <a:srgbClr val="E0DDAA"/>
                </a:solidFill>
                <a:latin typeface="DM Sans"/>
                <a:ea typeface="DM Sans"/>
                <a:cs typeface="DM Sans"/>
                <a:sym typeface="DM Sans"/>
              </a:rPr>
              <a:t>2</a:t>
            </a:r>
          </a:p>
        </p:txBody>
      </p:sp>
      <p:sp>
        <p:nvSpPr>
          <p:cNvPr name="TextBox 19" id="19"/>
          <p:cNvSpPr txBox="true"/>
          <p:nvPr/>
        </p:nvSpPr>
        <p:spPr>
          <a:xfrm rot="0">
            <a:off x="5003048" y="6610303"/>
            <a:ext cx="3001528"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ketika di geser</a:t>
            </a:r>
          </a:p>
        </p:txBody>
      </p:sp>
      <p:sp>
        <p:nvSpPr>
          <p:cNvPr name="TextBox 20" id="20"/>
          <p:cNvSpPr txBox="true"/>
          <p:nvPr/>
        </p:nvSpPr>
        <p:spPr>
          <a:xfrm rot="0">
            <a:off x="8342524" y="6610303"/>
            <a:ext cx="2953606"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ketika di klik</a:t>
            </a:r>
          </a:p>
        </p:txBody>
      </p:sp>
      <p:sp>
        <p:nvSpPr>
          <p:cNvPr name="TextBox 21" id="21"/>
          <p:cNvSpPr txBox="true"/>
          <p:nvPr/>
        </p:nvSpPr>
        <p:spPr>
          <a:xfrm rot="0">
            <a:off x="1993519" y="7276133"/>
            <a:ext cx="11801300" cy="2256170"/>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Kode ini menampilkan sebuah objek interaktif di Flutter yang bisa dipindah (drag), diperbesar (zoom), dan diubah warna menggunakan berbagai gesture. Posisi diatur dengan x dan y, ukuran dengan scale, serta warna dengan color. GestureDetector digunakan untuk menangani tap, double tap, long press, dan pinch/drag, sementara Stack dan Positioned memungkinkan objek bergerak bebas di layar. Perubahan ditampilkan secara halus menggunakan AnimatedContainer dan Transform.scale. Terdapat juga tombol reset untuk mengembalikan semua ke kondisi awal.</a:t>
            </a:r>
          </a:p>
        </p:txBody>
      </p:sp>
      <p:sp>
        <p:nvSpPr>
          <p:cNvPr name="TextBox 22" id="22"/>
          <p:cNvSpPr txBox="true"/>
          <p:nvPr/>
        </p:nvSpPr>
        <p:spPr>
          <a:xfrm rot="0">
            <a:off x="11296130" y="6610303"/>
            <a:ext cx="2953606" cy="359274"/>
          </a:xfrm>
          <a:prstGeom prst="rect">
            <a:avLst/>
          </a:prstGeom>
        </p:spPr>
        <p:txBody>
          <a:bodyPr anchor="t" rtlCol="false" tIns="0" lIns="0" bIns="0" rIns="0">
            <a:spAutoFit/>
          </a:bodyPr>
          <a:lstStyle/>
          <a:p>
            <a:pPr algn="just">
              <a:lnSpc>
                <a:spcPts val="3041"/>
              </a:lnSpc>
            </a:pPr>
            <a:r>
              <a:rPr lang="en-US" sz="2027">
                <a:solidFill>
                  <a:srgbClr val="2D2D2D"/>
                </a:solidFill>
                <a:latin typeface="DM Sans"/>
                <a:ea typeface="DM Sans"/>
                <a:cs typeface="DM Sans"/>
                <a:sym typeface="DM Sans"/>
              </a:rPr>
              <a:t>Tampilan ketika di tahan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0" y="0"/>
            <a:ext cx="1028700" cy="1028700"/>
          </a:xfrm>
          <a:custGeom>
            <a:avLst/>
            <a:gdLst/>
            <a:ahLst/>
            <a:cxnLst/>
            <a:rect r="r" b="b" t="t" l="l"/>
            <a:pathLst>
              <a:path h="1028700" w="1028700">
                <a:moveTo>
                  <a:pt x="1028700" y="0"/>
                </a:moveTo>
                <a:lnTo>
                  <a:pt x="0" y="0"/>
                </a:lnTo>
                <a:lnTo>
                  <a:pt x="0" y="1028700"/>
                </a:lnTo>
                <a:lnTo>
                  <a:pt x="1028700" y="1028700"/>
                </a:lnTo>
                <a:lnTo>
                  <a:pt x="10287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3605352" y="5652265"/>
            <a:ext cx="9258579" cy="0"/>
          </a:xfrm>
          <a:prstGeom prst="line">
            <a:avLst/>
          </a:prstGeom>
          <a:ln cap="flat" w="9525">
            <a:solidFill>
              <a:srgbClr val="2D2D2D"/>
            </a:solidFill>
            <a:prstDash val="solid"/>
            <a:headEnd type="none" len="sm" w="sm"/>
            <a:tailEnd type="none" len="sm" w="sm"/>
          </a:ln>
        </p:spPr>
      </p:sp>
      <p:sp>
        <p:nvSpPr>
          <p:cNvPr name="AutoShape 4" id="4"/>
          <p:cNvSpPr/>
          <p:nvPr/>
        </p:nvSpPr>
        <p:spPr>
          <a:xfrm rot="-10800000">
            <a:off x="1028700" y="1008688"/>
            <a:ext cx="17259300" cy="0"/>
          </a:xfrm>
          <a:prstGeom prst="line">
            <a:avLst/>
          </a:prstGeom>
          <a:ln cap="flat" w="9525">
            <a:solidFill>
              <a:srgbClr val="2D2D2D"/>
            </a:solidFill>
            <a:prstDash val="solid"/>
            <a:headEnd type="none" len="sm" w="sm"/>
            <a:tailEnd type="none" len="sm" w="sm"/>
          </a:ln>
        </p:spPr>
      </p:sp>
      <p:sp>
        <p:nvSpPr>
          <p:cNvPr name="TextBox 5" id="5"/>
          <p:cNvSpPr txBox="true"/>
          <p:nvPr/>
        </p:nvSpPr>
        <p:spPr>
          <a:xfrm rot="0">
            <a:off x="2466956" y="4335108"/>
            <a:ext cx="11000747" cy="3204370"/>
          </a:xfrm>
          <a:prstGeom prst="rect">
            <a:avLst/>
          </a:prstGeom>
        </p:spPr>
        <p:txBody>
          <a:bodyPr anchor="t" rtlCol="false" tIns="0" lIns="0" bIns="0" rIns="0">
            <a:spAutoFit/>
          </a:bodyPr>
          <a:lstStyle/>
          <a:p>
            <a:pPr algn="ctr">
              <a:lnSpc>
                <a:spcPts val="12364"/>
              </a:lnSpc>
            </a:pPr>
            <a:r>
              <a:rPr lang="en-US" sz="12364" b="true">
                <a:solidFill>
                  <a:srgbClr val="2D2D2D"/>
                </a:solidFill>
                <a:latin typeface="Fraunces Semi-Bold"/>
                <a:ea typeface="Fraunces Semi-Bold"/>
                <a:cs typeface="Fraunces Semi-Bold"/>
                <a:sym typeface="Fraunces Semi-Bold"/>
              </a:rPr>
              <a:t>TERIMA</a:t>
            </a:r>
          </a:p>
          <a:p>
            <a:pPr algn="ctr">
              <a:lnSpc>
                <a:spcPts val="12364"/>
              </a:lnSpc>
            </a:pPr>
            <a:r>
              <a:rPr lang="en-US" b="true" sz="12364">
                <a:solidFill>
                  <a:srgbClr val="2D2D2D"/>
                </a:solidFill>
                <a:latin typeface="Fraunces Semi-Bold"/>
                <a:ea typeface="Fraunces Semi-Bold"/>
                <a:cs typeface="Fraunces Semi-Bold"/>
                <a:sym typeface="Fraunces Semi-Bold"/>
              </a:rPr>
              <a:t>KASIH</a:t>
            </a:r>
          </a:p>
        </p:txBody>
      </p:sp>
      <p:sp>
        <p:nvSpPr>
          <p:cNvPr name="Freeform 6" id="6"/>
          <p:cNvSpPr/>
          <p:nvPr/>
        </p:nvSpPr>
        <p:spPr>
          <a:xfrm flipH="false" flipV="false" rot="5400000">
            <a:off x="13507075" y="5505392"/>
            <a:ext cx="6179809" cy="3382041"/>
          </a:xfrm>
          <a:custGeom>
            <a:avLst/>
            <a:gdLst/>
            <a:ahLst/>
            <a:cxnLst/>
            <a:rect r="r" b="b" t="t" l="l"/>
            <a:pathLst>
              <a:path h="3382041" w="6179809">
                <a:moveTo>
                  <a:pt x="0" y="0"/>
                </a:moveTo>
                <a:lnTo>
                  <a:pt x="6179809" y="0"/>
                </a:lnTo>
                <a:lnTo>
                  <a:pt x="6179809" y="3382041"/>
                </a:lnTo>
                <a:lnTo>
                  <a:pt x="0" y="33820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DAHFm1h9uOE</dc:identifier>
  <dcterms:modified xsi:type="dcterms:W3CDTF">2011-08-01T06:04:30Z</dcterms:modified>
  <cp:revision>1</cp:revision>
  <dc:title>Rafi Rajendranata Pidekso_E41240029_TIF GOL A_WMAF</dc:title>
</cp:coreProperties>
</file>